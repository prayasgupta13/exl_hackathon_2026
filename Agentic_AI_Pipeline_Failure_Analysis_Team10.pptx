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7EFD01-5B5C-46D7-924D-6FDDF6694E37}" v="2" dt="2026-08-10T10:34:26.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 Prayas" userId="0381c3a3-988c-4c8e-834e-0fecad48b0e9" providerId="ADAL" clId="{09993E4F-437A-44E5-8869-589648A97328}"/>
    <pc:docChg chg="undo custSel mod addSld delSld modSld">
      <pc:chgData name="Gupta, Prayas" userId="0381c3a3-988c-4c8e-834e-0fecad48b0e9" providerId="ADAL" clId="{09993E4F-437A-44E5-8869-589648A97328}" dt="2026-08-10T10:37:56.429" v="89" actId="20577"/>
      <pc:docMkLst>
        <pc:docMk/>
      </pc:docMkLst>
      <pc:sldChg chg="modSp mod">
        <pc:chgData name="Gupta, Prayas" userId="0381c3a3-988c-4c8e-834e-0fecad48b0e9" providerId="ADAL" clId="{09993E4F-437A-44E5-8869-589648A97328}" dt="2026-08-10T10:25:37.803" v="2" actId="14100"/>
        <pc:sldMkLst>
          <pc:docMk/>
          <pc:sldMk cId="0" sldId="256"/>
        </pc:sldMkLst>
        <pc:spChg chg="mod">
          <ac:chgData name="Gupta, Prayas" userId="0381c3a3-988c-4c8e-834e-0fecad48b0e9" providerId="ADAL" clId="{09993E4F-437A-44E5-8869-589648A97328}" dt="2026-08-10T10:25:37.803" v="2" actId="14100"/>
          <ac:spMkLst>
            <pc:docMk/>
            <pc:sldMk cId="0" sldId="256"/>
            <ac:spMk id="5" creationId="{00000000-0000-0000-0000-000000000000}"/>
          </ac:spMkLst>
        </pc:spChg>
      </pc:sldChg>
      <pc:sldChg chg="delSp modSp mod">
        <pc:chgData name="Gupta, Prayas" userId="0381c3a3-988c-4c8e-834e-0fecad48b0e9" providerId="ADAL" clId="{09993E4F-437A-44E5-8869-589648A97328}" dt="2026-08-10T10:26:20.401" v="4" actId="20577"/>
        <pc:sldMkLst>
          <pc:docMk/>
          <pc:sldMk cId="0" sldId="257"/>
        </pc:sldMkLst>
        <pc:spChg chg="mod">
          <ac:chgData name="Gupta, Prayas" userId="0381c3a3-988c-4c8e-834e-0fecad48b0e9" providerId="ADAL" clId="{09993E4F-437A-44E5-8869-589648A97328}" dt="2026-08-10T10:26:20.401" v="4" actId="20577"/>
          <ac:spMkLst>
            <pc:docMk/>
            <pc:sldMk cId="0" sldId="257"/>
            <ac:spMk id="2" creationId="{00000000-0000-0000-0000-000000000000}"/>
          </ac:spMkLst>
        </pc:spChg>
        <pc:spChg chg="del">
          <ac:chgData name="Gupta, Prayas" userId="0381c3a3-988c-4c8e-834e-0fecad48b0e9" providerId="ADAL" clId="{09993E4F-437A-44E5-8869-589648A97328}" dt="2026-08-10T10:25:55.716" v="3" actId="478"/>
          <ac:spMkLst>
            <pc:docMk/>
            <pc:sldMk cId="0" sldId="257"/>
            <ac:spMk id="29" creationId="{00000000-0000-0000-0000-000000000000}"/>
          </ac:spMkLst>
        </pc:spChg>
      </pc:sldChg>
      <pc:sldChg chg="modSp mod">
        <pc:chgData name="Gupta, Prayas" userId="0381c3a3-988c-4c8e-834e-0fecad48b0e9" providerId="ADAL" clId="{09993E4F-437A-44E5-8869-589648A97328}" dt="2026-08-10T10:36:20.827" v="76" actId="20577"/>
        <pc:sldMkLst>
          <pc:docMk/>
          <pc:sldMk cId="0" sldId="258"/>
        </pc:sldMkLst>
        <pc:spChg chg="mod">
          <ac:chgData name="Gupta, Prayas" userId="0381c3a3-988c-4c8e-834e-0fecad48b0e9" providerId="ADAL" clId="{09993E4F-437A-44E5-8869-589648A97328}" dt="2026-08-10T10:35:43.775" v="54" actId="20577"/>
          <ac:spMkLst>
            <pc:docMk/>
            <pc:sldMk cId="0" sldId="258"/>
            <ac:spMk id="20" creationId="{00000000-0000-0000-0000-000000000000}"/>
          </ac:spMkLst>
        </pc:spChg>
        <pc:spChg chg="mod">
          <ac:chgData name="Gupta, Prayas" userId="0381c3a3-988c-4c8e-834e-0fecad48b0e9" providerId="ADAL" clId="{09993E4F-437A-44E5-8869-589648A97328}" dt="2026-08-10T10:36:20.827" v="76" actId="20577"/>
          <ac:spMkLst>
            <pc:docMk/>
            <pc:sldMk cId="0" sldId="258"/>
            <ac:spMk id="21" creationId="{00000000-0000-0000-0000-000000000000}"/>
          </ac:spMkLst>
        </pc:spChg>
      </pc:sldChg>
      <pc:sldChg chg="delSp modSp mod">
        <pc:chgData name="Gupta, Prayas" userId="0381c3a3-988c-4c8e-834e-0fecad48b0e9" providerId="ADAL" clId="{09993E4F-437A-44E5-8869-589648A97328}" dt="2026-08-10T10:27:51.303" v="6" actId="478"/>
        <pc:sldMkLst>
          <pc:docMk/>
          <pc:sldMk cId="0" sldId="259"/>
        </pc:sldMkLst>
        <pc:spChg chg="mod">
          <ac:chgData name="Gupta, Prayas" userId="0381c3a3-988c-4c8e-834e-0fecad48b0e9" providerId="ADAL" clId="{09993E4F-437A-44E5-8869-589648A97328}" dt="2026-08-10T10:27:35.961" v="5" actId="20577"/>
          <ac:spMkLst>
            <pc:docMk/>
            <pc:sldMk cId="0" sldId="259"/>
            <ac:spMk id="2" creationId="{00000000-0000-0000-0000-000000000000}"/>
          </ac:spMkLst>
        </pc:spChg>
        <pc:spChg chg="del">
          <ac:chgData name="Gupta, Prayas" userId="0381c3a3-988c-4c8e-834e-0fecad48b0e9" providerId="ADAL" clId="{09993E4F-437A-44E5-8869-589648A97328}" dt="2026-08-10T10:27:51.303" v="6" actId="478"/>
          <ac:spMkLst>
            <pc:docMk/>
            <pc:sldMk cId="0" sldId="259"/>
            <ac:spMk id="23" creationId="{00000000-0000-0000-0000-000000000000}"/>
          </ac:spMkLst>
        </pc:spChg>
      </pc:sldChg>
      <pc:sldChg chg="delSp mod">
        <pc:chgData name="Gupta, Prayas" userId="0381c3a3-988c-4c8e-834e-0fecad48b0e9" providerId="ADAL" clId="{09993E4F-437A-44E5-8869-589648A97328}" dt="2026-08-10T10:29:43.884" v="9" actId="478"/>
        <pc:sldMkLst>
          <pc:docMk/>
          <pc:sldMk cId="0" sldId="263"/>
        </pc:sldMkLst>
        <pc:spChg chg="del">
          <ac:chgData name="Gupta, Prayas" userId="0381c3a3-988c-4c8e-834e-0fecad48b0e9" providerId="ADAL" clId="{09993E4F-437A-44E5-8869-589648A97328}" dt="2026-08-10T10:29:43.884" v="9" actId="478"/>
          <ac:spMkLst>
            <pc:docMk/>
            <pc:sldMk cId="0" sldId="263"/>
            <ac:spMk id="25" creationId="{00000000-0000-0000-0000-000000000000}"/>
          </ac:spMkLst>
        </pc:spChg>
      </pc:sldChg>
      <pc:sldChg chg="modSp mod">
        <pc:chgData name="Gupta, Prayas" userId="0381c3a3-988c-4c8e-834e-0fecad48b0e9" providerId="ADAL" clId="{09993E4F-437A-44E5-8869-589648A97328}" dt="2026-08-10T10:37:56.429" v="89" actId="20577"/>
        <pc:sldMkLst>
          <pc:docMk/>
          <pc:sldMk cId="0" sldId="268"/>
        </pc:sldMkLst>
        <pc:spChg chg="mod">
          <ac:chgData name="Gupta, Prayas" userId="0381c3a3-988c-4c8e-834e-0fecad48b0e9" providerId="ADAL" clId="{09993E4F-437A-44E5-8869-589648A97328}" dt="2026-08-10T10:37:56.429" v="89" actId="20577"/>
          <ac:spMkLst>
            <pc:docMk/>
            <pc:sldMk cId="0" sldId="268"/>
            <ac:spMk id="3" creationId="{00000000-0000-0000-0000-000000000000}"/>
          </ac:spMkLst>
        </pc:spChg>
      </pc:sldChg>
      <pc:sldChg chg="addSp modSp mod">
        <pc:chgData name="Gupta, Prayas" userId="0381c3a3-988c-4c8e-834e-0fecad48b0e9" providerId="ADAL" clId="{09993E4F-437A-44E5-8869-589648A97328}" dt="2026-08-10T10:34:31.903" v="40" actId="20577"/>
        <pc:sldMkLst>
          <pc:docMk/>
          <pc:sldMk cId="0" sldId="270"/>
        </pc:sldMkLst>
        <pc:spChg chg="mod">
          <ac:chgData name="Gupta, Prayas" userId="0381c3a3-988c-4c8e-834e-0fecad48b0e9" providerId="ADAL" clId="{09993E4F-437A-44E5-8869-589648A97328}" dt="2026-08-10T10:34:12.908" v="13" actId="20577"/>
          <ac:spMkLst>
            <pc:docMk/>
            <pc:sldMk cId="0" sldId="270"/>
            <ac:spMk id="6" creationId="{00000000-0000-0000-0000-000000000000}"/>
          </ac:spMkLst>
        </pc:spChg>
        <pc:spChg chg="mod">
          <ac:chgData name="Gupta, Prayas" userId="0381c3a3-988c-4c8e-834e-0fecad48b0e9" providerId="ADAL" clId="{09993E4F-437A-44E5-8869-589648A97328}" dt="2026-08-10T10:34:21.132" v="37" actId="6549"/>
          <ac:spMkLst>
            <pc:docMk/>
            <pc:sldMk cId="0" sldId="270"/>
            <ac:spMk id="11" creationId="{00000000-0000-0000-0000-000000000000}"/>
          </ac:spMkLst>
        </pc:spChg>
        <pc:spChg chg="mod">
          <ac:chgData name="Gupta, Prayas" userId="0381c3a3-988c-4c8e-834e-0fecad48b0e9" providerId="ADAL" clId="{09993E4F-437A-44E5-8869-589648A97328}" dt="2026-08-10T10:34:31.903" v="40" actId="20577"/>
          <ac:spMkLst>
            <pc:docMk/>
            <pc:sldMk cId="0" sldId="270"/>
            <ac:spMk id="16" creationId="{00000000-0000-0000-0000-000000000000}"/>
          </ac:spMkLst>
        </pc:spChg>
        <pc:spChg chg="add mod">
          <ac:chgData name="Gupta, Prayas" userId="0381c3a3-988c-4c8e-834e-0fecad48b0e9" providerId="ADAL" clId="{09993E4F-437A-44E5-8869-589648A97328}" dt="2026-08-10T10:34:26.357" v="39" actId="571"/>
          <ac:spMkLst>
            <pc:docMk/>
            <pc:sldMk cId="0" sldId="270"/>
            <ac:spMk id="21" creationId="{D3522B11-96B0-7F88-97FB-27F821276B08}"/>
          </ac:spMkLst>
        </pc:spChg>
      </pc:sldChg>
      <pc:sldChg chg="new del">
        <pc:chgData name="Gupta, Prayas" userId="0381c3a3-988c-4c8e-834e-0fecad48b0e9" providerId="ADAL" clId="{09993E4F-437A-44E5-8869-589648A97328}" dt="2026-08-10T10:28:19.782" v="8" actId="680"/>
        <pc:sldMkLst>
          <pc:docMk/>
          <pc:sldMk cId="1029827183"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595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brief's own use case title so the panel maps the deck to the sheet in the first three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pain points are lifted from the sheet. The closing line is the argument for our design choice — knowledge reuse is the lever, the rest are symptoms.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credibility test. Anyone can promise knowledge reuse; the sheet does not give us a knowledge base to reuse. Saying so first, and showing how we create one, is the strongest move in the deck.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constraints, exactly as the sheet lists them. Production data leads because it is the one that stops agentic projects at security review.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capability cards are the four verbs in the problem statement. Say that out loud — it tells the panel we built to the sheet.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problem statement in the sheet's own order. Bottom row is our engineering answer at each step. The orange band closes the loop the sheet asks for but does not specify.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sheet names effective conversational experience as a success criterion, so show the conversation. Walk the four annotations right to left against the chat.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context names support teams specifically. This slide shows we designed for them rather than for a demo console.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the sheet's three inputs. Everything right of the orange block is platform-independent — that is the cloud-agnostic constraint made visible.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Innovative use of agentic AI is a stated success criterion, so answer it directly. The graded-autonomy line is what separates a serious proposal from a demo.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column aloud, let the right column answer it. This is the slide that survives a security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panel scores against, because it is their own list. The right-hand column is what stops it reading as a promise.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impact cards are the sheet's own words. Do not quote a rupee figure we have not measured — show the model and name the four inputs instead.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sparse-history risk yourself is stronger than being asked about it. The explain-only Phase 1 is the answer.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Phasing is the risk answer: the explain layer delivers reduced manual effort on its own, with no action permissions required.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maps exactly to the three available inputs in the sheet — nothing extra is being requested, which makes it easy to approve.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9"/>
        </a:solidFill>
        <a:effectLst/>
      </p:bgPr>
    </p:bg>
    <p:spTree>
      <p:nvGrpSpPr>
        <p:cNvPr id="1" name=""/>
        <p:cNvGrpSpPr/>
        <p:nvPr/>
      </p:nvGrpSpPr>
      <p:grpSpPr>
        <a:xfrm>
          <a:off x="0" y="0"/>
          <a:ext cx="0" cy="0"/>
          <a:chOff x="0" y="0"/>
          <a:chExt cx="0" cy="0"/>
        </a:xfrm>
      </p:grpSpPr>
      <p:sp>
        <p:nvSpPr>
          <p:cNvPr id="2" name="Shape 0"/>
          <p:cNvSpPr/>
          <p:nvPr/>
        </p:nvSpPr>
        <p:spPr>
          <a:xfrm>
            <a:off x="9326880" y="-1920240"/>
            <a:ext cx="5120640" cy="5120640"/>
          </a:xfrm>
          <a:prstGeom prst="ellipse">
            <a:avLst/>
          </a:prstGeom>
          <a:solidFill>
            <a:srgbClr val="22344F"/>
          </a:solidFill>
          <a:ln w="12700">
            <a:solidFill>
              <a:srgbClr val="22344F"/>
            </a:solidFill>
            <a:prstDash val="solid"/>
          </a:ln>
        </p:spPr>
        <p:txBody>
          <a:bodyPr/>
          <a:lstStyle/>
          <a:p>
            <a:endParaRPr lang="en-US"/>
          </a:p>
        </p:txBody>
      </p:sp>
      <p:sp>
        <p:nvSpPr>
          <p:cNvPr id="3" name="Shape 1"/>
          <p:cNvSpPr/>
          <p:nvPr/>
        </p:nvSpPr>
        <p:spPr>
          <a:xfrm>
            <a:off x="10607040" y="4023360"/>
            <a:ext cx="3474720" cy="3474720"/>
          </a:xfrm>
          <a:prstGeom prst="ellipse">
            <a:avLst/>
          </a:prstGeom>
          <a:solidFill>
            <a:srgbClr val="22344F"/>
          </a:solidFill>
          <a:ln w="12700">
            <a:solidFill>
              <a:srgbClr val="22344F"/>
            </a:solidFill>
            <a:prstDash val="solid"/>
          </a:ln>
        </p:spPr>
        <p:txBody>
          <a:bodyPr/>
          <a:lstStyle/>
          <a:p>
            <a:endParaRPr lang="en-US"/>
          </a:p>
        </p:txBody>
      </p:sp>
      <p:sp>
        <p:nvSpPr>
          <p:cNvPr id="4" name="Text 2"/>
          <p:cNvSpPr/>
          <p:nvPr/>
        </p:nvSpPr>
        <p:spPr>
          <a:xfrm>
            <a:off x="822960" y="1188720"/>
            <a:ext cx="8229600" cy="274320"/>
          </a:xfrm>
          <a:prstGeom prst="rect">
            <a:avLst/>
          </a:prstGeom>
          <a:noFill/>
          <a:ln/>
        </p:spPr>
        <p:txBody>
          <a:bodyPr wrap="square" lIns="0" tIns="0" rIns="0" bIns="0" rtlCol="0" anchor="ctr"/>
          <a:lstStyle/>
          <a:p>
            <a:pPr marL="0" indent="0">
              <a:buNone/>
            </a:pPr>
            <a:r>
              <a:rPr lang="en-US" sz="1200" b="1" kern="0" spc="200" dirty="0">
                <a:solidFill>
                  <a:srgbClr val="F5A25B"/>
                </a:solidFill>
                <a:latin typeface="Calibri" pitchFamily="34" charset="0"/>
                <a:ea typeface="Calibri" pitchFamily="34" charset="-122"/>
                <a:cs typeface="Calibri" pitchFamily="34" charset="-120"/>
              </a:rPr>
              <a:t>EXL IGM CATALYST  ·  TEAM 10</a:t>
            </a:r>
            <a:endParaRPr lang="en-US" sz="1200" dirty="0"/>
          </a:p>
        </p:txBody>
      </p:sp>
      <p:sp>
        <p:nvSpPr>
          <p:cNvPr id="5" name="Text 3"/>
          <p:cNvSpPr/>
          <p:nvPr/>
        </p:nvSpPr>
        <p:spPr>
          <a:xfrm>
            <a:off x="822960" y="1600200"/>
            <a:ext cx="11968480" cy="1468120"/>
          </a:xfrm>
          <a:prstGeom prst="rect">
            <a:avLst/>
          </a:prstGeom>
          <a:noFill/>
          <a:ln/>
        </p:spPr>
        <p:txBody>
          <a:bodyPr wrap="square" lIns="0" tIns="0" rIns="0" bIns="0" rtlCol="0" anchor="ctr"/>
          <a:lstStyle/>
          <a:p>
            <a:pPr marL="0" indent="0">
              <a:buNone/>
            </a:pPr>
            <a:r>
              <a:rPr lang="en-US" sz="3600" b="1" dirty="0">
                <a:solidFill>
                  <a:srgbClr val="F5A25B"/>
                </a:solidFill>
                <a:latin typeface="Cambria" pitchFamily="34" charset="0"/>
                <a:ea typeface="Cambria" pitchFamily="34" charset="-122"/>
                <a:cs typeface="Cambria" pitchFamily="34" charset="-120"/>
              </a:rPr>
              <a:t>Agentic AI Assistant for</a:t>
            </a:r>
            <a:endParaRPr lang="en-US" sz="3600" dirty="0"/>
          </a:p>
          <a:p>
            <a:pPr marL="0" indent="0">
              <a:buNone/>
            </a:pPr>
            <a:r>
              <a:rPr lang="en-US" sz="3600" b="1" dirty="0">
                <a:solidFill>
                  <a:srgbClr val="F5A25B"/>
                </a:solidFill>
                <a:latin typeface="Cambria" pitchFamily="34" charset="0"/>
                <a:ea typeface="Cambria" pitchFamily="34" charset="-122"/>
                <a:cs typeface="Cambria" pitchFamily="34" charset="-120"/>
              </a:rPr>
              <a:t>Pipeline Failure Analysis</a:t>
            </a:r>
            <a:endParaRPr lang="en-US" sz="3600" dirty="0"/>
          </a:p>
        </p:txBody>
      </p:sp>
      <p:sp>
        <p:nvSpPr>
          <p:cNvPr id="6" name="Text 4"/>
          <p:cNvSpPr/>
          <p:nvPr/>
        </p:nvSpPr>
        <p:spPr>
          <a:xfrm>
            <a:off x="822960" y="3291840"/>
            <a:ext cx="8961120" cy="73152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Query pipeline executions in plain English. Get a cited root cause, a ranked fix, and — with your approval — the fix applied.</a:t>
            </a:r>
            <a:endParaRPr lang="en-US" sz="1600" dirty="0"/>
          </a:p>
        </p:txBody>
      </p:sp>
      <p:sp>
        <p:nvSpPr>
          <p:cNvPr id="7" name="Shape 5"/>
          <p:cNvSpPr/>
          <p:nvPr/>
        </p:nvSpPr>
        <p:spPr>
          <a:xfrm>
            <a:off x="822960" y="4663440"/>
            <a:ext cx="2011680" cy="566928"/>
          </a:xfrm>
          <a:prstGeom prst="roundRect">
            <a:avLst>
              <a:gd name="adj" fmla="val 16129"/>
            </a:avLst>
          </a:prstGeom>
          <a:solidFill>
            <a:srgbClr val="E2661A"/>
          </a:solidFill>
          <a:ln w="12700">
            <a:solidFill>
              <a:srgbClr val="E2661A"/>
            </a:solidFill>
            <a:prstDash val="solid"/>
          </a:ln>
        </p:spPr>
        <p:txBody>
          <a:bodyPr/>
          <a:lstStyle/>
          <a:p>
            <a:endParaRPr lang="en-US"/>
          </a:p>
        </p:txBody>
      </p:sp>
      <p:sp>
        <p:nvSpPr>
          <p:cNvPr id="8" name="Text 6"/>
          <p:cNvSpPr/>
          <p:nvPr/>
        </p:nvSpPr>
        <p:spPr>
          <a:xfrm>
            <a:off x="822960" y="4663440"/>
            <a:ext cx="201168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Retriever</a:t>
            </a:r>
            <a:endParaRPr lang="en-US" sz="1200" dirty="0"/>
          </a:p>
        </p:txBody>
      </p:sp>
      <p:sp>
        <p:nvSpPr>
          <p:cNvPr id="9" name="Shape 7"/>
          <p:cNvSpPr/>
          <p:nvPr/>
        </p:nvSpPr>
        <p:spPr>
          <a:xfrm>
            <a:off x="2907792" y="4837176"/>
            <a:ext cx="173736" cy="219456"/>
          </a:xfrm>
          <a:prstGeom prst="rightArrow">
            <a:avLst/>
          </a:prstGeom>
          <a:solidFill>
            <a:srgbClr val="F5A25B"/>
          </a:solidFill>
          <a:ln w="12700">
            <a:solidFill>
              <a:srgbClr val="F5A25B"/>
            </a:solidFill>
            <a:prstDash val="solid"/>
          </a:ln>
        </p:spPr>
        <p:txBody>
          <a:bodyPr/>
          <a:lstStyle/>
          <a:p>
            <a:endParaRPr lang="en-US"/>
          </a:p>
        </p:txBody>
      </p:sp>
      <p:sp>
        <p:nvSpPr>
          <p:cNvPr id="10" name="Shape 8"/>
          <p:cNvSpPr/>
          <p:nvPr/>
        </p:nvSpPr>
        <p:spPr>
          <a:xfrm>
            <a:off x="3154680" y="4663440"/>
            <a:ext cx="2011680" cy="566928"/>
          </a:xfrm>
          <a:prstGeom prst="roundRect">
            <a:avLst>
              <a:gd name="adj" fmla="val 16129"/>
            </a:avLst>
          </a:prstGeom>
          <a:solidFill>
            <a:srgbClr val="22344F"/>
          </a:solidFill>
          <a:ln w="12700">
            <a:solidFill>
              <a:srgbClr val="E2661A"/>
            </a:solidFill>
            <a:prstDash val="solid"/>
          </a:ln>
        </p:spPr>
        <p:txBody>
          <a:bodyPr/>
          <a:lstStyle/>
          <a:p>
            <a:endParaRPr lang="en-US"/>
          </a:p>
        </p:txBody>
      </p:sp>
      <p:sp>
        <p:nvSpPr>
          <p:cNvPr id="11" name="Text 9"/>
          <p:cNvSpPr/>
          <p:nvPr/>
        </p:nvSpPr>
        <p:spPr>
          <a:xfrm>
            <a:off x="3154680" y="4663440"/>
            <a:ext cx="201168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Diagnostician</a:t>
            </a:r>
            <a:endParaRPr lang="en-US" sz="1200" dirty="0"/>
          </a:p>
        </p:txBody>
      </p:sp>
      <p:sp>
        <p:nvSpPr>
          <p:cNvPr id="12" name="Shape 10"/>
          <p:cNvSpPr/>
          <p:nvPr/>
        </p:nvSpPr>
        <p:spPr>
          <a:xfrm>
            <a:off x="5239512" y="4837176"/>
            <a:ext cx="173736" cy="219456"/>
          </a:xfrm>
          <a:prstGeom prst="rightArrow">
            <a:avLst/>
          </a:prstGeom>
          <a:solidFill>
            <a:srgbClr val="F5A25B"/>
          </a:solidFill>
          <a:ln w="12700">
            <a:solidFill>
              <a:srgbClr val="F5A25B"/>
            </a:solidFill>
            <a:prstDash val="solid"/>
          </a:ln>
        </p:spPr>
        <p:txBody>
          <a:bodyPr/>
          <a:lstStyle/>
          <a:p>
            <a:endParaRPr lang="en-US"/>
          </a:p>
        </p:txBody>
      </p:sp>
      <p:sp>
        <p:nvSpPr>
          <p:cNvPr id="13" name="Shape 11"/>
          <p:cNvSpPr/>
          <p:nvPr/>
        </p:nvSpPr>
        <p:spPr>
          <a:xfrm>
            <a:off x="5486400" y="4663440"/>
            <a:ext cx="2011680" cy="566928"/>
          </a:xfrm>
          <a:prstGeom prst="roundRect">
            <a:avLst>
              <a:gd name="adj" fmla="val 16129"/>
            </a:avLst>
          </a:prstGeom>
          <a:solidFill>
            <a:srgbClr val="22344F"/>
          </a:solidFill>
          <a:ln w="12700">
            <a:solidFill>
              <a:srgbClr val="E2661A"/>
            </a:solidFill>
            <a:prstDash val="solid"/>
          </a:ln>
        </p:spPr>
        <p:txBody>
          <a:bodyPr/>
          <a:lstStyle/>
          <a:p>
            <a:endParaRPr lang="en-US"/>
          </a:p>
        </p:txBody>
      </p:sp>
      <p:sp>
        <p:nvSpPr>
          <p:cNvPr id="14" name="Text 12"/>
          <p:cNvSpPr/>
          <p:nvPr/>
        </p:nvSpPr>
        <p:spPr>
          <a:xfrm>
            <a:off x="5486400" y="4663440"/>
            <a:ext cx="201168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Recommender</a:t>
            </a:r>
            <a:endParaRPr lang="en-US" sz="1200" dirty="0"/>
          </a:p>
        </p:txBody>
      </p:sp>
      <p:sp>
        <p:nvSpPr>
          <p:cNvPr id="15" name="Shape 13"/>
          <p:cNvSpPr/>
          <p:nvPr/>
        </p:nvSpPr>
        <p:spPr>
          <a:xfrm>
            <a:off x="7571232" y="4837176"/>
            <a:ext cx="173736" cy="219456"/>
          </a:xfrm>
          <a:prstGeom prst="rightArrow">
            <a:avLst/>
          </a:prstGeom>
          <a:solidFill>
            <a:srgbClr val="F5A25B"/>
          </a:solidFill>
          <a:ln w="12700">
            <a:solidFill>
              <a:srgbClr val="F5A25B"/>
            </a:solidFill>
            <a:prstDash val="solid"/>
          </a:ln>
        </p:spPr>
        <p:txBody>
          <a:bodyPr/>
          <a:lstStyle/>
          <a:p>
            <a:endParaRPr lang="en-US"/>
          </a:p>
        </p:txBody>
      </p:sp>
      <p:sp>
        <p:nvSpPr>
          <p:cNvPr id="16" name="Shape 14"/>
          <p:cNvSpPr/>
          <p:nvPr/>
        </p:nvSpPr>
        <p:spPr>
          <a:xfrm>
            <a:off x="7818120" y="4663440"/>
            <a:ext cx="2011680" cy="566928"/>
          </a:xfrm>
          <a:prstGeom prst="roundRect">
            <a:avLst>
              <a:gd name="adj" fmla="val 16129"/>
            </a:avLst>
          </a:prstGeom>
          <a:solidFill>
            <a:srgbClr val="22344F"/>
          </a:solidFill>
          <a:ln w="12700">
            <a:solidFill>
              <a:srgbClr val="E2661A"/>
            </a:solidFill>
            <a:prstDash val="solid"/>
          </a:ln>
        </p:spPr>
        <p:txBody>
          <a:bodyPr/>
          <a:lstStyle/>
          <a:p>
            <a:endParaRPr lang="en-US"/>
          </a:p>
        </p:txBody>
      </p:sp>
      <p:sp>
        <p:nvSpPr>
          <p:cNvPr id="17" name="Text 15"/>
          <p:cNvSpPr/>
          <p:nvPr/>
        </p:nvSpPr>
        <p:spPr>
          <a:xfrm>
            <a:off x="7818120" y="4663440"/>
            <a:ext cx="201168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Operator</a:t>
            </a:r>
            <a:endParaRPr lang="en-US" sz="1200" dirty="0"/>
          </a:p>
        </p:txBody>
      </p:sp>
      <p:sp>
        <p:nvSpPr>
          <p:cNvPr id="18" name="Text 16"/>
          <p:cNvSpPr/>
          <p:nvPr/>
        </p:nvSpPr>
        <p:spPr>
          <a:xfrm>
            <a:off x="822960" y="5852160"/>
            <a:ext cx="8229600" cy="274320"/>
          </a:xfrm>
          <a:prstGeom prst="rect">
            <a:avLst/>
          </a:prstGeom>
          <a:noFill/>
          <a:ln/>
        </p:spPr>
        <p:txBody>
          <a:bodyPr wrap="square" lIns="0" tIns="0" rIns="0" bIns="0" rtlCol="0" anchor="ctr"/>
          <a:lstStyle/>
          <a:p>
            <a:pPr marL="0" indent="0">
              <a:buNone/>
            </a:pPr>
            <a:r>
              <a:rPr lang="en-US" sz="1200" dirty="0">
                <a:solidFill>
                  <a:srgbClr val="7C8FA6"/>
                </a:solidFill>
                <a:latin typeface="Calibri" pitchFamily="34" charset="0"/>
                <a:ea typeface="Calibri" pitchFamily="34" charset="-122"/>
                <a:cs typeface="Calibri" pitchFamily="34" charset="-120"/>
              </a:rPr>
              <a:t>Team 10  ·  Prayas Gupta  ·  Anupam Vishwakarma  ·  Vignesh 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CURRENT PAIN POINTS</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Five problems, one root: nothing is remembered</a:t>
            </a:r>
            <a:endParaRPr lang="en-US" sz="3200" dirty="0"/>
          </a:p>
        </p:txBody>
      </p:sp>
      <p:sp>
        <p:nvSpPr>
          <p:cNvPr id="4" name="Shape 2"/>
          <p:cNvSpPr/>
          <p:nvPr/>
        </p:nvSpPr>
        <p:spPr>
          <a:xfrm>
            <a:off x="548640" y="1463040"/>
            <a:ext cx="5349240" cy="1207008"/>
          </a:xfrm>
          <a:prstGeom prst="roundRect">
            <a:avLst>
              <a:gd name="adj" fmla="val 9091"/>
            </a:avLst>
          </a:prstGeom>
          <a:solidFill>
            <a:srgbClr val="E9EEF4"/>
          </a:solidFill>
          <a:ln w="12700">
            <a:solidFill>
              <a:srgbClr val="E9EEF4"/>
            </a:solidFill>
            <a:prstDash val="solid"/>
          </a:ln>
        </p:spPr>
        <p:txBody>
          <a:bodyPr/>
          <a:lstStyle/>
          <a:p>
            <a:endParaRPr lang="en-US"/>
          </a:p>
        </p:txBody>
      </p:sp>
      <p:sp>
        <p:nvSpPr>
          <p:cNvPr id="5" name="Shape 3"/>
          <p:cNvSpPr/>
          <p:nvPr/>
        </p:nvSpPr>
        <p:spPr>
          <a:xfrm>
            <a:off x="822960" y="1792224"/>
            <a:ext cx="530352" cy="530352"/>
          </a:xfrm>
          <a:prstGeom prst="ellipse">
            <a:avLst/>
          </a:prstGeom>
          <a:solidFill>
            <a:srgbClr val="132039"/>
          </a:solidFill>
          <a:ln w="12700">
            <a:solidFill>
              <a:srgbClr val="132039"/>
            </a:solidFill>
            <a:prstDash val="solid"/>
          </a:ln>
        </p:spPr>
        <p:txBody>
          <a:bodyPr/>
          <a:lstStyle/>
          <a:p>
            <a:endParaRPr lang="en-US"/>
          </a:p>
        </p:txBody>
      </p:sp>
      <p:sp>
        <p:nvSpPr>
          <p:cNvPr id="6" name="Text 4"/>
          <p:cNvSpPr/>
          <p:nvPr/>
        </p:nvSpPr>
        <p:spPr>
          <a:xfrm>
            <a:off x="822960" y="179222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508760" y="1664208"/>
            <a:ext cx="4069080" cy="384048"/>
          </a:xfrm>
          <a:prstGeom prst="rect">
            <a:avLst/>
          </a:prstGeom>
          <a:noFill/>
          <a:ln/>
        </p:spPr>
        <p:txBody>
          <a:bodyPr wrap="square" lIns="0" tIns="0" rIns="0" bIns="0" rtlCol="0" anchor="ctr"/>
          <a:lstStyle/>
          <a:p>
            <a:pPr marL="0" indent="0">
              <a:buNone/>
            </a:pPr>
            <a:r>
              <a:rPr lang="en-US" sz="1600" b="1" dirty="0">
                <a:solidFill>
                  <a:srgbClr val="132039"/>
                </a:solidFill>
                <a:latin typeface="Cambria" pitchFamily="34" charset="0"/>
                <a:ea typeface="Cambria" pitchFamily="34" charset="-122"/>
                <a:cs typeface="Cambria" pitchFamily="34" charset="-120"/>
              </a:rPr>
              <a:t>Manual log analysis</a:t>
            </a:r>
            <a:endParaRPr lang="en-US" sz="1600" dirty="0"/>
          </a:p>
        </p:txBody>
      </p:sp>
      <p:sp>
        <p:nvSpPr>
          <p:cNvPr id="8" name="Text 6"/>
          <p:cNvSpPr/>
          <p:nvPr/>
        </p:nvSpPr>
        <p:spPr>
          <a:xfrm>
            <a:off x="1508760" y="2066544"/>
            <a:ext cx="4069080" cy="475488"/>
          </a:xfrm>
          <a:prstGeom prst="rect">
            <a:avLst/>
          </a:prstGeom>
          <a:noFill/>
          <a:ln/>
        </p:spPr>
        <p:txBody>
          <a:bodyPr wrap="square" lIns="0" tIns="0" rIns="0" bIns="0" rtlCol="0" anchor="ctr"/>
          <a:lstStyle/>
          <a:p>
            <a:pPr marL="0" indent="0">
              <a:buNone/>
            </a:pPr>
            <a:r>
              <a:rPr lang="en-US" sz="1250" dirty="0">
                <a:solidFill>
                  <a:srgbClr val="5A6B80"/>
                </a:solidFill>
                <a:latin typeface="Calibri" pitchFamily="34" charset="0"/>
                <a:ea typeface="Calibri" pitchFamily="34" charset="-122"/>
                <a:cs typeface="Calibri" pitchFamily="34" charset="-120"/>
              </a:rPr>
              <a:t>Support teams read logs by hand across consoles to find the one activity that failed.</a:t>
            </a:r>
            <a:endParaRPr lang="en-US" sz="1250" dirty="0"/>
          </a:p>
        </p:txBody>
      </p:sp>
      <p:sp>
        <p:nvSpPr>
          <p:cNvPr id="9" name="Shape 7"/>
          <p:cNvSpPr/>
          <p:nvPr/>
        </p:nvSpPr>
        <p:spPr>
          <a:xfrm>
            <a:off x="6263640" y="1463040"/>
            <a:ext cx="5349240" cy="1207008"/>
          </a:xfrm>
          <a:prstGeom prst="roundRect">
            <a:avLst>
              <a:gd name="adj" fmla="val 9091"/>
            </a:avLst>
          </a:prstGeom>
          <a:solidFill>
            <a:srgbClr val="E9EEF4"/>
          </a:solidFill>
          <a:ln w="12700">
            <a:solidFill>
              <a:srgbClr val="E9EEF4"/>
            </a:solidFill>
            <a:prstDash val="solid"/>
          </a:ln>
        </p:spPr>
        <p:txBody>
          <a:bodyPr/>
          <a:lstStyle/>
          <a:p>
            <a:endParaRPr lang="en-US"/>
          </a:p>
        </p:txBody>
      </p:sp>
      <p:sp>
        <p:nvSpPr>
          <p:cNvPr id="10" name="Shape 8"/>
          <p:cNvSpPr/>
          <p:nvPr/>
        </p:nvSpPr>
        <p:spPr>
          <a:xfrm>
            <a:off x="6537960" y="1792224"/>
            <a:ext cx="530352" cy="530352"/>
          </a:xfrm>
          <a:prstGeom prst="ellipse">
            <a:avLst/>
          </a:prstGeom>
          <a:solidFill>
            <a:srgbClr val="132039"/>
          </a:solidFill>
          <a:ln w="12700">
            <a:solidFill>
              <a:srgbClr val="132039"/>
            </a:solidFill>
            <a:prstDash val="solid"/>
          </a:ln>
        </p:spPr>
        <p:txBody>
          <a:bodyPr/>
          <a:lstStyle/>
          <a:p>
            <a:endParaRPr lang="en-US"/>
          </a:p>
        </p:txBody>
      </p:sp>
      <p:sp>
        <p:nvSpPr>
          <p:cNvPr id="11" name="Text 9"/>
          <p:cNvSpPr/>
          <p:nvPr/>
        </p:nvSpPr>
        <p:spPr>
          <a:xfrm>
            <a:off x="6537960" y="179222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7223760" y="1664208"/>
            <a:ext cx="4069080" cy="384048"/>
          </a:xfrm>
          <a:prstGeom prst="rect">
            <a:avLst/>
          </a:prstGeom>
          <a:noFill/>
          <a:ln/>
        </p:spPr>
        <p:txBody>
          <a:bodyPr wrap="square" lIns="0" tIns="0" rIns="0" bIns="0" rtlCol="0" anchor="ctr"/>
          <a:lstStyle/>
          <a:p>
            <a:pPr marL="0" indent="0">
              <a:buNone/>
            </a:pPr>
            <a:r>
              <a:rPr lang="en-US" sz="1600" b="1" dirty="0">
                <a:solidFill>
                  <a:srgbClr val="132039"/>
                </a:solidFill>
                <a:latin typeface="Cambria" pitchFamily="34" charset="0"/>
                <a:ea typeface="Cambria" pitchFamily="34" charset="-122"/>
                <a:cs typeface="Cambria" pitchFamily="34" charset="-120"/>
              </a:rPr>
              <a:t>Time-consuming root cause investigation</a:t>
            </a:r>
            <a:endParaRPr lang="en-US" sz="1600" dirty="0"/>
          </a:p>
        </p:txBody>
      </p:sp>
      <p:sp>
        <p:nvSpPr>
          <p:cNvPr id="13" name="Text 11"/>
          <p:cNvSpPr/>
          <p:nvPr/>
        </p:nvSpPr>
        <p:spPr>
          <a:xfrm>
            <a:off x="7223760" y="2066544"/>
            <a:ext cx="4069080" cy="475488"/>
          </a:xfrm>
          <a:prstGeom prst="rect">
            <a:avLst/>
          </a:prstGeom>
          <a:noFill/>
          <a:ln/>
        </p:spPr>
        <p:txBody>
          <a:bodyPr wrap="square" lIns="0" tIns="0" rIns="0" bIns="0" rtlCol="0" anchor="ctr"/>
          <a:lstStyle/>
          <a:p>
            <a:pPr marL="0" indent="0">
              <a:buNone/>
            </a:pPr>
            <a:r>
              <a:rPr lang="en-US" sz="1250" dirty="0">
                <a:solidFill>
                  <a:srgbClr val="5A6B80"/>
                </a:solidFill>
                <a:latin typeface="Calibri" pitchFamily="34" charset="0"/>
                <a:ea typeface="Calibri" pitchFamily="34" charset="-122"/>
                <a:cs typeface="Calibri" pitchFamily="34" charset="-120"/>
              </a:rPr>
              <a:t>Diagnosis depends on a senior engineer being available and knowing where to look.</a:t>
            </a:r>
            <a:endParaRPr lang="en-US" sz="1250" dirty="0"/>
          </a:p>
        </p:txBody>
      </p:sp>
      <p:sp>
        <p:nvSpPr>
          <p:cNvPr id="14" name="Shape 12"/>
          <p:cNvSpPr/>
          <p:nvPr/>
        </p:nvSpPr>
        <p:spPr>
          <a:xfrm>
            <a:off x="548640" y="2788920"/>
            <a:ext cx="5349240" cy="1207008"/>
          </a:xfrm>
          <a:prstGeom prst="roundRect">
            <a:avLst>
              <a:gd name="adj" fmla="val 9091"/>
            </a:avLst>
          </a:prstGeom>
          <a:solidFill>
            <a:srgbClr val="E9EEF4"/>
          </a:solidFill>
          <a:ln w="12700">
            <a:solidFill>
              <a:srgbClr val="E9EEF4"/>
            </a:solidFill>
            <a:prstDash val="solid"/>
          </a:ln>
        </p:spPr>
        <p:txBody>
          <a:bodyPr/>
          <a:lstStyle/>
          <a:p>
            <a:endParaRPr lang="en-US"/>
          </a:p>
        </p:txBody>
      </p:sp>
      <p:sp>
        <p:nvSpPr>
          <p:cNvPr id="15" name="Shape 13"/>
          <p:cNvSpPr/>
          <p:nvPr/>
        </p:nvSpPr>
        <p:spPr>
          <a:xfrm>
            <a:off x="822960" y="3118104"/>
            <a:ext cx="530352" cy="530352"/>
          </a:xfrm>
          <a:prstGeom prst="ellipse">
            <a:avLst/>
          </a:prstGeom>
          <a:solidFill>
            <a:srgbClr val="132039"/>
          </a:solidFill>
          <a:ln w="12700">
            <a:solidFill>
              <a:srgbClr val="132039"/>
            </a:solidFill>
            <a:prstDash val="solid"/>
          </a:ln>
        </p:spPr>
        <p:txBody>
          <a:bodyPr/>
          <a:lstStyle/>
          <a:p>
            <a:endParaRPr lang="en-US"/>
          </a:p>
        </p:txBody>
      </p:sp>
      <p:sp>
        <p:nvSpPr>
          <p:cNvPr id="16" name="Text 14"/>
          <p:cNvSpPr/>
          <p:nvPr/>
        </p:nvSpPr>
        <p:spPr>
          <a:xfrm>
            <a:off x="822960" y="311810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1508760" y="2990088"/>
            <a:ext cx="4069080" cy="384048"/>
          </a:xfrm>
          <a:prstGeom prst="rect">
            <a:avLst/>
          </a:prstGeom>
          <a:noFill/>
          <a:ln/>
        </p:spPr>
        <p:txBody>
          <a:bodyPr wrap="square" lIns="0" tIns="0" rIns="0" bIns="0" rtlCol="0" anchor="ctr"/>
          <a:lstStyle/>
          <a:p>
            <a:pPr marL="0" indent="0">
              <a:buNone/>
            </a:pPr>
            <a:r>
              <a:rPr lang="en-US" sz="1600" b="1" dirty="0">
                <a:solidFill>
                  <a:srgbClr val="132039"/>
                </a:solidFill>
                <a:latin typeface="Cambria" pitchFamily="34" charset="0"/>
                <a:ea typeface="Cambria" pitchFamily="34" charset="-122"/>
                <a:cs typeface="Cambria" pitchFamily="34" charset="-120"/>
              </a:rPr>
              <a:t>Repeated analysis of similar failures</a:t>
            </a:r>
            <a:endParaRPr lang="en-US" sz="1600" dirty="0"/>
          </a:p>
        </p:txBody>
      </p:sp>
      <p:sp>
        <p:nvSpPr>
          <p:cNvPr id="18" name="Text 16"/>
          <p:cNvSpPr/>
          <p:nvPr/>
        </p:nvSpPr>
        <p:spPr>
          <a:xfrm>
            <a:off x="1508760" y="3392424"/>
            <a:ext cx="4069080" cy="475488"/>
          </a:xfrm>
          <a:prstGeom prst="rect">
            <a:avLst/>
          </a:prstGeom>
          <a:noFill/>
          <a:ln/>
        </p:spPr>
        <p:txBody>
          <a:bodyPr wrap="square" lIns="0" tIns="0" rIns="0" bIns="0" rtlCol="0" anchor="ctr"/>
          <a:lstStyle/>
          <a:p>
            <a:pPr marL="0" indent="0">
              <a:buNone/>
            </a:pPr>
            <a:r>
              <a:rPr lang="en-US" sz="1250" dirty="0">
                <a:solidFill>
                  <a:srgbClr val="5A6B80"/>
                </a:solidFill>
                <a:latin typeface="Calibri" pitchFamily="34" charset="0"/>
                <a:ea typeface="Calibri" pitchFamily="34" charset="-122"/>
                <a:cs typeface="Calibri" pitchFamily="34" charset="-120"/>
              </a:rPr>
              <a:t>The same drift, dependency and throttling errors are investigated from scratch each time.</a:t>
            </a:r>
            <a:endParaRPr lang="en-US" sz="1250" dirty="0"/>
          </a:p>
        </p:txBody>
      </p:sp>
      <p:sp>
        <p:nvSpPr>
          <p:cNvPr id="19" name="Shape 17"/>
          <p:cNvSpPr/>
          <p:nvPr/>
        </p:nvSpPr>
        <p:spPr>
          <a:xfrm>
            <a:off x="6263640" y="2788920"/>
            <a:ext cx="5349240" cy="1207008"/>
          </a:xfrm>
          <a:prstGeom prst="roundRect">
            <a:avLst>
              <a:gd name="adj" fmla="val 9091"/>
            </a:avLst>
          </a:prstGeom>
          <a:solidFill>
            <a:srgbClr val="E9EEF4"/>
          </a:solidFill>
          <a:ln w="12700">
            <a:solidFill>
              <a:srgbClr val="E9EEF4"/>
            </a:solidFill>
            <a:prstDash val="solid"/>
          </a:ln>
        </p:spPr>
        <p:txBody>
          <a:bodyPr/>
          <a:lstStyle/>
          <a:p>
            <a:endParaRPr lang="en-US"/>
          </a:p>
        </p:txBody>
      </p:sp>
      <p:sp>
        <p:nvSpPr>
          <p:cNvPr id="20" name="Shape 18"/>
          <p:cNvSpPr/>
          <p:nvPr/>
        </p:nvSpPr>
        <p:spPr>
          <a:xfrm>
            <a:off x="6537960" y="3118104"/>
            <a:ext cx="530352" cy="530352"/>
          </a:xfrm>
          <a:prstGeom prst="ellipse">
            <a:avLst/>
          </a:prstGeom>
          <a:solidFill>
            <a:srgbClr val="132039"/>
          </a:solidFill>
          <a:ln w="12700">
            <a:solidFill>
              <a:srgbClr val="132039"/>
            </a:solidFill>
            <a:prstDash val="solid"/>
          </a:ln>
        </p:spPr>
        <p:txBody>
          <a:bodyPr/>
          <a:lstStyle/>
          <a:p>
            <a:endParaRPr lang="en-US"/>
          </a:p>
        </p:txBody>
      </p:sp>
      <p:sp>
        <p:nvSpPr>
          <p:cNvPr id="21" name="Text 19"/>
          <p:cNvSpPr/>
          <p:nvPr/>
        </p:nvSpPr>
        <p:spPr>
          <a:xfrm>
            <a:off x="6537960" y="311810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7223760" y="2990088"/>
            <a:ext cx="4069080" cy="384048"/>
          </a:xfrm>
          <a:prstGeom prst="rect">
            <a:avLst/>
          </a:prstGeom>
          <a:noFill/>
          <a:ln/>
        </p:spPr>
        <p:txBody>
          <a:bodyPr wrap="square" lIns="0" tIns="0" rIns="0" bIns="0" rtlCol="0" anchor="ctr"/>
          <a:lstStyle/>
          <a:p>
            <a:pPr marL="0" indent="0">
              <a:buNone/>
            </a:pPr>
            <a:r>
              <a:rPr lang="en-US" sz="1600" b="1" dirty="0">
                <a:solidFill>
                  <a:srgbClr val="132039"/>
                </a:solidFill>
                <a:latin typeface="Cambria" pitchFamily="34" charset="0"/>
                <a:ea typeface="Cambria" pitchFamily="34" charset="-122"/>
                <a:cs typeface="Cambria" pitchFamily="34" charset="-120"/>
              </a:rPr>
              <a:t>High Mean Time to Resolution</a:t>
            </a:r>
            <a:endParaRPr lang="en-US" sz="1600" dirty="0"/>
          </a:p>
        </p:txBody>
      </p:sp>
      <p:sp>
        <p:nvSpPr>
          <p:cNvPr id="23" name="Text 21"/>
          <p:cNvSpPr/>
          <p:nvPr/>
        </p:nvSpPr>
        <p:spPr>
          <a:xfrm>
            <a:off x="7223760" y="3392424"/>
            <a:ext cx="4069080" cy="475488"/>
          </a:xfrm>
          <a:prstGeom prst="rect">
            <a:avLst/>
          </a:prstGeom>
          <a:noFill/>
          <a:ln/>
        </p:spPr>
        <p:txBody>
          <a:bodyPr wrap="square" lIns="0" tIns="0" rIns="0" bIns="0" rtlCol="0" anchor="ctr"/>
          <a:lstStyle/>
          <a:p>
            <a:pPr marL="0" indent="0">
              <a:buNone/>
            </a:pPr>
            <a:r>
              <a:rPr lang="en-US" sz="1250" dirty="0">
                <a:solidFill>
                  <a:srgbClr val="5A6B80"/>
                </a:solidFill>
                <a:latin typeface="Calibri" pitchFamily="34" charset="0"/>
                <a:ea typeface="Calibri" pitchFamily="34" charset="-122"/>
                <a:cs typeface="Calibri" pitchFamily="34" charset="-120"/>
              </a:rPr>
              <a:t>Every hour of investigation is an hour the downstream data is late.</a:t>
            </a:r>
            <a:endParaRPr lang="en-US" sz="1250" dirty="0"/>
          </a:p>
        </p:txBody>
      </p:sp>
      <p:sp>
        <p:nvSpPr>
          <p:cNvPr id="24" name="Shape 22"/>
          <p:cNvSpPr/>
          <p:nvPr/>
        </p:nvSpPr>
        <p:spPr>
          <a:xfrm>
            <a:off x="548640" y="4160520"/>
            <a:ext cx="11064240" cy="1207008"/>
          </a:xfrm>
          <a:prstGeom prst="roundRect">
            <a:avLst>
              <a:gd name="adj" fmla="val 9091"/>
            </a:avLst>
          </a:prstGeom>
          <a:solidFill>
            <a:srgbClr val="FDEFE3"/>
          </a:solidFill>
          <a:ln w="12700">
            <a:solidFill>
              <a:srgbClr val="F5A25B"/>
            </a:solidFill>
            <a:prstDash val="solid"/>
          </a:ln>
        </p:spPr>
        <p:txBody>
          <a:bodyPr/>
          <a:lstStyle/>
          <a:p>
            <a:endParaRPr lang="en-US"/>
          </a:p>
        </p:txBody>
      </p:sp>
      <p:sp>
        <p:nvSpPr>
          <p:cNvPr id="25" name="Shape 23"/>
          <p:cNvSpPr/>
          <p:nvPr/>
        </p:nvSpPr>
        <p:spPr>
          <a:xfrm>
            <a:off x="822960" y="4489704"/>
            <a:ext cx="530352" cy="530352"/>
          </a:xfrm>
          <a:prstGeom prst="ellipse">
            <a:avLst/>
          </a:prstGeom>
          <a:solidFill>
            <a:srgbClr val="E2661A"/>
          </a:solidFill>
          <a:ln w="12700">
            <a:solidFill>
              <a:srgbClr val="E2661A"/>
            </a:solidFill>
            <a:prstDash val="solid"/>
          </a:ln>
        </p:spPr>
        <p:txBody>
          <a:bodyPr/>
          <a:lstStyle/>
          <a:p>
            <a:endParaRPr lang="en-US"/>
          </a:p>
        </p:txBody>
      </p:sp>
      <p:sp>
        <p:nvSpPr>
          <p:cNvPr id="26" name="Text 24"/>
          <p:cNvSpPr/>
          <p:nvPr/>
        </p:nvSpPr>
        <p:spPr>
          <a:xfrm>
            <a:off x="822960" y="4489704"/>
            <a:ext cx="530352" cy="53035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7" name="Text 25"/>
          <p:cNvSpPr/>
          <p:nvPr/>
        </p:nvSpPr>
        <p:spPr>
          <a:xfrm>
            <a:off x="1508760" y="4361688"/>
            <a:ext cx="9784080" cy="384048"/>
          </a:xfrm>
          <a:prstGeom prst="rect">
            <a:avLst/>
          </a:prstGeom>
          <a:noFill/>
          <a:ln/>
        </p:spPr>
        <p:txBody>
          <a:bodyPr wrap="square" lIns="0" tIns="0" rIns="0" bIns="0" rtlCol="0" anchor="ctr"/>
          <a:lstStyle/>
          <a:p>
            <a:pPr marL="0" indent="0">
              <a:buNone/>
            </a:pPr>
            <a:r>
              <a:rPr lang="en-US" sz="1600" b="1" dirty="0">
                <a:solidFill>
                  <a:srgbClr val="B04A0F"/>
                </a:solidFill>
                <a:latin typeface="Cambria" pitchFamily="34" charset="0"/>
                <a:ea typeface="Cambria" pitchFamily="34" charset="-122"/>
                <a:cs typeface="Cambria" pitchFamily="34" charset="-120"/>
              </a:rPr>
              <a:t>Limited knowledge reuse</a:t>
            </a:r>
            <a:endParaRPr lang="en-US" sz="1600" dirty="0"/>
          </a:p>
        </p:txBody>
      </p:sp>
      <p:sp>
        <p:nvSpPr>
          <p:cNvPr id="28" name="Text 26"/>
          <p:cNvSpPr/>
          <p:nvPr/>
        </p:nvSpPr>
        <p:spPr>
          <a:xfrm>
            <a:off x="1508760" y="4764024"/>
            <a:ext cx="9784080" cy="475488"/>
          </a:xfrm>
          <a:prstGeom prst="rect">
            <a:avLst/>
          </a:prstGeom>
          <a:noFill/>
          <a:ln/>
        </p:spPr>
        <p:txBody>
          <a:bodyPr wrap="square" lIns="0" tIns="0" rIns="0" bIns="0" rtlCol="0" anchor="ctr"/>
          <a:lstStyle/>
          <a:p>
            <a:pPr marL="0" indent="0">
              <a:buNone/>
            </a:pPr>
            <a:r>
              <a:rPr lang="en-US" sz="1250" dirty="0">
                <a:solidFill>
                  <a:srgbClr val="5A6B80"/>
                </a:solidFill>
                <a:latin typeface="Calibri" pitchFamily="34" charset="0"/>
                <a:ea typeface="Calibri" pitchFamily="34" charset="-122"/>
                <a:cs typeface="Calibri" pitchFamily="34" charset="-120"/>
              </a:rPr>
              <a:t>Yesterday's resolution lives in a chat thread, not in anything the next engineer can query.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AVAILABLE DATA AND INPUTS</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Three inputs — and what each one becomes</a:t>
            </a:r>
            <a:endParaRPr lang="en-US" sz="3200" dirty="0"/>
          </a:p>
        </p:txBody>
      </p:sp>
      <p:sp>
        <p:nvSpPr>
          <p:cNvPr id="4" name="Shape 2"/>
          <p:cNvSpPr/>
          <p:nvPr/>
        </p:nvSpPr>
        <p:spPr>
          <a:xfrm>
            <a:off x="548640" y="1463040"/>
            <a:ext cx="3447288" cy="2743200"/>
          </a:xfrm>
          <a:prstGeom prst="roundRect">
            <a:avLst>
              <a:gd name="adj" fmla="val 4667"/>
            </a:avLst>
          </a:prstGeom>
          <a:solidFill>
            <a:srgbClr val="E9EEF4"/>
          </a:solidFill>
          <a:ln w="12700">
            <a:solidFill>
              <a:srgbClr val="D3DEE9"/>
            </a:solidFill>
            <a:prstDash val="solid"/>
          </a:ln>
        </p:spPr>
        <p:txBody>
          <a:bodyPr/>
          <a:lstStyle/>
          <a:p>
            <a:endParaRPr lang="en-US"/>
          </a:p>
        </p:txBody>
      </p:sp>
      <p:sp>
        <p:nvSpPr>
          <p:cNvPr id="5" name="Shape 3"/>
          <p:cNvSpPr/>
          <p:nvPr/>
        </p:nvSpPr>
        <p:spPr>
          <a:xfrm>
            <a:off x="868680" y="1737360"/>
            <a:ext cx="457200" cy="457200"/>
          </a:xfrm>
          <a:prstGeom prst="ellipse">
            <a:avLst/>
          </a:prstGeom>
          <a:solidFill>
            <a:srgbClr val="E2661A"/>
          </a:solidFill>
          <a:ln w="12700">
            <a:solidFill>
              <a:srgbClr val="E2661A"/>
            </a:solidFill>
            <a:prstDash val="solid"/>
          </a:ln>
        </p:spPr>
        <p:txBody>
          <a:bodyPr/>
          <a:lstStyle/>
          <a:p>
            <a:endParaRPr lang="en-US"/>
          </a:p>
        </p:txBody>
      </p:sp>
      <p:sp>
        <p:nvSpPr>
          <p:cNvPr id="6" name="Text 4"/>
          <p:cNvSpPr/>
          <p:nvPr/>
        </p:nvSpPr>
        <p:spPr>
          <a:xfrm>
            <a:off x="868680" y="17373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68680" y="2331720"/>
            <a:ext cx="2834640" cy="411480"/>
          </a:xfrm>
          <a:prstGeom prst="rect">
            <a:avLst/>
          </a:prstGeom>
          <a:noFill/>
          <a:ln/>
        </p:spPr>
        <p:txBody>
          <a:bodyPr wrap="square" lIns="0" tIns="0" rIns="0" bIns="0" rtlCol="0" anchor="ctr"/>
          <a:lstStyle/>
          <a:p>
            <a:pPr marL="0" indent="0">
              <a:buNone/>
            </a:pPr>
            <a:r>
              <a:rPr lang="en-US" sz="1900" b="1" dirty="0">
                <a:solidFill>
                  <a:srgbClr val="132039"/>
                </a:solidFill>
                <a:latin typeface="Cambria" pitchFamily="34" charset="0"/>
                <a:ea typeface="Cambria" pitchFamily="34" charset="-122"/>
                <a:cs typeface="Cambria" pitchFamily="34" charset="-120"/>
              </a:rPr>
              <a:t>Pipeline logs</a:t>
            </a:r>
            <a:endParaRPr lang="en-US" sz="1900" dirty="0"/>
          </a:p>
        </p:txBody>
      </p:sp>
      <p:sp>
        <p:nvSpPr>
          <p:cNvPr id="8" name="Text 6"/>
          <p:cNvSpPr/>
          <p:nvPr/>
        </p:nvSpPr>
        <p:spPr>
          <a:xfrm>
            <a:off x="868680" y="2816352"/>
            <a:ext cx="2834640" cy="128016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Redacted at ingest, then parsed to an error signature. We index the failing window, not the whole file — that is what keeps cost and hallucination down.</a:t>
            </a:r>
            <a:endParaRPr lang="en-US" sz="1200" dirty="0"/>
          </a:p>
        </p:txBody>
      </p:sp>
      <p:sp>
        <p:nvSpPr>
          <p:cNvPr id="9" name="Shape 7"/>
          <p:cNvSpPr/>
          <p:nvPr/>
        </p:nvSpPr>
        <p:spPr>
          <a:xfrm>
            <a:off x="4270248" y="1463040"/>
            <a:ext cx="3447288" cy="2743200"/>
          </a:xfrm>
          <a:prstGeom prst="roundRect">
            <a:avLst>
              <a:gd name="adj" fmla="val 4667"/>
            </a:avLst>
          </a:prstGeom>
          <a:solidFill>
            <a:srgbClr val="E2661A"/>
          </a:solidFill>
          <a:ln w="12700">
            <a:solidFill>
              <a:srgbClr val="E2661A"/>
            </a:solidFill>
            <a:prstDash val="solid"/>
          </a:ln>
        </p:spPr>
        <p:txBody>
          <a:bodyPr/>
          <a:lstStyle/>
          <a:p>
            <a:endParaRPr lang="en-US"/>
          </a:p>
        </p:txBody>
      </p:sp>
      <p:sp>
        <p:nvSpPr>
          <p:cNvPr id="10" name="Shape 8"/>
          <p:cNvSpPr/>
          <p:nvPr/>
        </p:nvSpPr>
        <p:spPr>
          <a:xfrm>
            <a:off x="4590288" y="1737360"/>
            <a:ext cx="457200" cy="457200"/>
          </a:xfrm>
          <a:prstGeom prst="ellipse">
            <a:avLst/>
          </a:prstGeom>
          <a:solidFill>
            <a:srgbClr val="FFFFFF"/>
          </a:solidFill>
          <a:ln w="12700">
            <a:solidFill>
              <a:srgbClr val="FFFFFF"/>
            </a:solidFill>
            <a:prstDash val="solid"/>
          </a:ln>
        </p:spPr>
        <p:txBody>
          <a:bodyPr/>
          <a:lstStyle/>
          <a:p>
            <a:endParaRPr lang="en-US"/>
          </a:p>
        </p:txBody>
      </p:sp>
      <p:sp>
        <p:nvSpPr>
          <p:cNvPr id="11" name="Text 9"/>
          <p:cNvSpPr/>
          <p:nvPr/>
        </p:nvSpPr>
        <p:spPr>
          <a:xfrm>
            <a:off x="4590288" y="1737360"/>
            <a:ext cx="457200" cy="457200"/>
          </a:xfrm>
          <a:prstGeom prst="rect">
            <a:avLst/>
          </a:prstGeom>
          <a:noFill/>
          <a:ln/>
        </p:spPr>
        <p:txBody>
          <a:bodyPr wrap="square" lIns="0" tIns="0" rIns="0" bIns="0" rtlCol="0" anchor="ctr"/>
          <a:lstStyle/>
          <a:p>
            <a:pPr marL="0" indent="0" algn="ctr">
              <a:buNone/>
            </a:pPr>
            <a:r>
              <a:rPr lang="en-US" sz="1300" b="1" dirty="0">
                <a:solidFill>
                  <a:srgbClr val="B04A0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590288" y="2331720"/>
            <a:ext cx="283464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Execution history</a:t>
            </a:r>
            <a:endParaRPr lang="en-US" sz="1900" dirty="0"/>
          </a:p>
        </p:txBody>
      </p:sp>
      <p:sp>
        <p:nvSpPr>
          <p:cNvPr id="13" name="Text 11"/>
          <p:cNvSpPr/>
          <p:nvPr/>
        </p:nvSpPr>
        <p:spPr>
          <a:xfrm>
            <a:off x="4590288" y="2816352"/>
            <a:ext cx="2834640" cy="1280160"/>
          </a:xfrm>
          <a:prstGeom prst="rect">
            <a:avLst/>
          </a:prstGeom>
          <a:noFill/>
          <a:ln/>
        </p:spPr>
        <p:txBody>
          <a:bodyPr wrap="square" lIns="0" tIns="0" rIns="0" bIns="0" rtlCol="0" anchor="ctr"/>
          <a:lstStyle/>
          <a:p>
            <a:pPr marL="0" indent="0">
              <a:buNone/>
            </a:pPr>
            <a:r>
              <a:rPr lang="en-US" sz="1200" dirty="0">
                <a:solidFill>
                  <a:srgbClr val="FFEBDA"/>
                </a:solidFill>
                <a:latin typeface="Calibri" pitchFamily="34" charset="0"/>
                <a:ea typeface="Calibri" pitchFamily="34" charset="-122"/>
                <a:cs typeface="Calibri" pitchFamily="34" charset="-120"/>
              </a:rPr>
              <a:t>The backbone. Run status, durations, retries and upstream dependencies become the normalized failure record every agent reads.</a:t>
            </a:r>
            <a:endParaRPr lang="en-US" sz="1200" dirty="0"/>
          </a:p>
        </p:txBody>
      </p:sp>
      <p:sp>
        <p:nvSpPr>
          <p:cNvPr id="14" name="Shape 12"/>
          <p:cNvSpPr/>
          <p:nvPr/>
        </p:nvSpPr>
        <p:spPr>
          <a:xfrm>
            <a:off x="7991856" y="1463040"/>
            <a:ext cx="3447288" cy="2743200"/>
          </a:xfrm>
          <a:prstGeom prst="roundRect">
            <a:avLst>
              <a:gd name="adj" fmla="val 4667"/>
            </a:avLst>
          </a:prstGeom>
          <a:solidFill>
            <a:srgbClr val="E9EEF4"/>
          </a:solidFill>
          <a:ln w="12700">
            <a:solidFill>
              <a:srgbClr val="D3DEE9"/>
            </a:solidFill>
            <a:prstDash val="solid"/>
          </a:ln>
        </p:spPr>
        <p:txBody>
          <a:bodyPr/>
          <a:lstStyle/>
          <a:p>
            <a:endParaRPr lang="en-US"/>
          </a:p>
        </p:txBody>
      </p:sp>
      <p:sp>
        <p:nvSpPr>
          <p:cNvPr id="15" name="Shape 13"/>
          <p:cNvSpPr/>
          <p:nvPr/>
        </p:nvSpPr>
        <p:spPr>
          <a:xfrm>
            <a:off x="8311896" y="1737360"/>
            <a:ext cx="457200" cy="457200"/>
          </a:xfrm>
          <a:prstGeom prst="ellipse">
            <a:avLst/>
          </a:prstGeom>
          <a:solidFill>
            <a:srgbClr val="E2661A"/>
          </a:solidFill>
          <a:ln w="12700">
            <a:solidFill>
              <a:srgbClr val="E2661A"/>
            </a:solidFill>
            <a:prstDash val="solid"/>
          </a:ln>
        </p:spPr>
        <p:txBody>
          <a:bodyPr/>
          <a:lstStyle/>
          <a:p>
            <a:endParaRPr lang="en-US"/>
          </a:p>
        </p:txBody>
      </p:sp>
      <p:sp>
        <p:nvSpPr>
          <p:cNvPr id="16" name="Text 14"/>
          <p:cNvSpPr/>
          <p:nvPr/>
        </p:nvSpPr>
        <p:spPr>
          <a:xfrm>
            <a:off x="8311896" y="17373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311896" y="2331720"/>
            <a:ext cx="2834640" cy="411480"/>
          </a:xfrm>
          <a:prstGeom prst="rect">
            <a:avLst/>
          </a:prstGeom>
          <a:noFill/>
          <a:ln/>
        </p:spPr>
        <p:txBody>
          <a:bodyPr wrap="square" lIns="0" tIns="0" rIns="0" bIns="0" rtlCol="0" anchor="ctr"/>
          <a:lstStyle/>
          <a:p>
            <a:pPr marL="0" indent="0">
              <a:buNone/>
            </a:pPr>
            <a:r>
              <a:rPr lang="en-US" sz="1900" b="1" dirty="0">
                <a:solidFill>
                  <a:srgbClr val="132039"/>
                </a:solidFill>
                <a:latin typeface="Cambria" pitchFamily="34" charset="0"/>
                <a:ea typeface="Cambria" pitchFamily="34" charset="-122"/>
                <a:cs typeface="Cambria" pitchFamily="34" charset="-120"/>
              </a:rPr>
              <a:t>Error messages</a:t>
            </a:r>
            <a:endParaRPr lang="en-US" sz="1900" dirty="0"/>
          </a:p>
        </p:txBody>
      </p:sp>
      <p:sp>
        <p:nvSpPr>
          <p:cNvPr id="18" name="Text 16"/>
          <p:cNvSpPr/>
          <p:nvPr/>
        </p:nvSpPr>
        <p:spPr>
          <a:xfrm>
            <a:off x="8311896" y="2816352"/>
            <a:ext cx="2834640" cy="128016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Clustered into recurring signatures, so a repeat failure is recognised on sight instead of reasoned about again.</a:t>
            </a:r>
            <a:endParaRPr lang="en-US" sz="1200" dirty="0"/>
          </a:p>
        </p:txBody>
      </p:sp>
      <p:sp>
        <p:nvSpPr>
          <p:cNvPr id="19" name="Shape 17"/>
          <p:cNvSpPr/>
          <p:nvPr/>
        </p:nvSpPr>
        <p:spPr>
          <a:xfrm>
            <a:off x="548640" y="4480560"/>
            <a:ext cx="11064240" cy="1325880"/>
          </a:xfrm>
          <a:prstGeom prst="roundRect">
            <a:avLst>
              <a:gd name="adj" fmla="val 8276"/>
            </a:avLst>
          </a:prstGeom>
          <a:solidFill>
            <a:srgbClr val="132039"/>
          </a:solidFill>
          <a:ln w="12700">
            <a:solidFill>
              <a:srgbClr val="132039"/>
            </a:solidFill>
            <a:prstDash val="solid"/>
          </a:ln>
        </p:spPr>
        <p:txBody>
          <a:bodyPr/>
          <a:lstStyle/>
          <a:p>
            <a:endParaRPr lang="en-US"/>
          </a:p>
        </p:txBody>
      </p:sp>
      <p:sp>
        <p:nvSpPr>
          <p:cNvPr id="20" name="Text 18"/>
          <p:cNvSpPr/>
          <p:nvPr/>
        </p:nvSpPr>
        <p:spPr>
          <a:xfrm>
            <a:off x="914400" y="4617720"/>
            <a:ext cx="10332720" cy="320040"/>
          </a:xfrm>
          <a:prstGeom prst="rect">
            <a:avLst/>
          </a:prstGeom>
          <a:noFill/>
          <a:ln/>
        </p:spPr>
        <p:txBody>
          <a:bodyPr wrap="square" lIns="0" tIns="0" rIns="0" bIns="0" rtlCol="0" anchor="ctr"/>
          <a:lstStyle/>
          <a:p>
            <a:pPr marL="0" indent="0">
              <a:buNone/>
            </a:pPr>
            <a:r>
              <a:rPr lang="en-US" sz="1400" b="1" dirty="0">
                <a:solidFill>
                  <a:srgbClr val="F5A25B"/>
                </a:solidFill>
                <a:latin typeface="Cambria" pitchFamily="34" charset="0"/>
                <a:ea typeface="Cambria" pitchFamily="34" charset="-122"/>
                <a:cs typeface="Cambria" pitchFamily="34" charset="-120"/>
              </a:rPr>
              <a:t>Runbooks and resolved tickets.</a:t>
            </a:r>
            <a:endParaRPr lang="en-US" sz="1400" dirty="0"/>
          </a:p>
        </p:txBody>
      </p:sp>
      <p:sp>
        <p:nvSpPr>
          <p:cNvPr id="21" name="Text 19"/>
          <p:cNvSpPr/>
          <p:nvPr/>
        </p:nvSpPr>
        <p:spPr>
          <a:xfrm>
            <a:off x="914400" y="4983480"/>
            <a:ext cx="10332720" cy="7315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So the knowledge base seeds itself. Every failure the team resolves through the assistant is captured with its outcome and becomes retrievable context. That is why Phase 1 is explain-only and knowledge reuse switches on in Phase 2.</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039"/>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F5A25B"/>
                </a:solidFill>
                <a:latin typeface="Calibri" pitchFamily="34" charset="0"/>
                <a:ea typeface="Calibri" pitchFamily="34" charset="-122"/>
                <a:cs typeface="Calibri" pitchFamily="34" charset="-120"/>
              </a:rPr>
              <a:t>KEY CONSTRAINTS</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the solution must respect</a:t>
            </a:r>
            <a:endParaRPr lang="en-US" sz="3200" dirty="0"/>
          </a:p>
        </p:txBody>
      </p:sp>
      <p:sp>
        <p:nvSpPr>
          <p:cNvPr id="4" name="Shape 2"/>
          <p:cNvSpPr/>
          <p:nvPr/>
        </p:nvSpPr>
        <p:spPr>
          <a:xfrm>
            <a:off x="548640" y="1417320"/>
            <a:ext cx="5486400" cy="4160520"/>
          </a:xfrm>
          <a:prstGeom prst="roundRect">
            <a:avLst>
              <a:gd name="adj" fmla="val 3077"/>
            </a:avLst>
          </a:prstGeom>
          <a:solidFill>
            <a:srgbClr val="E2661A"/>
          </a:solidFill>
          <a:ln w="12700">
            <a:solidFill>
              <a:srgbClr val="E2661A"/>
            </a:solidFill>
            <a:prstDash val="solid"/>
          </a:ln>
        </p:spPr>
        <p:txBody>
          <a:bodyPr/>
          <a:lstStyle/>
          <a:p>
            <a:endParaRPr lang="en-US"/>
          </a:p>
        </p:txBody>
      </p:sp>
      <p:sp>
        <p:nvSpPr>
          <p:cNvPr id="5" name="Text 3"/>
          <p:cNvSpPr/>
          <p:nvPr/>
        </p:nvSpPr>
        <p:spPr>
          <a:xfrm>
            <a:off x="914400" y="1783080"/>
            <a:ext cx="4754880" cy="274320"/>
          </a:xfrm>
          <a:prstGeom prst="rect">
            <a:avLst/>
          </a:prstGeom>
          <a:noFill/>
          <a:ln/>
        </p:spPr>
        <p:txBody>
          <a:bodyPr wrap="square" lIns="0" tIns="0" rIns="0" bIns="0" rtlCol="0" anchor="ctr"/>
          <a:lstStyle/>
          <a:p>
            <a:pPr marL="0" indent="0">
              <a:buNone/>
            </a:pPr>
            <a:r>
              <a:rPr lang="en-US" sz="1100" b="1" kern="0" spc="200" dirty="0">
                <a:solidFill>
                  <a:srgbClr val="FFE3CC"/>
                </a:solidFill>
                <a:latin typeface="Calibri" pitchFamily="34" charset="0"/>
                <a:ea typeface="Calibri" pitchFamily="34" charset="-122"/>
                <a:cs typeface="Calibri" pitchFamily="34" charset="-120"/>
              </a:rPr>
              <a:t>MOST DEMANDING CONSTRAINT</a:t>
            </a:r>
            <a:endParaRPr lang="en-US" sz="1100" dirty="0"/>
          </a:p>
        </p:txBody>
      </p:sp>
      <p:sp>
        <p:nvSpPr>
          <p:cNvPr id="6" name="Text 4"/>
          <p:cNvSpPr/>
          <p:nvPr/>
        </p:nvSpPr>
        <p:spPr>
          <a:xfrm>
            <a:off x="914400" y="2103120"/>
            <a:ext cx="4754880" cy="9144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Secure handling of</a:t>
            </a:r>
            <a:endParaRPr lang="en-US" sz="2800" dirty="0"/>
          </a:p>
          <a:p>
            <a:pPr marL="0" indent="0">
              <a:buNone/>
            </a:pPr>
            <a:r>
              <a:rPr lang="en-US" sz="2800" b="1" dirty="0">
                <a:solidFill>
                  <a:srgbClr val="FFFFFF"/>
                </a:solidFill>
                <a:latin typeface="Cambria" pitchFamily="34" charset="0"/>
                <a:ea typeface="Cambria" pitchFamily="34" charset="-122"/>
                <a:cs typeface="Cambria" pitchFamily="34" charset="-120"/>
              </a:rPr>
              <a:t>production data</a:t>
            </a:r>
            <a:endParaRPr lang="en-US" sz="2800" dirty="0"/>
          </a:p>
        </p:txBody>
      </p:sp>
      <p:sp>
        <p:nvSpPr>
          <p:cNvPr id="7" name="Text 5"/>
          <p:cNvSpPr/>
          <p:nvPr/>
        </p:nvSpPr>
        <p:spPr>
          <a:xfrm>
            <a:off x="914400" y="3108960"/>
            <a:ext cx="4754880" cy="2286000"/>
          </a:xfrm>
          <a:prstGeom prst="rect">
            <a:avLst/>
          </a:prstGeom>
          <a:noFill/>
          <a:ln/>
        </p:spPr>
        <p:txBody>
          <a:bodyPr wrap="square" lIns="0" tIns="0" rIns="0" bIns="0" rtlCol="0" anchor="ctr"/>
          <a:lstStyle/>
          <a:p>
            <a:pPr marL="0" indent="0">
              <a:spcAft>
                <a:spcPts val="1200"/>
              </a:spcAft>
              <a:buNone/>
            </a:pPr>
            <a:r>
              <a:rPr lang="en-US" sz="1350" dirty="0">
                <a:solidFill>
                  <a:srgbClr val="FFF0E4"/>
                </a:solidFill>
                <a:latin typeface="Calibri" pitchFamily="34" charset="0"/>
                <a:ea typeface="Calibri" pitchFamily="34" charset="-122"/>
                <a:cs typeface="Calibri" pitchFamily="34" charset="-120"/>
              </a:rPr>
              <a:t>The assistant reads live operational data. That single fact sets the design ceiling:</a:t>
            </a:r>
            <a:endParaRPr lang="en-US" sz="135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Secrets and PII stripped before the model ever sees log text</a:t>
            </a:r>
            <a:endParaRPr lang="en-US" sz="135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No standing privilege — the agent holds no credentials of its own</a:t>
            </a:r>
            <a:endParaRPr lang="en-US" sz="135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Read-only by default; every write is a proposal until approved</a:t>
            </a:r>
            <a:endParaRPr lang="en-US" sz="135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Data stays inside the existing platform trust boundary</a:t>
            </a:r>
            <a:endParaRPr lang="en-US" sz="1350" dirty="0"/>
          </a:p>
        </p:txBody>
      </p:sp>
      <p:sp>
        <p:nvSpPr>
          <p:cNvPr id="8" name="Shape 6"/>
          <p:cNvSpPr/>
          <p:nvPr/>
        </p:nvSpPr>
        <p:spPr>
          <a:xfrm>
            <a:off x="6309360" y="1417320"/>
            <a:ext cx="5303520" cy="1280160"/>
          </a:xfrm>
          <a:prstGeom prst="roundRect">
            <a:avLst>
              <a:gd name="adj" fmla="val 8571"/>
            </a:avLst>
          </a:prstGeom>
          <a:solidFill>
            <a:srgbClr val="22344F"/>
          </a:solidFill>
          <a:ln w="12700">
            <a:solidFill>
              <a:srgbClr val="34456E"/>
            </a:solidFill>
            <a:prstDash val="solid"/>
          </a:ln>
        </p:spPr>
        <p:txBody>
          <a:bodyPr/>
          <a:lstStyle/>
          <a:p>
            <a:endParaRPr lang="en-US"/>
          </a:p>
        </p:txBody>
      </p:sp>
      <p:sp>
        <p:nvSpPr>
          <p:cNvPr id="9" name="Shape 7"/>
          <p:cNvSpPr/>
          <p:nvPr/>
        </p:nvSpPr>
        <p:spPr>
          <a:xfrm>
            <a:off x="6583680" y="1673352"/>
            <a:ext cx="402336" cy="402336"/>
          </a:xfrm>
          <a:prstGeom prst="ellipse">
            <a:avLst/>
          </a:prstGeom>
          <a:solidFill>
            <a:srgbClr val="E2661A"/>
          </a:solidFill>
          <a:ln w="12700">
            <a:solidFill>
              <a:srgbClr val="E2661A"/>
            </a:solidFill>
            <a:prstDash val="solid"/>
          </a:ln>
        </p:spPr>
        <p:txBody>
          <a:bodyPr/>
          <a:lstStyle/>
          <a:p>
            <a:endParaRPr lang="en-US"/>
          </a:p>
        </p:txBody>
      </p:sp>
      <p:sp>
        <p:nvSpPr>
          <p:cNvPr id="10" name="Text 8"/>
          <p:cNvSpPr/>
          <p:nvPr/>
        </p:nvSpPr>
        <p:spPr>
          <a:xfrm>
            <a:off x="6583680" y="167335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7178040" y="1618488"/>
            <a:ext cx="4206240" cy="320040"/>
          </a:xfrm>
          <a:prstGeom prst="rect">
            <a:avLst/>
          </a:prstGeom>
          <a:noFill/>
          <a:ln/>
        </p:spPr>
        <p:txBody>
          <a:bodyPr wrap="square" lIns="0" tIns="0" rIns="0" bIns="0" rtlCol="0" anchor="ctr"/>
          <a:lstStyle/>
          <a:p>
            <a:pPr marL="0" indent="0">
              <a:buNone/>
            </a:pPr>
            <a:r>
              <a:rPr lang="en-US" sz="1550" b="1" dirty="0">
                <a:solidFill>
                  <a:srgbClr val="F5A25B"/>
                </a:solidFill>
                <a:latin typeface="Cambria" pitchFamily="34" charset="0"/>
                <a:ea typeface="Cambria" pitchFamily="34" charset="-122"/>
                <a:cs typeface="Cambria" pitchFamily="34" charset="-120"/>
              </a:rPr>
              <a:t>Explainable AI responses</a:t>
            </a:r>
            <a:endParaRPr lang="en-US" sz="1550" dirty="0"/>
          </a:p>
        </p:txBody>
      </p:sp>
      <p:sp>
        <p:nvSpPr>
          <p:cNvPr id="12" name="Text 10"/>
          <p:cNvSpPr/>
          <p:nvPr/>
        </p:nvSpPr>
        <p:spPr>
          <a:xfrm>
            <a:off x="7178040" y="1984248"/>
            <a:ext cx="4206240" cy="594360"/>
          </a:xfrm>
          <a:prstGeom prst="rect">
            <a:avLst/>
          </a:prstGeom>
          <a:noFill/>
          <a:ln/>
        </p:spPr>
        <p:txBody>
          <a:bodyPr wrap="square" lIns="0" tIns="0" rIns="0" bIns="0" rtlCol="0" anchor="ctr"/>
          <a:lstStyle/>
          <a:p>
            <a:pPr marL="0" indent="0">
              <a:buNone/>
            </a:pPr>
            <a:r>
              <a:rPr lang="en-US" sz="1250" dirty="0">
                <a:solidFill>
                  <a:srgbClr val="C6D3E2"/>
                </a:solidFill>
                <a:latin typeface="Calibri" pitchFamily="34" charset="0"/>
                <a:ea typeface="Calibri" pitchFamily="34" charset="-122"/>
                <a:cs typeface="Calibri" pitchFamily="34" charset="-120"/>
              </a:rPr>
              <a:t>Every answer cites the run, log line or prior incident behind it. No uncited root causes.</a:t>
            </a:r>
            <a:endParaRPr lang="en-US" sz="1250" dirty="0"/>
          </a:p>
        </p:txBody>
      </p:sp>
      <p:sp>
        <p:nvSpPr>
          <p:cNvPr id="13" name="Shape 11"/>
          <p:cNvSpPr/>
          <p:nvPr/>
        </p:nvSpPr>
        <p:spPr>
          <a:xfrm>
            <a:off x="6309360" y="2834640"/>
            <a:ext cx="5303520" cy="1280160"/>
          </a:xfrm>
          <a:prstGeom prst="roundRect">
            <a:avLst>
              <a:gd name="adj" fmla="val 8571"/>
            </a:avLst>
          </a:prstGeom>
          <a:solidFill>
            <a:srgbClr val="22344F"/>
          </a:solidFill>
          <a:ln w="12700">
            <a:solidFill>
              <a:srgbClr val="34456E"/>
            </a:solidFill>
            <a:prstDash val="solid"/>
          </a:ln>
        </p:spPr>
        <p:txBody>
          <a:bodyPr/>
          <a:lstStyle/>
          <a:p>
            <a:endParaRPr lang="en-US"/>
          </a:p>
        </p:txBody>
      </p:sp>
      <p:sp>
        <p:nvSpPr>
          <p:cNvPr id="14" name="Shape 12"/>
          <p:cNvSpPr/>
          <p:nvPr/>
        </p:nvSpPr>
        <p:spPr>
          <a:xfrm>
            <a:off x="6583680" y="3090672"/>
            <a:ext cx="402336" cy="402336"/>
          </a:xfrm>
          <a:prstGeom prst="ellipse">
            <a:avLst/>
          </a:prstGeom>
          <a:solidFill>
            <a:srgbClr val="E2661A"/>
          </a:solidFill>
          <a:ln w="12700">
            <a:solidFill>
              <a:srgbClr val="E2661A"/>
            </a:solidFill>
            <a:prstDash val="solid"/>
          </a:ln>
        </p:spPr>
        <p:txBody>
          <a:bodyPr/>
          <a:lstStyle/>
          <a:p>
            <a:endParaRPr lang="en-US"/>
          </a:p>
        </p:txBody>
      </p:sp>
      <p:sp>
        <p:nvSpPr>
          <p:cNvPr id="15" name="Text 13"/>
          <p:cNvSpPr/>
          <p:nvPr/>
        </p:nvSpPr>
        <p:spPr>
          <a:xfrm>
            <a:off x="6583680" y="309067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7178040" y="3035808"/>
            <a:ext cx="4206240" cy="320040"/>
          </a:xfrm>
          <a:prstGeom prst="rect">
            <a:avLst/>
          </a:prstGeom>
          <a:noFill/>
          <a:ln/>
        </p:spPr>
        <p:txBody>
          <a:bodyPr wrap="square" lIns="0" tIns="0" rIns="0" bIns="0" rtlCol="0" anchor="ctr"/>
          <a:lstStyle/>
          <a:p>
            <a:pPr marL="0" indent="0">
              <a:buNone/>
            </a:pPr>
            <a:r>
              <a:rPr lang="en-US" sz="1550" b="1" dirty="0">
                <a:solidFill>
                  <a:srgbClr val="F5A25B"/>
                </a:solidFill>
                <a:latin typeface="Cambria" pitchFamily="34" charset="0"/>
                <a:ea typeface="Cambria" pitchFamily="34" charset="-122"/>
                <a:cs typeface="Cambria" pitchFamily="34" charset="-120"/>
              </a:rPr>
              <a:t>Cloud agnostic design</a:t>
            </a:r>
            <a:endParaRPr lang="en-US" sz="1550" dirty="0"/>
          </a:p>
        </p:txBody>
      </p:sp>
      <p:sp>
        <p:nvSpPr>
          <p:cNvPr id="17" name="Text 15"/>
          <p:cNvSpPr/>
          <p:nvPr/>
        </p:nvSpPr>
        <p:spPr>
          <a:xfrm>
            <a:off x="7178040" y="3401568"/>
            <a:ext cx="4206240" cy="594360"/>
          </a:xfrm>
          <a:prstGeom prst="rect">
            <a:avLst/>
          </a:prstGeom>
          <a:noFill/>
          <a:ln/>
        </p:spPr>
        <p:txBody>
          <a:bodyPr wrap="square" lIns="0" tIns="0" rIns="0" bIns="0" rtlCol="0" anchor="ctr"/>
          <a:lstStyle/>
          <a:p>
            <a:pPr marL="0" indent="0">
              <a:buNone/>
            </a:pPr>
            <a:r>
              <a:rPr lang="en-US" sz="1250" dirty="0">
                <a:solidFill>
                  <a:srgbClr val="C6D3E2"/>
                </a:solidFill>
                <a:latin typeface="Calibri" pitchFamily="34" charset="0"/>
                <a:ea typeface="Calibri" pitchFamily="34" charset="-122"/>
                <a:cs typeface="Calibri" pitchFamily="34" charset="-120"/>
              </a:rPr>
              <a:t>No dependence on one orchestrator's API surface or one vendor's log format.</a:t>
            </a:r>
            <a:endParaRPr lang="en-US" sz="1250" dirty="0"/>
          </a:p>
        </p:txBody>
      </p:sp>
      <p:sp>
        <p:nvSpPr>
          <p:cNvPr id="18" name="Shape 16"/>
          <p:cNvSpPr/>
          <p:nvPr/>
        </p:nvSpPr>
        <p:spPr>
          <a:xfrm>
            <a:off x="6309360" y="4251960"/>
            <a:ext cx="5303520" cy="1280160"/>
          </a:xfrm>
          <a:prstGeom prst="roundRect">
            <a:avLst>
              <a:gd name="adj" fmla="val 8571"/>
            </a:avLst>
          </a:prstGeom>
          <a:solidFill>
            <a:srgbClr val="22344F"/>
          </a:solidFill>
          <a:ln w="12700">
            <a:solidFill>
              <a:srgbClr val="34456E"/>
            </a:solidFill>
            <a:prstDash val="solid"/>
          </a:ln>
        </p:spPr>
        <p:txBody>
          <a:bodyPr/>
          <a:lstStyle/>
          <a:p>
            <a:endParaRPr lang="en-US"/>
          </a:p>
        </p:txBody>
      </p:sp>
      <p:sp>
        <p:nvSpPr>
          <p:cNvPr id="19" name="Shape 17"/>
          <p:cNvSpPr/>
          <p:nvPr/>
        </p:nvSpPr>
        <p:spPr>
          <a:xfrm>
            <a:off x="6583680" y="4507992"/>
            <a:ext cx="402336" cy="402336"/>
          </a:xfrm>
          <a:prstGeom prst="ellipse">
            <a:avLst/>
          </a:prstGeom>
          <a:solidFill>
            <a:srgbClr val="E2661A"/>
          </a:solidFill>
          <a:ln w="12700">
            <a:solidFill>
              <a:srgbClr val="E2661A"/>
            </a:solidFill>
            <a:prstDash val="solid"/>
          </a:ln>
        </p:spPr>
        <p:txBody>
          <a:bodyPr/>
          <a:lstStyle/>
          <a:p>
            <a:endParaRPr lang="en-US"/>
          </a:p>
        </p:txBody>
      </p:sp>
      <p:sp>
        <p:nvSpPr>
          <p:cNvPr id="20" name="Text 18"/>
          <p:cNvSpPr/>
          <p:nvPr/>
        </p:nvSpPr>
        <p:spPr>
          <a:xfrm>
            <a:off x="6583680" y="450799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7178040" y="4453128"/>
            <a:ext cx="4206240" cy="320040"/>
          </a:xfrm>
          <a:prstGeom prst="rect">
            <a:avLst/>
          </a:prstGeom>
          <a:noFill/>
          <a:ln/>
        </p:spPr>
        <p:txBody>
          <a:bodyPr wrap="square" lIns="0" tIns="0" rIns="0" bIns="0" rtlCol="0" anchor="ctr"/>
          <a:lstStyle/>
          <a:p>
            <a:pPr marL="0" indent="0">
              <a:buNone/>
            </a:pPr>
            <a:r>
              <a:rPr lang="en-US" sz="1550" b="1" dirty="0">
                <a:solidFill>
                  <a:srgbClr val="F5A25B"/>
                </a:solidFill>
                <a:latin typeface="Cambria" pitchFamily="34" charset="0"/>
                <a:ea typeface="Cambria" pitchFamily="34" charset="-122"/>
                <a:cs typeface="Cambria" pitchFamily="34" charset="-120"/>
              </a:rPr>
              <a:t>Valid roles for operational actions</a:t>
            </a:r>
            <a:endParaRPr lang="en-US" sz="1550" dirty="0"/>
          </a:p>
        </p:txBody>
      </p:sp>
      <p:sp>
        <p:nvSpPr>
          <p:cNvPr id="22" name="Text 20"/>
          <p:cNvSpPr/>
          <p:nvPr/>
        </p:nvSpPr>
        <p:spPr>
          <a:xfrm>
            <a:off x="7178040" y="4818888"/>
            <a:ext cx="4206240" cy="594360"/>
          </a:xfrm>
          <a:prstGeom prst="rect">
            <a:avLst/>
          </a:prstGeom>
          <a:noFill/>
          <a:ln/>
        </p:spPr>
        <p:txBody>
          <a:bodyPr wrap="square" lIns="0" tIns="0" rIns="0" bIns="0" rtlCol="0" anchor="ctr"/>
          <a:lstStyle/>
          <a:p>
            <a:pPr marL="0" indent="0">
              <a:buNone/>
            </a:pPr>
            <a:r>
              <a:rPr lang="en-US" sz="1250" dirty="0">
                <a:solidFill>
                  <a:srgbClr val="C6D3E2"/>
                </a:solidFill>
                <a:latin typeface="Calibri" pitchFamily="34" charset="0"/>
                <a:ea typeface="Calibri" pitchFamily="34" charset="-122"/>
                <a:cs typeface="Calibri" pitchFamily="34" charset="-120"/>
              </a:rPr>
              <a:t>Entitlements are re-checked against the target workspace at execution time.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One normalized failure layer, four cooperating agents</a:t>
            </a:r>
            <a:endParaRPr lang="en-US" sz="3200" dirty="0"/>
          </a:p>
        </p:txBody>
      </p:sp>
      <p:sp>
        <p:nvSpPr>
          <p:cNvPr id="4" name="Shape 2"/>
          <p:cNvSpPr/>
          <p:nvPr/>
        </p:nvSpPr>
        <p:spPr>
          <a:xfrm>
            <a:off x="548640" y="1417320"/>
            <a:ext cx="5532120" cy="4206240"/>
          </a:xfrm>
          <a:prstGeom prst="roundRect">
            <a:avLst>
              <a:gd name="adj" fmla="val 3043"/>
            </a:avLst>
          </a:prstGeom>
          <a:solidFill>
            <a:srgbClr val="132039"/>
          </a:solidFill>
          <a:ln w="12700">
            <a:solidFill>
              <a:srgbClr val="132039"/>
            </a:solidFill>
            <a:prstDash val="solid"/>
          </a:ln>
        </p:spPr>
        <p:txBody>
          <a:bodyPr/>
          <a:lstStyle/>
          <a:p>
            <a:endParaRPr lang="en-US"/>
          </a:p>
        </p:txBody>
      </p:sp>
      <p:sp>
        <p:nvSpPr>
          <p:cNvPr id="5" name="Text 3"/>
          <p:cNvSpPr/>
          <p:nvPr/>
        </p:nvSpPr>
        <p:spPr>
          <a:xfrm>
            <a:off x="914400" y="1783080"/>
            <a:ext cx="480060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The differentiator is not the model</a:t>
            </a:r>
            <a:endParaRPr lang="en-US" sz="2000" dirty="0"/>
          </a:p>
        </p:txBody>
      </p:sp>
      <p:sp>
        <p:nvSpPr>
          <p:cNvPr id="6" name="Text 4"/>
          <p:cNvSpPr/>
          <p:nvPr/>
        </p:nvSpPr>
        <p:spPr>
          <a:xfrm>
            <a:off x="914400" y="2212848"/>
            <a:ext cx="4800600" cy="320040"/>
          </a:xfrm>
          <a:prstGeom prst="rect">
            <a:avLst/>
          </a:prstGeom>
          <a:noFill/>
          <a:ln/>
        </p:spPr>
        <p:txBody>
          <a:bodyPr wrap="square" lIns="0" tIns="0" rIns="0" bIns="0" rtlCol="0" anchor="ctr"/>
          <a:lstStyle/>
          <a:p>
            <a:pPr marL="0" indent="0">
              <a:buNone/>
            </a:pPr>
            <a:r>
              <a:rPr lang="en-US" sz="1400" i="1" dirty="0">
                <a:solidFill>
                  <a:srgbClr val="F5A25B"/>
                </a:solidFill>
                <a:latin typeface="Calibri" pitchFamily="34" charset="0"/>
                <a:ea typeface="Calibri" pitchFamily="34" charset="-122"/>
                <a:cs typeface="Calibri" pitchFamily="34" charset="-120"/>
              </a:rPr>
              <a:t>It is the ingestion contract underneath it.</a:t>
            </a:r>
            <a:endParaRPr lang="en-US" sz="1400" dirty="0"/>
          </a:p>
        </p:txBody>
      </p:sp>
      <p:sp>
        <p:nvSpPr>
          <p:cNvPr id="7" name="Text 5"/>
          <p:cNvSpPr/>
          <p:nvPr/>
        </p:nvSpPr>
        <p:spPr>
          <a:xfrm>
            <a:off x="914400" y="2606040"/>
            <a:ext cx="4800600" cy="2743200"/>
          </a:xfrm>
          <a:prstGeom prst="rect">
            <a:avLst/>
          </a:prstGeom>
          <a:noFill/>
          <a:ln/>
        </p:spPr>
        <p:txBody>
          <a:bodyPr wrap="square" lIns="0" tIns="0" rIns="0" bIns="0" rtlCol="0" anchor="ctr"/>
          <a:lstStyle/>
          <a:p>
            <a:pPr marL="0" indent="0">
              <a:spcAft>
                <a:spcPts val="800"/>
              </a:spcAft>
              <a:buNone/>
            </a:pPr>
            <a:r>
              <a:rPr lang="en-US" sz="1300" dirty="0">
                <a:solidFill>
                  <a:srgbClr val="E9EEF4"/>
                </a:solidFill>
                <a:latin typeface="Calibri" pitchFamily="34" charset="0"/>
                <a:ea typeface="Calibri" pitchFamily="34" charset="-122"/>
                <a:cs typeface="Calibri" pitchFamily="34" charset="-120"/>
              </a:rPr>
              <a:t>Logs, execution history and error messages from any orchestrator are converted into one canonical record:</a:t>
            </a:r>
            <a:endParaRPr lang="en-US" sz="1300" dirty="0"/>
          </a:p>
          <a:p>
            <a:pPr marL="0" indent="0">
              <a:spcAft>
                <a:spcPts val="1000"/>
              </a:spcAft>
              <a:buNone/>
            </a:pPr>
            <a:r>
              <a:rPr lang="en-US" sz="1250" b="1" dirty="0">
                <a:solidFill>
                  <a:srgbClr val="F5A25B"/>
                </a:solidFill>
                <a:latin typeface="Courier New" pitchFamily="34" charset="0"/>
                <a:ea typeface="Courier New" pitchFamily="34" charset="-122"/>
                <a:cs typeface="Courier New" pitchFamily="34" charset="-120"/>
              </a:rPr>
              <a:t>run_id · pipeline · activity · status · error_code · error_text · upstream_deps · duration · timestamp</a:t>
            </a:r>
            <a:endParaRPr lang="en-US" sz="1300" dirty="0"/>
          </a:p>
          <a:p>
            <a:pPr marL="0" indent="0">
              <a:spcAft>
                <a:spcPts val="1200"/>
              </a:spcAft>
              <a:buNone/>
            </a:pPr>
            <a:r>
              <a:rPr lang="en-US" sz="1300" dirty="0">
                <a:solidFill>
                  <a:srgbClr val="E9EEF4"/>
                </a:solidFill>
                <a:latin typeface="Calibri" pitchFamily="34" charset="0"/>
                <a:ea typeface="Calibri" pitchFamily="34" charset="-122"/>
                <a:cs typeface="Calibri" pitchFamily="34" charset="-120"/>
              </a:rPr>
              <a:t>That single choice delivers the cloud-agnostic constraint by construction — a new platform is a new adapter, not a new assistant.</a:t>
            </a:r>
            <a:endParaRPr lang="en-US" sz="1300" dirty="0"/>
          </a:p>
          <a:p>
            <a:pPr marL="0" indent="0">
              <a:buNone/>
            </a:pPr>
            <a:r>
              <a:rPr lang="en-US" sz="1300" dirty="0">
                <a:solidFill>
                  <a:srgbClr val="E9EEF4"/>
                </a:solidFill>
                <a:latin typeface="Calibri" pitchFamily="34" charset="0"/>
                <a:ea typeface="Calibri" pitchFamily="34" charset="-122"/>
                <a:cs typeface="Calibri" pitchFamily="34" charset="-120"/>
              </a:rPr>
              <a:t>The agents never learn a vendor's schema. Adapters absorb the differences; prompts, retrieval and evaluation stay identical across platforms.</a:t>
            </a:r>
            <a:endParaRPr lang="en-US" sz="1300" dirty="0"/>
          </a:p>
        </p:txBody>
      </p:sp>
      <p:sp>
        <p:nvSpPr>
          <p:cNvPr id="8" name="Shape 6"/>
          <p:cNvSpPr/>
          <p:nvPr/>
        </p:nvSpPr>
        <p:spPr>
          <a:xfrm>
            <a:off x="6400800" y="1417320"/>
            <a:ext cx="5212080" cy="932688"/>
          </a:xfrm>
          <a:prstGeom prst="roundRect">
            <a:avLst>
              <a:gd name="adj" fmla="val 11765"/>
            </a:avLst>
          </a:prstGeom>
          <a:solidFill>
            <a:srgbClr val="FDEFE3"/>
          </a:solidFill>
          <a:ln w="12700">
            <a:solidFill>
              <a:srgbClr val="F3D9C0"/>
            </a:solidFill>
            <a:prstDash val="solid"/>
          </a:ln>
        </p:spPr>
        <p:txBody>
          <a:bodyPr/>
          <a:lstStyle/>
          <a:p>
            <a:endParaRPr lang="en-US"/>
          </a:p>
        </p:txBody>
      </p:sp>
      <p:sp>
        <p:nvSpPr>
          <p:cNvPr id="9" name="Shape 7"/>
          <p:cNvSpPr/>
          <p:nvPr/>
        </p:nvSpPr>
        <p:spPr>
          <a:xfrm>
            <a:off x="6675120" y="1673352"/>
            <a:ext cx="420624" cy="420624"/>
          </a:xfrm>
          <a:prstGeom prst="ellipse">
            <a:avLst/>
          </a:prstGeom>
          <a:solidFill>
            <a:srgbClr val="E2661A"/>
          </a:solidFill>
          <a:ln w="12700">
            <a:solidFill>
              <a:srgbClr val="E2661A"/>
            </a:solidFill>
            <a:prstDash val="solid"/>
          </a:ln>
        </p:spPr>
        <p:txBody>
          <a:bodyPr/>
          <a:lstStyle/>
          <a:p>
            <a:endParaRPr lang="en-US"/>
          </a:p>
        </p:txBody>
      </p:sp>
      <p:sp>
        <p:nvSpPr>
          <p:cNvPr id="10" name="Text 8"/>
          <p:cNvSpPr/>
          <p:nvPr/>
        </p:nvSpPr>
        <p:spPr>
          <a:xfrm>
            <a:off x="6675120" y="167335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7269480" y="1545336"/>
            <a:ext cx="4114800" cy="292608"/>
          </a:xfrm>
          <a:prstGeom prst="rect">
            <a:avLst/>
          </a:prstGeom>
          <a:noFill/>
          <a:ln/>
        </p:spPr>
        <p:txBody>
          <a:bodyPr wrap="square" lIns="0" tIns="0" rIns="0" bIns="0" rtlCol="0" anchor="ctr"/>
          <a:lstStyle/>
          <a:p>
            <a:pPr marL="0" indent="0">
              <a:buNone/>
            </a:pPr>
            <a:r>
              <a:rPr lang="en-US" sz="1600" b="1" dirty="0">
                <a:solidFill>
                  <a:srgbClr val="B04A0F"/>
                </a:solidFill>
                <a:latin typeface="Cambria" pitchFamily="34" charset="0"/>
                <a:ea typeface="Cambria" pitchFamily="34" charset="-122"/>
                <a:cs typeface="Cambria" pitchFamily="34" charset="-120"/>
              </a:rPr>
              <a:t>Query</a:t>
            </a:r>
            <a:endParaRPr lang="en-US" sz="1600" dirty="0"/>
          </a:p>
        </p:txBody>
      </p:sp>
      <p:sp>
        <p:nvSpPr>
          <p:cNvPr id="12" name="Text 10"/>
          <p:cNvSpPr/>
          <p:nvPr/>
        </p:nvSpPr>
        <p:spPr>
          <a:xfrm>
            <a:off x="7269480" y="1856232"/>
            <a:ext cx="4160520" cy="41148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Natural-language questions over pipeline execution history.</a:t>
            </a:r>
            <a:endParaRPr lang="en-US" sz="1200" dirty="0"/>
          </a:p>
        </p:txBody>
      </p:sp>
      <p:sp>
        <p:nvSpPr>
          <p:cNvPr id="13" name="Shape 11"/>
          <p:cNvSpPr/>
          <p:nvPr/>
        </p:nvSpPr>
        <p:spPr>
          <a:xfrm>
            <a:off x="6400800" y="2514600"/>
            <a:ext cx="5212080" cy="932688"/>
          </a:xfrm>
          <a:prstGeom prst="roundRect">
            <a:avLst>
              <a:gd name="adj" fmla="val 11765"/>
            </a:avLst>
          </a:prstGeom>
          <a:solidFill>
            <a:srgbClr val="FDEFE3"/>
          </a:solidFill>
          <a:ln w="12700">
            <a:solidFill>
              <a:srgbClr val="F3D9C0"/>
            </a:solidFill>
            <a:prstDash val="solid"/>
          </a:ln>
        </p:spPr>
        <p:txBody>
          <a:bodyPr/>
          <a:lstStyle/>
          <a:p>
            <a:endParaRPr lang="en-US"/>
          </a:p>
        </p:txBody>
      </p:sp>
      <p:sp>
        <p:nvSpPr>
          <p:cNvPr id="14" name="Shape 12"/>
          <p:cNvSpPr/>
          <p:nvPr/>
        </p:nvSpPr>
        <p:spPr>
          <a:xfrm>
            <a:off x="6675120" y="2770632"/>
            <a:ext cx="420624" cy="420624"/>
          </a:xfrm>
          <a:prstGeom prst="ellipse">
            <a:avLst/>
          </a:prstGeom>
          <a:solidFill>
            <a:srgbClr val="E2661A"/>
          </a:solidFill>
          <a:ln w="12700">
            <a:solidFill>
              <a:srgbClr val="E2661A"/>
            </a:solidFill>
            <a:prstDash val="solid"/>
          </a:ln>
        </p:spPr>
        <p:txBody>
          <a:bodyPr/>
          <a:lstStyle/>
          <a:p>
            <a:endParaRPr lang="en-US"/>
          </a:p>
        </p:txBody>
      </p:sp>
      <p:sp>
        <p:nvSpPr>
          <p:cNvPr id="15" name="Text 13"/>
          <p:cNvSpPr/>
          <p:nvPr/>
        </p:nvSpPr>
        <p:spPr>
          <a:xfrm>
            <a:off x="6675120" y="27706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7269480" y="2642616"/>
            <a:ext cx="4114800" cy="292608"/>
          </a:xfrm>
          <a:prstGeom prst="rect">
            <a:avLst/>
          </a:prstGeom>
          <a:noFill/>
          <a:ln/>
        </p:spPr>
        <p:txBody>
          <a:bodyPr wrap="square" lIns="0" tIns="0" rIns="0" bIns="0" rtlCol="0" anchor="ctr"/>
          <a:lstStyle/>
          <a:p>
            <a:pPr marL="0" indent="0">
              <a:buNone/>
            </a:pPr>
            <a:r>
              <a:rPr lang="en-US" sz="1600" b="1" dirty="0">
                <a:solidFill>
                  <a:srgbClr val="B04A0F"/>
                </a:solidFill>
                <a:latin typeface="Cambria" pitchFamily="34" charset="0"/>
                <a:ea typeface="Cambria" pitchFamily="34" charset="-122"/>
                <a:cs typeface="Cambria" pitchFamily="34" charset="-120"/>
              </a:rPr>
              <a:t>Diagnose and summarize</a:t>
            </a:r>
            <a:endParaRPr lang="en-US" sz="1600" dirty="0"/>
          </a:p>
        </p:txBody>
      </p:sp>
      <p:sp>
        <p:nvSpPr>
          <p:cNvPr id="17" name="Text 15"/>
          <p:cNvSpPr/>
          <p:nvPr/>
        </p:nvSpPr>
        <p:spPr>
          <a:xfrm>
            <a:off x="7269480" y="2953512"/>
            <a:ext cx="4160520" cy="41148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Root cause plus a plain-language summary, cited to its evidence.</a:t>
            </a:r>
            <a:endParaRPr lang="en-US" sz="1200" dirty="0"/>
          </a:p>
        </p:txBody>
      </p:sp>
      <p:sp>
        <p:nvSpPr>
          <p:cNvPr id="18" name="Shape 16"/>
          <p:cNvSpPr/>
          <p:nvPr/>
        </p:nvSpPr>
        <p:spPr>
          <a:xfrm>
            <a:off x="6400800" y="3611880"/>
            <a:ext cx="5212080" cy="932688"/>
          </a:xfrm>
          <a:prstGeom prst="roundRect">
            <a:avLst>
              <a:gd name="adj" fmla="val 11765"/>
            </a:avLst>
          </a:prstGeom>
          <a:solidFill>
            <a:srgbClr val="FDEFE3"/>
          </a:solidFill>
          <a:ln w="12700">
            <a:solidFill>
              <a:srgbClr val="F3D9C0"/>
            </a:solidFill>
            <a:prstDash val="solid"/>
          </a:ln>
        </p:spPr>
        <p:txBody>
          <a:bodyPr/>
          <a:lstStyle/>
          <a:p>
            <a:endParaRPr lang="en-US"/>
          </a:p>
        </p:txBody>
      </p:sp>
      <p:sp>
        <p:nvSpPr>
          <p:cNvPr id="19" name="Shape 17"/>
          <p:cNvSpPr/>
          <p:nvPr/>
        </p:nvSpPr>
        <p:spPr>
          <a:xfrm>
            <a:off x="6675120" y="3867912"/>
            <a:ext cx="420624" cy="420624"/>
          </a:xfrm>
          <a:prstGeom prst="ellipse">
            <a:avLst/>
          </a:prstGeom>
          <a:solidFill>
            <a:srgbClr val="E2661A"/>
          </a:solidFill>
          <a:ln w="12700">
            <a:solidFill>
              <a:srgbClr val="E2661A"/>
            </a:solidFill>
            <a:prstDash val="solid"/>
          </a:ln>
        </p:spPr>
        <p:txBody>
          <a:bodyPr/>
          <a:lstStyle/>
          <a:p>
            <a:endParaRPr lang="en-US"/>
          </a:p>
        </p:txBody>
      </p:sp>
      <p:sp>
        <p:nvSpPr>
          <p:cNvPr id="20" name="Text 18"/>
          <p:cNvSpPr/>
          <p:nvPr/>
        </p:nvSpPr>
        <p:spPr>
          <a:xfrm>
            <a:off x="6675120" y="38679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7269480" y="3739896"/>
            <a:ext cx="4114800" cy="292608"/>
          </a:xfrm>
          <a:prstGeom prst="rect">
            <a:avLst/>
          </a:prstGeom>
          <a:noFill/>
          <a:ln/>
        </p:spPr>
        <p:txBody>
          <a:bodyPr wrap="square" lIns="0" tIns="0" rIns="0" bIns="0" rtlCol="0" anchor="ctr"/>
          <a:lstStyle/>
          <a:p>
            <a:pPr marL="0" indent="0">
              <a:buNone/>
            </a:pPr>
            <a:r>
              <a:rPr lang="en-US" sz="1600" b="1" dirty="0">
                <a:solidFill>
                  <a:srgbClr val="B04A0F"/>
                </a:solidFill>
                <a:latin typeface="Cambria" pitchFamily="34" charset="0"/>
                <a:ea typeface="Cambria" pitchFamily="34" charset="-122"/>
                <a:cs typeface="Cambria" pitchFamily="34" charset="-120"/>
              </a:rPr>
              <a:t>Recommend</a:t>
            </a:r>
            <a:endParaRPr lang="en-US" sz="1600" dirty="0"/>
          </a:p>
        </p:txBody>
      </p:sp>
      <p:sp>
        <p:nvSpPr>
          <p:cNvPr id="22" name="Text 20"/>
          <p:cNvSpPr/>
          <p:nvPr/>
        </p:nvSpPr>
        <p:spPr>
          <a:xfrm>
            <a:off x="7269480" y="4050792"/>
            <a:ext cx="4160520" cy="41148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Ranked corrective actions, scored by how often they worked before.</a:t>
            </a:r>
            <a:endParaRPr lang="en-US" sz="1200" dirty="0"/>
          </a:p>
        </p:txBody>
      </p:sp>
      <p:sp>
        <p:nvSpPr>
          <p:cNvPr id="23" name="Shape 21"/>
          <p:cNvSpPr/>
          <p:nvPr/>
        </p:nvSpPr>
        <p:spPr>
          <a:xfrm>
            <a:off x="6400800" y="4709160"/>
            <a:ext cx="5212080" cy="932688"/>
          </a:xfrm>
          <a:prstGeom prst="roundRect">
            <a:avLst>
              <a:gd name="adj" fmla="val 11765"/>
            </a:avLst>
          </a:prstGeom>
          <a:solidFill>
            <a:srgbClr val="FDEFE3"/>
          </a:solidFill>
          <a:ln w="12700">
            <a:solidFill>
              <a:srgbClr val="F3D9C0"/>
            </a:solidFill>
            <a:prstDash val="solid"/>
          </a:ln>
        </p:spPr>
        <p:txBody>
          <a:bodyPr/>
          <a:lstStyle/>
          <a:p>
            <a:endParaRPr lang="en-US"/>
          </a:p>
        </p:txBody>
      </p:sp>
      <p:sp>
        <p:nvSpPr>
          <p:cNvPr id="24" name="Shape 22"/>
          <p:cNvSpPr/>
          <p:nvPr/>
        </p:nvSpPr>
        <p:spPr>
          <a:xfrm>
            <a:off x="6675120" y="4965192"/>
            <a:ext cx="420624" cy="420624"/>
          </a:xfrm>
          <a:prstGeom prst="ellipse">
            <a:avLst/>
          </a:prstGeom>
          <a:solidFill>
            <a:srgbClr val="E2661A"/>
          </a:solidFill>
          <a:ln w="12700">
            <a:solidFill>
              <a:srgbClr val="E2661A"/>
            </a:solidFill>
            <a:prstDash val="solid"/>
          </a:ln>
        </p:spPr>
        <p:txBody>
          <a:bodyPr/>
          <a:lstStyle/>
          <a:p>
            <a:endParaRPr lang="en-US"/>
          </a:p>
        </p:txBody>
      </p:sp>
      <p:sp>
        <p:nvSpPr>
          <p:cNvPr id="25" name="Text 23"/>
          <p:cNvSpPr/>
          <p:nvPr/>
        </p:nvSpPr>
        <p:spPr>
          <a:xfrm>
            <a:off x="6675120" y="496519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7269480" y="4837176"/>
            <a:ext cx="4114800" cy="292608"/>
          </a:xfrm>
          <a:prstGeom prst="rect">
            <a:avLst/>
          </a:prstGeom>
          <a:noFill/>
          <a:ln/>
        </p:spPr>
        <p:txBody>
          <a:bodyPr wrap="square" lIns="0" tIns="0" rIns="0" bIns="0" rtlCol="0" anchor="ctr"/>
          <a:lstStyle/>
          <a:p>
            <a:pPr marL="0" indent="0">
              <a:buNone/>
            </a:pPr>
            <a:r>
              <a:rPr lang="en-US" sz="1600" b="1" dirty="0">
                <a:solidFill>
                  <a:srgbClr val="B04A0F"/>
                </a:solidFill>
                <a:latin typeface="Cambria" pitchFamily="34" charset="0"/>
                <a:ea typeface="Cambria" pitchFamily="34" charset="-122"/>
                <a:cs typeface="Cambria" pitchFamily="34" charset="-120"/>
              </a:rPr>
              <a:t>Trigger</a:t>
            </a:r>
            <a:endParaRPr lang="en-US" sz="1600" dirty="0"/>
          </a:p>
        </p:txBody>
      </p:sp>
      <p:sp>
        <p:nvSpPr>
          <p:cNvPr id="27" name="Text 25"/>
          <p:cNvSpPr/>
          <p:nvPr/>
        </p:nvSpPr>
        <p:spPr>
          <a:xfrm>
            <a:off x="7269480" y="5148072"/>
            <a:ext cx="4160520" cy="41148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Rerun, backfill or scale — only on approval, only with a valid role.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THE JOURNEY</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The problem statement, step by step — and what we add</a:t>
            </a:r>
            <a:endParaRPr lang="en-US" sz="3200" dirty="0"/>
          </a:p>
        </p:txBody>
      </p:sp>
      <p:sp>
        <p:nvSpPr>
          <p:cNvPr id="4" name="Text 2"/>
          <p:cNvSpPr/>
          <p:nvPr/>
        </p:nvSpPr>
        <p:spPr>
          <a:xfrm>
            <a:off x="548640" y="1371600"/>
            <a:ext cx="3657600" cy="256032"/>
          </a:xfrm>
          <a:prstGeom prst="rect">
            <a:avLst/>
          </a:prstGeom>
          <a:noFill/>
          <a:ln/>
        </p:spPr>
        <p:txBody>
          <a:bodyPr wrap="square" lIns="0" tIns="0" rIns="0" bIns="0" rtlCol="0" anchor="ctr"/>
          <a:lstStyle/>
          <a:p>
            <a:pPr marL="0" indent="0">
              <a:buNone/>
            </a:pPr>
            <a:r>
              <a:rPr lang="en-US" sz="1050" b="1" kern="0" spc="200" dirty="0">
                <a:solidFill>
                  <a:srgbClr val="132039"/>
                </a:solidFill>
                <a:latin typeface="Calibri" pitchFamily="34" charset="0"/>
                <a:ea typeface="Calibri" pitchFamily="34" charset="-122"/>
                <a:cs typeface="Calibri" pitchFamily="34" charset="-120"/>
              </a:rPr>
              <a:t>IN THE PROBLEM STATEMENT</a:t>
            </a:r>
            <a:endParaRPr lang="en-US" sz="1050" dirty="0"/>
          </a:p>
        </p:txBody>
      </p:sp>
      <p:sp>
        <p:nvSpPr>
          <p:cNvPr id="5" name="Shape 3"/>
          <p:cNvSpPr/>
          <p:nvPr/>
        </p:nvSpPr>
        <p:spPr>
          <a:xfrm>
            <a:off x="548640" y="1691640"/>
            <a:ext cx="2011680" cy="1600200"/>
          </a:xfrm>
          <a:prstGeom prst="roundRect">
            <a:avLst>
              <a:gd name="adj" fmla="val 6857"/>
            </a:avLst>
          </a:prstGeom>
          <a:solidFill>
            <a:srgbClr val="132039"/>
          </a:solidFill>
          <a:ln w="12700">
            <a:solidFill>
              <a:srgbClr val="132039"/>
            </a:solidFill>
            <a:prstDash val="solid"/>
          </a:ln>
        </p:spPr>
        <p:txBody>
          <a:bodyPr/>
          <a:lstStyle/>
          <a:p>
            <a:endParaRPr lang="en-US"/>
          </a:p>
        </p:txBody>
      </p:sp>
      <p:sp>
        <p:nvSpPr>
          <p:cNvPr id="6" name="Shape 4"/>
          <p:cNvSpPr/>
          <p:nvPr/>
        </p:nvSpPr>
        <p:spPr>
          <a:xfrm>
            <a:off x="731520" y="1874520"/>
            <a:ext cx="365760" cy="365760"/>
          </a:xfrm>
          <a:prstGeom prst="ellipse">
            <a:avLst/>
          </a:prstGeom>
          <a:solidFill>
            <a:srgbClr val="E2661A"/>
          </a:solidFill>
          <a:ln w="12700">
            <a:solidFill>
              <a:srgbClr val="E2661A"/>
            </a:solidFill>
            <a:prstDash val="solid"/>
          </a:ln>
        </p:spPr>
        <p:txBody>
          <a:bodyPr/>
          <a:lstStyle/>
          <a:p>
            <a:endParaRPr lang="en-US"/>
          </a:p>
        </p:txBody>
      </p:sp>
      <p:sp>
        <p:nvSpPr>
          <p:cNvPr id="7" name="Text 5"/>
          <p:cNvSpPr/>
          <p:nvPr/>
        </p:nvSpPr>
        <p:spPr>
          <a:xfrm>
            <a:off x="731520"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207008" y="1828800"/>
            <a:ext cx="1234440"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Query</a:t>
            </a:r>
            <a:endParaRPr lang="en-US" sz="1500" dirty="0"/>
          </a:p>
        </p:txBody>
      </p:sp>
      <p:sp>
        <p:nvSpPr>
          <p:cNvPr id="9" name="Text 7"/>
          <p:cNvSpPr/>
          <p:nvPr/>
        </p:nvSpPr>
        <p:spPr>
          <a:xfrm>
            <a:off x="731520" y="2359152"/>
            <a:ext cx="1691640" cy="841248"/>
          </a:xfrm>
          <a:prstGeom prst="rect">
            <a:avLst/>
          </a:prstGeom>
          <a:noFill/>
          <a:ln/>
        </p:spPr>
        <p:txBody>
          <a:bodyPr wrap="square" lIns="0" tIns="0" rIns="0" bIns="0" rtlCol="0" anchor="ctr"/>
          <a:lstStyle/>
          <a:p>
            <a:pPr marL="0" indent="0">
              <a:buNone/>
            </a:pPr>
            <a:r>
              <a:rPr lang="en-US" sz="1050" dirty="0">
                <a:solidFill>
                  <a:srgbClr val="C6D3E2"/>
                </a:solidFill>
                <a:latin typeface="Calibri" pitchFamily="34" charset="0"/>
                <a:ea typeface="Calibri" pitchFamily="34" charset="-122"/>
                <a:cs typeface="Calibri" pitchFamily="34" charset="-120"/>
              </a:rPr>
              <a:t>Users query pipeline executions using natural language.</a:t>
            </a:r>
            <a:endParaRPr lang="en-US" sz="1050" dirty="0"/>
          </a:p>
        </p:txBody>
      </p:sp>
      <p:sp>
        <p:nvSpPr>
          <p:cNvPr id="10" name="Shape 8"/>
          <p:cNvSpPr/>
          <p:nvPr/>
        </p:nvSpPr>
        <p:spPr>
          <a:xfrm>
            <a:off x="2788920" y="1691640"/>
            <a:ext cx="2011680" cy="1600200"/>
          </a:xfrm>
          <a:prstGeom prst="roundRect">
            <a:avLst>
              <a:gd name="adj" fmla="val 6857"/>
            </a:avLst>
          </a:prstGeom>
          <a:solidFill>
            <a:srgbClr val="132039"/>
          </a:solidFill>
          <a:ln w="12700">
            <a:solidFill>
              <a:srgbClr val="132039"/>
            </a:solidFill>
            <a:prstDash val="solid"/>
          </a:ln>
        </p:spPr>
        <p:txBody>
          <a:bodyPr/>
          <a:lstStyle/>
          <a:p>
            <a:endParaRPr lang="en-US"/>
          </a:p>
        </p:txBody>
      </p:sp>
      <p:sp>
        <p:nvSpPr>
          <p:cNvPr id="11" name="Shape 9"/>
          <p:cNvSpPr/>
          <p:nvPr/>
        </p:nvSpPr>
        <p:spPr>
          <a:xfrm>
            <a:off x="2971800" y="1874520"/>
            <a:ext cx="365760" cy="365760"/>
          </a:xfrm>
          <a:prstGeom prst="ellipse">
            <a:avLst/>
          </a:prstGeom>
          <a:solidFill>
            <a:srgbClr val="E2661A"/>
          </a:solidFill>
          <a:ln w="12700">
            <a:solidFill>
              <a:srgbClr val="E2661A"/>
            </a:solidFill>
            <a:prstDash val="solid"/>
          </a:ln>
        </p:spPr>
        <p:txBody>
          <a:bodyPr/>
          <a:lstStyle/>
          <a:p>
            <a:endParaRPr lang="en-US"/>
          </a:p>
        </p:txBody>
      </p:sp>
      <p:sp>
        <p:nvSpPr>
          <p:cNvPr id="12" name="Text 10"/>
          <p:cNvSpPr/>
          <p:nvPr/>
        </p:nvSpPr>
        <p:spPr>
          <a:xfrm>
            <a:off x="2971800"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3447288" y="1828800"/>
            <a:ext cx="1234440"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Identify</a:t>
            </a:r>
            <a:endParaRPr lang="en-US" sz="1500" dirty="0"/>
          </a:p>
        </p:txBody>
      </p:sp>
      <p:sp>
        <p:nvSpPr>
          <p:cNvPr id="14" name="Text 12"/>
          <p:cNvSpPr/>
          <p:nvPr/>
        </p:nvSpPr>
        <p:spPr>
          <a:xfrm>
            <a:off x="2971800" y="2359152"/>
            <a:ext cx="1691640" cy="841248"/>
          </a:xfrm>
          <a:prstGeom prst="rect">
            <a:avLst/>
          </a:prstGeom>
          <a:noFill/>
          <a:ln/>
        </p:spPr>
        <p:txBody>
          <a:bodyPr wrap="square" lIns="0" tIns="0" rIns="0" bIns="0" rtlCol="0" anchor="ctr"/>
          <a:lstStyle/>
          <a:p>
            <a:pPr marL="0" indent="0">
              <a:buNone/>
            </a:pPr>
            <a:r>
              <a:rPr lang="en-US" sz="1050" dirty="0">
                <a:solidFill>
                  <a:srgbClr val="C6D3E2"/>
                </a:solidFill>
                <a:latin typeface="Calibri" pitchFamily="34" charset="0"/>
                <a:ea typeface="Calibri" pitchFamily="34" charset="-122"/>
                <a:cs typeface="Calibri" pitchFamily="34" charset="-120"/>
              </a:rPr>
              <a:t>The assistant identifies the root cause.</a:t>
            </a:r>
            <a:endParaRPr lang="en-US" sz="1050" dirty="0"/>
          </a:p>
        </p:txBody>
      </p:sp>
      <p:sp>
        <p:nvSpPr>
          <p:cNvPr id="15" name="Shape 13"/>
          <p:cNvSpPr/>
          <p:nvPr/>
        </p:nvSpPr>
        <p:spPr>
          <a:xfrm>
            <a:off x="5029200" y="1691640"/>
            <a:ext cx="2011680" cy="1600200"/>
          </a:xfrm>
          <a:prstGeom prst="roundRect">
            <a:avLst>
              <a:gd name="adj" fmla="val 6857"/>
            </a:avLst>
          </a:prstGeom>
          <a:solidFill>
            <a:srgbClr val="132039"/>
          </a:solidFill>
          <a:ln w="12700">
            <a:solidFill>
              <a:srgbClr val="132039"/>
            </a:solidFill>
            <a:prstDash val="solid"/>
          </a:ln>
        </p:spPr>
        <p:txBody>
          <a:bodyPr/>
          <a:lstStyle/>
          <a:p>
            <a:endParaRPr lang="en-US"/>
          </a:p>
        </p:txBody>
      </p:sp>
      <p:sp>
        <p:nvSpPr>
          <p:cNvPr id="16" name="Shape 14"/>
          <p:cNvSpPr/>
          <p:nvPr/>
        </p:nvSpPr>
        <p:spPr>
          <a:xfrm>
            <a:off x="5212080" y="1874520"/>
            <a:ext cx="365760" cy="365760"/>
          </a:xfrm>
          <a:prstGeom prst="ellipse">
            <a:avLst/>
          </a:prstGeom>
          <a:solidFill>
            <a:srgbClr val="E2661A"/>
          </a:solidFill>
          <a:ln w="12700">
            <a:solidFill>
              <a:srgbClr val="E2661A"/>
            </a:solidFill>
            <a:prstDash val="solid"/>
          </a:ln>
        </p:spPr>
        <p:txBody>
          <a:bodyPr/>
          <a:lstStyle/>
          <a:p>
            <a:endParaRPr lang="en-US"/>
          </a:p>
        </p:txBody>
      </p:sp>
      <p:sp>
        <p:nvSpPr>
          <p:cNvPr id="17" name="Text 15"/>
          <p:cNvSpPr/>
          <p:nvPr/>
        </p:nvSpPr>
        <p:spPr>
          <a:xfrm>
            <a:off x="5212080"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5687568" y="1828800"/>
            <a:ext cx="1234440"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Summarize</a:t>
            </a:r>
            <a:endParaRPr lang="en-US" sz="1500" dirty="0"/>
          </a:p>
        </p:txBody>
      </p:sp>
      <p:sp>
        <p:nvSpPr>
          <p:cNvPr id="19" name="Text 17"/>
          <p:cNvSpPr/>
          <p:nvPr/>
        </p:nvSpPr>
        <p:spPr>
          <a:xfrm>
            <a:off x="5212080" y="2359152"/>
            <a:ext cx="1691640" cy="841248"/>
          </a:xfrm>
          <a:prstGeom prst="rect">
            <a:avLst/>
          </a:prstGeom>
          <a:noFill/>
          <a:ln/>
        </p:spPr>
        <p:txBody>
          <a:bodyPr wrap="square" lIns="0" tIns="0" rIns="0" bIns="0" rtlCol="0" anchor="ctr"/>
          <a:lstStyle/>
          <a:p>
            <a:pPr marL="0" indent="0">
              <a:buNone/>
            </a:pPr>
            <a:r>
              <a:rPr lang="en-US" sz="1050" dirty="0">
                <a:solidFill>
                  <a:srgbClr val="C6D3E2"/>
                </a:solidFill>
                <a:latin typeface="Calibri" pitchFamily="34" charset="0"/>
                <a:ea typeface="Calibri" pitchFamily="34" charset="-122"/>
                <a:cs typeface="Calibri" pitchFamily="34" charset="-120"/>
              </a:rPr>
              <a:t>Failures are summarized for the user.</a:t>
            </a:r>
            <a:endParaRPr lang="en-US" sz="1050" dirty="0"/>
          </a:p>
        </p:txBody>
      </p:sp>
      <p:sp>
        <p:nvSpPr>
          <p:cNvPr id="20" name="Shape 18"/>
          <p:cNvSpPr/>
          <p:nvPr/>
        </p:nvSpPr>
        <p:spPr>
          <a:xfrm>
            <a:off x="7269480" y="1691640"/>
            <a:ext cx="2011680" cy="1600200"/>
          </a:xfrm>
          <a:prstGeom prst="roundRect">
            <a:avLst>
              <a:gd name="adj" fmla="val 6857"/>
            </a:avLst>
          </a:prstGeom>
          <a:solidFill>
            <a:srgbClr val="132039"/>
          </a:solidFill>
          <a:ln w="12700">
            <a:solidFill>
              <a:srgbClr val="132039"/>
            </a:solidFill>
            <a:prstDash val="solid"/>
          </a:ln>
        </p:spPr>
        <p:txBody>
          <a:bodyPr/>
          <a:lstStyle/>
          <a:p>
            <a:endParaRPr lang="en-US"/>
          </a:p>
        </p:txBody>
      </p:sp>
      <p:sp>
        <p:nvSpPr>
          <p:cNvPr id="21" name="Shape 19"/>
          <p:cNvSpPr/>
          <p:nvPr/>
        </p:nvSpPr>
        <p:spPr>
          <a:xfrm>
            <a:off x="7452360" y="1874520"/>
            <a:ext cx="365760" cy="365760"/>
          </a:xfrm>
          <a:prstGeom prst="ellipse">
            <a:avLst/>
          </a:prstGeom>
          <a:solidFill>
            <a:srgbClr val="E2661A"/>
          </a:solidFill>
          <a:ln w="12700">
            <a:solidFill>
              <a:srgbClr val="E2661A"/>
            </a:solidFill>
            <a:prstDash val="solid"/>
          </a:ln>
        </p:spPr>
        <p:txBody>
          <a:bodyPr/>
          <a:lstStyle/>
          <a:p>
            <a:endParaRPr lang="en-US"/>
          </a:p>
        </p:txBody>
      </p:sp>
      <p:sp>
        <p:nvSpPr>
          <p:cNvPr id="22" name="Text 20"/>
          <p:cNvSpPr/>
          <p:nvPr/>
        </p:nvSpPr>
        <p:spPr>
          <a:xfrm>
            <a:off x="7452360"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7927848" y="1828800"/>
            <a:ext cx="1234440"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Recommend</a:t>
            </a:r>
            <a:endParaRPr lang="en-US" sz="1500" dirty="0"/>
          </a:p>
        </p:txBody>
      </p:sp>
      <p:sp>
        <p:nvSpPr>
          <p:cNvPr id="24" name="Text 22"/>
          <p:cNvSpPr/>
          <p:nvPr/>
        </p:nvSpPr>
        <p:spPr>
          <a:xfrm>
            <a:off x="7452360" y="2359152"/>
            <a:ext cx="1691640" cy="841248"/>
          </a:xfrm>
          <a:prstGeom prst="rect">
            <a:avLst/>
          </a:prstGeom>
          <a:noFill/>
          <a:ln/>
        </p:spPr>
        <p:txBody>
          <a:bodyPr wrap="square" lIns="0" tIns="0" rIns="0" bIns="0" rtlCol="0" anchor="ctr"/>
          <a:lstStyle/>
          <a:p>
            <a:pPr marL="0" indent="0">
              <a:buNone/>
            </a:pPr>
            <a:r>
              <a:rPr lang="en-US" sz="1050" dirty="0">
                <a:solidFill>
                  <a:srgbClr val="C6D3E2"/>
                </a:solidFill>
                <a:latin typeface="Calibri" pitchFamily="34" charset="0"/>
                <a:ea typeface="Calibri" pitchFamily="34" charset="-122"/>
                <a:cs typeface="Calibri" pitchFamily="34" charset="-120"/>
              </a:rPr>
              <a:t>The assistant recommends fixes.</a:t>
            </a:r>
            <a:endParaRPr lang="en-US" sz="1050" dirty="0"/>
          </a:p>
        </p:txBody>
      </p:sp>
      <p:sp>
        <p:nvSpPr>
          <p:cNvPr id="25" name="Shape 23"/>
          <p:cNvSpPr/>
          <p:nvPr/>
        </p:nvSpPr>
        <p:spPr>
          <a:xfrm>
            <a:off x="9509760" y="1691640"/>
            <a:ext cx="2011680" cy="1600200"/>
          </a:xfrm>
          <a:prstGeom prst="roundRect">
            <a:avLst>
              <a:gd name="adj" fmla="val 6857"/>
            </a:avLst>
          </a:prstGeom>
          <a:solidFill>
            <a:srgbClr val="132039"/>
          </a:solidFill>
          <a:ln w="12700">
            <a:solidFill>
              <a:srgbClr val="132039"/>
            </a:solidFill>
            <a:prstDash val="solid"/>
          </a:ln>
        </p:spPr>
        <p:txBody>
          <a:bodyPr/>
          <a:lstStyle/>
          <a:p>
            <a:endParaRPr lang="en-US"/>
          </a:p>
        </p:txBody>
      </p:sp>
      <p:sp>
        <p:nvSpPr>
          <p:cNvPr id="26" name="Shape 24"/>
          <p:cNvSpPr/>
          <p:nvPr/>
        </p:nvSpPr>
        <p:spPr>
          <a:xfrm>
            <a:off x="9692640" y="1874520"/>
            <a:ext cx="365760" cy="365760"/>
          </a:xfrm>
          <a:prstGeom prst="ellipse">
            <a:avLst/>
          </a:prstGeom>
          <a:solidFill>
            <a:srgbClr val="E2661A"/>
          </a:solidFill>
          <a:ln w="12700">
            <a:solidFill>
              <a:srgbClr val="E2661A"/>
            </a:solidFill>
            <a:prstDash val="solid"/>
          </a:ln>
        </p:spPr>
        <p:txBody>
          <a:bodyPr/>
          <a:lstStyle/>
          <a:p>
            <a:endParaRPr lang="en-US"/>
          </a:p>
        </p:txBody>
      </p:sp>
      <p:sp>
        <p:nvSpPr>
          <p:cNvPr id="27" name="Text 25"/>
          <p:cNvSpPr/>
          <p:nvPr/>
        </p:nvSpPr>
        <p:spPr>
          <a:xfrm>
            <a:off x="9692640" y="187452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10168128" y="1828800"/>
            <a:ext cx="1234440"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Trigger</a:t>
            </a:r>
            <a:endParaRPr lang="en-US" sz="1500" dirty="0"/>
          </a:p>
        </p:txBody>
      </p:sp>
      <p:sp>
        <p:nvSpPr>
          <p:cNvPr id="29" name="Text 27"/>
          <p:cNvSpPr/>
          <p:nvPr/>
        </p:nvSpPr>
        <p:spPr>
          <a:xfrm>
            <a:off x="9692640" y="2359152"/>
            <a:ext cx="1691640" cy="841248"/>
          </a:xfrm>
          <a:prstGeom prst="rect">
            <a:avLst/>
          </a:prstGeom>
          <a:noFill/>
          <a:ln/>
        </p:spPr>
        <p:txBody>
          <a:bodyPr wrap="square" lIns="0" tIns="0" rIns="0" bIns="0" rtlCol="0" anchor="ctr"/>
          <a:lstStyle/>
          <a:p>
            <a:pPr marL="0" indent="0">
              <a:buNone/>
            </a:pPr>
            <a:r>
              <a:rPr lang="en-US" sz="1050" dirty="0">
                <a:solidFill>
                  <a:srgbClr val="C6D3E2"/>
                </a:solidFill>
                <a:latin typeface="Calibri" pitchFamily="34" charset="0"/>
                <a:ea typeface="Calibri" pitchFamily="34" charset="-122"/>
                <a:cs typeface="Calibri" pitchFamily="34" charset="-120"/>
              </a:rPr>
              <a:t>Operational workflows run, with user approval.</a:t>
            </a:r>
            <a:endParaRPr lang="en-US" sz="1050" dirty="0"/>
          </a:p>
        </p:txBody>
      </p:sp>
      <p:sp>
        <p:nvSpPr>
          <p:cNvPr id="30" name="Text 28"/>
          <p:cNvSpPr/>
          <p:nvPr/>
        </p:nvSpPr>
        <p:spPr>
          <a:xfrm>
            <a:off x="548640" y="3456432"/>
            <a:ext cx="2743200" cy="256032"/>
          </a:xfrm>
          <a:prstGeom prst="rect">
            <a:avLst/>
          </a:prstGeom>
          <a:noFill/>
          <a:ln/>
        </p:spPr>
        <p:txBody>
          <a:bodyPr wrap="square" lIns="0" tIns="0" rIns="0" bIns="0" rtlCol="0" anchor="ctr"/>
          <a:lstStyle/>
          <a:p>
            <a:pPr marL="0" indent="0">
              <a:buNone/>
            </a:pPr>
            <a:r>
              <a:rPr lang="en-US" sz="1050" b="1" kern="0" spc="200" dirty="0">
                <a:solidFill>
                  <a:srgbClr val="B04A0F"/>
                </a:solidFill>
                <a:latin typeface="Calibri" pitchFamily="34" charset="0"/>
                <a:ea typeface="Calibri" pitchFamily="34" charset="-122"/>
                <a:cs typeface="Calibri" pitchFamily="34" charset="-120"/>
              </a:rPr>
              <a:t>WHAT WE ADD</a:t>
            </a:r>
            <a:endParaRPr lang="en-US" sz="1050" dirty="0"/>
          </a:p>
        </p:txBody>
      </p:sp>
      <p:sp>
        <p:nvSpPr>
          <p:cNvPr id="31" name="Shape 29"/>
          <p:cNvSpPr/>
          <p:nvPr/>
        </p:nvSpPr>
        <p:spPr>
          <a:xfrm>
            <a:off x="548640" y="3767328"/>
            <a:ext cx="2011680" cy="1371600"/>
          </a:xfrm>
          <a:prstGeom prst="roundRect">
            <a:avLst>
              <a:gd name="adj" fmla="val 8000"/>
            </a:avLst>
          </a:prstGeom>
          <a:solidFill>
            <a:srgbClr val="FDEFE3"/>
          </a:solidFill>
          <a:ln w="12700">
            <a:solidFill>
              <a:srgbClr val="F5A25B"/>
            </a:solidFill>
            <a:prstDash val="solid"/>
          </a:ln>
        </p:spPr>
        <p:txBody>
          <a:bodyPr/>
          <a:lstStyle/>
          <a:p>
            <a:endParaRPr lang="en-US"/>
          </a:p>
        </p:txBody>
      </p:sp>
      <p:sp>
        <p:nvSpPr>
          <p:cNvPr id="32" name="Text 30"/>
          <p:cNvSpPr/>
          <p:nvPr/>
        </p:nvSpPr>
        <p:spPr>
          <a:xfrm>
            <a:off x="731520" y="3913632"/>
            <a:ext cx="1691640" cy="1097280"/>
          </a:xfrm>
          <a:prstGeom prst="rect">
            <a:avLst/>
          </a:prstGeom>
          <a:noFill/>
          <a:ln/>
        </p:spPr>
        <p:txBody>
          <a:bodyPr wrap="square" lIns="0" tIns="0" rIns="0" bIns="0" rtlCol="0" anchor="ctr"/>
          <a:lstStyle/>
          <a:p>
            <a:pPr marL="0" indent="0">
              <a:buNone/>
            </a:pPr>
            <a:r>
              <a:rPr lang="en-US" sz="1050" dirty="0">
                <a:solidFill>
                  <a:srgbClr val="B04A0F"/>
                </a:solidFill>
                <a:latin typeface="Calibri" pitchFamily="34" charset="0"/>
                <a:ea typeface="Calibri" pitchFamily="34" charset="-122"/>
                <a:cs typeface="Calibri" pitchFamily="34" charset="-120"/>
              </a:rPr>
              <a:t>Intent parsing scopes retrieval to the failing activity's window — never a raw log dump.</a:t>
            </a:r>
            <a:endParaRPr lang="en-US" sz="1050" dirty="0"/>
          </a:p>
        </p:txBody>
      </p:sp>
      <p:sp>
        <p:nvSpPr>
          <p:cNvPr id="33" name="Shape 31"/>
          <p:cNvSpPr/>
          <p:nvPr/>
        </p:nvSpPr>
        <p:spPr>
          <a:xfrm>
            <a:off x="2788920" y="3767328"/>
            <a:ext cx="2011680" cy="1371600"/>
          </a:xfrm>
          <a:prstGeom prst="roundRect">
            <a:avLst>
              <a:gd name="adj" fmla="val 8000"/>
            </a:avLst>
          </a:prstGeom>
          <a:solidFill>
            <a:srgbClr val="FDEFE3"/>
          </a:solidFill>
          <a:ln w="12700">
            <a:solidFill>
              <a:srgbClr val="F5A25B"/>
            </a:solidFill>
            <a:prstDash val="solid"/>
          </a:ln>
        </p:spPr>
        <p:txBody>
          <a:bodyPr/>
          <a:lstStyle/>
          <a:p>
            <a:endParaRPr lang="en-US"/>
          </a:p>
        </p:txBody>
      </p:sp>
      <p:sp>
        <p:nvSpPr>
          <p:cNvPr id="34" name="Text 32"/>
          <p:cNvSpPr/>
          <p:nvPr/>
        </p:nvSpPr>
        <p:spPr>
          <a:xfrm>
            <a:off x="2971800" y="3913632"/>
            <a:ext cx="1691640" cy="1097280"/>
          </a:xfrm>
          <a:prstGeom prst="rect">
            <a:avLst/>
          </a:prstGeom>
          <a:noFill/>
          <a:ln/>
        </p:spPr>
        <p:txBody>
          <a:bodyPr wrap="square" lIns="0" tIns="0" rIns="0" bIns="0" rtlCol="0" anchor="ctr"/>
          <a:lstStyle/>
          <a:p>
            <a:pPr marL="0" indent="0">
              <a:buNone/>
            </a:pPr>
            <a:r>
              <a:rPr lang="en-US" sz="1050" dirty="0">
                <a:solidFill>
                  <a:srgbClr val="B04A0F"/>
                </a:solidFill>
                <a:latin typeface="Calibri" pitchFamily="34" charset="0"/>
                <a:ea typeface="Calibri" pitchFamily="34" charset="-122"/>
                <a:cs typeface="Calibri" pitchFamily="34" charset="-120"/>
              </a:rPr>
              <a:t>Error normalized into a signature, then matched against previously resolved failures.</a:t>
            </a:r>
            <a:endParaRPr lang="en-US" sz="1050" dirty="0"/>
          </a:p>
        </p:txBody>
      </p:sp>
      <p:sp>
        <p:nvSpPr>
          <p:cNvPr id="35" name="Shape 33"/>
          <p:cNvSpPr/>
          <p:nvPr/>
        </p:nvSpPr>
        <p:spPr>
          <a:xfrm>
            <a:off x="5029200" y="3767328"/>
            <a:ext cx="2011680" cy="1371600"/>
          </a:xfrm>
          <a:prstGeom prst="roundRect">
            <a:avLst>
              <a:gd name="adj" fmla="val 8000"/>
            </a:avLst>
          </a:prstGeom>
          <a:solidFill>
            <a:srgbClr val="FDEFE3"/>
          </a:solidFill>
          <a:ln w="12700">
            <a:solidFill>
              <a:srgbClr val="F5A25B"/>
            </a:solidFill>
            <a:prstDash val="solid"/>
          </a:ln>
        </p:spPr>
        <p:txBody>
          <a:bodyPr/>
          <a:lstStyle/>
          <a:p>
            <a:endParaRPr lang="en-US"/>
          </a:p>
        </p:txBody>
      </p:sp>
      <p:sp>
        <p:nvSpPr>
          <p:cNvPr id="36" name="Text 34"/>
          <p:cNvSpPr/>
          <p:nvPr/>
        </p:nvSpPr>
        <p:spPr>
          <a:xfrm>
            <a:off x="5212080" y="3913632"/>
            <a:ext cx="1691640" cy="1097280"/>
          </a:xfrm>
          <a:prstGeom prst="rect">
            <a:avLst/>
          </a:prstGeom>
          <a:noFill/>
          <a:ln/>
        </p:spPr>
        <p:txBody>
          <a:bodyPr wrap="square" lIns="0" tIns="0" rIns="0" bIns="0" rtlCol="0" anchor="ctr"/>
          <a:lstStyle/>
          <a:p>
            <a:pPr marL="0" indent="0">
              <a:buNone/>
            </a:pPr>
            <a:r>
              <a:rPr lang="en-US" sz="1050" dirty="0">
                <a:solidFill>
                  <a:srgbClr val="B04A0F"/>
                </a:solidFill>
                <a:latin typeface="Calibri" pitchFamily="34" charset="0"/>
                <a:ea typeface="Calibri" pitchFamily="34" charset="-122"/>
                <a:cs typeface="Calibri" pitchFamily="34" charset="-120"/>
              </a:rPr>
              <a:t>Every claim cited to its run or log line, with a confidence score attached.</a:t>
            </a:r>
            <a:endParaRPr lang="en-US" sz="1050" dirty="0"/>
          </a:p>
        </p:txBody>
      </p:sp>
      <p:sp>
        <p:nvSpPr>
          <p:cNvPr id="37" name="Shape 35"/>
          <p:cNvSpPr/>
          <p:nvPr/>
        </p:nvSpPr>
        <p:spPr>
          <a:xfrm>
            <a:off x="7269480" y="3767328"/>
            <a:ext cx="2011680" cy="1371600"/>
          </a:xfrm>
          <a:prstGeom prst="roundRect">
            <a:avLst>
              <a:gd name="adj" fmla="val 8000"/>
            </a:avLst>
          </a:prstGeom>
          <a:solidFill>
            <a:srgbClr val="FDEFE3"/>
          </a:solidFill>
          <a:ln w="12700">
            <a:solidFill>
              <a:srgbClr val="F5A25B"/>
            </a:solidFill>
            <a:prstDash val="solid"/>
          </a:ln>
        </p:spPr>
        <p:txBody>
          <a:bodyPr/>
          <a:lstStyle/>
          <a:p>
            <a:endParaRPr lang="en-US"/>
          </a:p>
        </p:txBody>
      </p:sp>
      <p:sp>
        <p:nvSpPr>
          <p:cNvPr id="38" name="Text 36"/>
          <p:cNvSpPr/>
          <p:nvPr/>
        </p:nvSpPr>
        <p:spPr>
          <a:xfrm>
            <a:off x="7452360" y="3913632"/>
            <a:ext cx="1691640" cy="1097280"/>
          </a:xfrm>
          <a:prstGeom prst="rect">
            <a:avLst/>
          </a:prstGeom>
          <a:noFill/>
          <a:ln/>
        </p:spPr>
        <p:txBody>
          <a:bodyPr wrap="square" lIns="0" tIns="0" rIns="0" bIns="0" rtlCol="0" anchor="ctr"/>
          <a:lstStyle/>
          <a:p>
            <a:pPr marL="0" indent="0">
              <a:buNone/>
            </a:pPr>
            <a:r>
              <a:rPr lang="en-US" sz="1050" dirty="0">
                <a:solidFill>
                  <a:srgbClr val="B04A0F"/>
                </a:solidFill>
                <a:latin typeface="Calibri" pitchFamily="34" charset="0"/>
                <a:ea typeface="Calibri" pitchFamily="34" charset="-122"/>
                <a:cs typeface="Calibri" pitchFamily="34" charset="-120"/>
              </a:rPr>
              <a:t>Fixes ranked by observed success rate, with a runner-up and an abstain path.</a:t>
            </a:r>
            <a:endParaRPr lang="en-US" sz="1050" dirty="0"/>
          </a:p>
        </p:txBody>
      </p:sp>
      <p:sp>
        <p:nvSpPr>
          <p:cNvPr id="39" name="Shape 37"/>
          <p:cNvSpPr/>
          <p:nvPr/>
        </p:nvSpPr>
        <p:spPr>
          <a:xfrm>
            <a:off x="9509760" y="3767328"/>
            <a:ext cx="2011680" cy="1371600"/>
          </a:xfrm>
          <a:prstGeom prst="roundRect">
            <a:avLst>
              <a:gd name="adj" fmla="val 8000"/>
            </a:avLst>
          </a:prstGeom>
          <a:solidFill>
            <a:srgbClr val="FDEFE3"/>
          </a:solidFill>
          <a:ln w="12700">
            <a:solidFill>
              <a:srgbClr val="F5A25B"/>
            </a:solidFill>
            <a:prstDash val="solid"/>
          </a:ln>
        </p:spPr>
        <p:txBody>
          <a:bodyPr/>
          <a:lstStyle/>
          <a:p>
            <a:endParaRPr lang="en-US"/>
          </a:p>
        </p:txBody>
      </p:sp>
      <p:sp>
        <p:nvSpPr>
          <p:cNvPr id="40" name="Text 38"/>
          <p:cNvSpPr/>
          <p:nvPr/>
        </p:nvSpPr>
        <p:spPr>
          <a:xfrm>
            <a:off x="9692640" y="3913632"/>
            <a:ext cx="1691640" cy="1097280"/>
          </a:xfrm>
          <a:prstGeom prst="rect">
            <a:avLst/>
          </a:prstGeom>
          <a:noFill/>
          <a:ln/>
        </p:spPr>
        <p:txBody>
          <a:bodyPr wrap="square" lIns="0" tIns="0" rIns="0" bIns="0" rtlCol="0" anchor="ctr"/>
          <a:lstStyle/>
          <a:p>
            <a:pPr marL="0" indent="0">
              <a:buNone/>
            </a:pPr>
            <a:r>
              <a:rPr lang="en-US" sz="1050" dirty="0">
                <a:solidFill>
                  <a:srgbClr val="B04A0F"/>
                </a:solidFill>
                <a:latin typeface="Calibri" pitchFamily="34" charset="0"/>
                <a:ea typeface="Calibri" pitchFamily="34" charset="-122"/>
                <a:cs typeface="Calibri" pitchFamily="34" charset="-120"/>
              </a:rPr>
              <a:t>Role re-validated, allow-listed tools only, immutable audit record written.</a:t>
            </a:r>
            <a:endParaRPr lang="en-US" sz="1050" dirty="0"/>
          </a:p>
        </p:txBody>
      </p:sp>
      <p:sp>
        <p:nvSpPr>
          <p:cNvPr id="41" name="Shape 39"/>
          <p:cNvSpPr/>
          <p:nvPr/>
        </p:nvSpPr>
        <p:spPr>
          <a:xfrm>
            <a:off x="2596896" y="2404872"/>
            <a:ext cx="192024" cy="182880"/>
          </a:xfrm>
          <a:prstGeom prst="rightArrow">
            <a:avLst/>
          </a:prstGeom>
          <a:solidFill>
            <a:srgbClr val="E2661A"/>
          </a:solidFill>
          <a:ln w="12700">
            <a:solidFill>
              <a:srgbClr val="E2661A"/>
            </a:solidFill>
            <a:prstDash val="solid"/>
          </a:ln>
        </p:spPr>
        <p:txBody>
          <a:bodyPr/>
          <a:lstStyle/>
          <a:p>
            <a:endParaRPr lang="en-US"/>
          </a:p>
        </p:txBody>
      </p:sp>
      <p:sp>
        <p:nvSpPr>
          <p:cNvPr id="42" name="Shape 40"/>
          <p:cNvSpPr/>
          <p:nvPr/>
        </p:nvSpPr>
        <p:spPr>
          <a:xfrm>
            <a:off x="2596896" y="4361688"/>
            <a:ext cx="192024" cy="182880"/>
          </a:xfrm>
          <a:prstGeom prst="rightArrow">
            <a:avLst/>
          </a:prstGeom>
          <a:solidFill>
            <a:srgbClr val="F5A25B"/>
          </a:solidFill>
          <a:ln w="12700">
            <a:solidFill>
              <a:srgbClr val="F5A25B"/>
            </a:solidFill>
            <a:prstDash val="solid"/>
          </a:ln>
        </p:spPr>
        <p:txBody>
          <a:bodyPr/>
          <a:lstStyle/>
          <a:p>
            <a:endParaRPr lang="en-US"/>
          </a:p>
        </p:txBody>
      </p:sp>
      <p:sp>
        <p:nvSpPr>
          <p:cNvPr id="43" name="Shape 41"/>
          <p:cNvSpPr/>
          <p:nvPr/>
        </p:nvSpPr>
        <p:spPr>
          <a:xfrm>
            <a:off x="4837176" y="2404872"/>
            <a:ext cx="192024" cy="182880"/>
          </a:xfrm>
          <a:prstGeom prst="rightArrow">
            <a:avLst/>
          </a:prstGeom>
          <a:solidFill>
            <a:srgbClr val="E2661A"/>
          </a:solidFill>
          <a:ln w="12700">
            <a:solidFill>
              <a:srgbClr val="E2661A"/>
            </a:solidFill>
            <a:prstDash val="solid"/>
          </a:ln>
        </p:spPr>
        <p:txBody>
          <a:bodyPr/>
          <a:lstStyle/>
          <a:p>
            <a:endParaRPr lang="en-US"/>
          </a:p>
        </p:txBody>
      </p:sp>
      <p:sp>
        <p:nvSpPr>
          <p:cNvPr id="44" name="Shape 42"/>
          <p:cNvSpPr/>
          <p:nvPr/>
        </p:nvSpPr>
        <p:spPr>
          <a:xfrm>
            <a:off x="4837176" y="4361688"/>
            <a:ext cx="192024" cy="182880"/>
          </a:xfrm>
          <a:prstGeom prst="rightArrow">
            <a:avLst/>
          </a:prstGeom>
          <a:solidFill>
            <a:srgbClr val="F5A25B"/>
          </a:solidFill>
          <a:ln w="12700">
            <a:solidFill>
              <a:srgbClr val="F5A25B"/>
            </a:solidFill>
            <a:prstDash val="solid"/>
          </a:ln>
        </p:spPr>
        <p:txBody>
          <a:bodyPr/>
          <a:lstStyle/>
          <a:p>
            <a:endParaRPr lang="en-US"/>
          </a:p>
        </p:txBody>
      </p:sp>
      <p:sp>
        <p:nvSpPr>
          <p:cNvPr id="45" name="Shape 43"/>
          <p:cNvSpPr/>
          <p:nvPr/>
        </p:nvSpPr>
        <p:spPr>
          <a:xfrm>
            <a:off x="7077456" y="2404872"/>
            <a:ext cx="192024" cy="182880"/>
          </a:xfrm>
          <a:prstGeom prst="rightArrow">
            <a:avLst/>
          </a:prstGeom>
          <a:solidFill>
            <a:srgbClr val="E2661A"/>
          </a:solidFill>
          <a:ln w="12700">
            <a:solidFill>
              <a:srgbClr val="E2661A"/>
            </a:solidFill>
            <a:prstDash val="solid"/>
          </a:ln>
        </p:spPr>
        <p:txBody>
          <a:bodyPr/>
          <a:lstStyle/>
          <a:p>
            <a:endParaRPr lang="en-US"/>
          </a:p>
        </p:txBody>
      </p:sp>
      <p:sp>
        <p:nvSpPr>
          <p:cNvPr id="46" name="Shape 44"/>
          <p:cNvSpPr/>
          <p:nvPr/>
        </p:nvSpPr>
        <p:spPr>
          <a:xfrm>
            <a:off x="7077456" y="4361688"/>
            <a:ext cx="192024" cy="182880"/>
          </a:xfrm>
          <a:prstGeom prst="rightArrow">
            <a:avLst/>
          </a:prstGeom>
          <a:solidFill>
            <a:srgbClr val="F5A25B"/>
          </a:solidFill>
          <a:ln w="12700">
            <a:solidFill>
              <a:srgbClr val="F5A25B"/>
            </a:solidFill>
            <a:prstDash val="solid"/>
          </a:ln>
        </p:spPr>
        <p:txBody>
          <a:bodyPr/>
          <a:lstStyle/>
          <a:p>
            <a:endParaRPr lang="en-US"/>
          </a:p>
        </p:txBody>
      </p:sp>
      <p:sp>
        <p:nvSpPr>
          <p:cNvPr id="47" name="Shape 45"/>
          <p:cNvSpPr/>
          <p:nvPr/>
        </p:nvSpPr>
        <p:spPr>
          <a:xfrm>
            <a:off x="9317736" y="2404872"/>
            <a:ext cx="192024" cy="182880"/>
          </a:xfrm>
          <a:prstGeom prst="rightArrow">
            <a:avLst/>
          </a:prstGeom>
          <a:solidFill>
            <a:srgbClr val="E2661A"/>
          </a:solidFill>
          <a:ln w="12700">
            <a:solidFill>
              <a:srgbClr val="E2661A"/>
            </a:solidFill>
            <a:prstDash val="solid"/>
          </a:ln>
        </p:spPr>
        <p:txBody>
          <a:bodyPr/>
          <a:lstStyle/>
          <a:p>
            <a:endParaRPr lang="en-US"/>
          </a:p>
        </p:txBody>
      </p:sp>
      <p:sp>
        <p:nvSpPr>
          <p:cNvPr id="48" name="Shape 46"/>
          <p:cNvSpPr/>
          <p:nvPr/>
        </p:nvSpPr>
        <p:spPr>
          <a:xfrm>
            <a:off x="9317736" y="4361688"/>
            <a:ext cx="192024" cy="182880"/>
          </a:xfrm>
          <a:prstGeom prst="rightArrow">
            <a:avLst/>
          </a:prstGeom>
          <a:solidFill>
            <a:srgbClr val="F5A25B"/>
          </a:solidFill>
          <a:ln w="12700">
            <a:solidFill>
              <a:srgbClr val="F5A25B"/>
            </a:solidFill>
            <a:prstDash val="solid"/>
          </a:ln>
        </p:spPr>
        <p:txBody>
          <a:bodyPr/>
          <a:lstStyle/>
          <a:p>
            <a:endParaRPr lang="en-US"/>
          </a:p>
        </p:txBody>
      </p:sp>
      <p:sp>
        <p:nvSpPr>
          <p:cNvPr id="49" name="Shape 47"/>
          <p:cNvSpPr/>
          <p:nvPr/>
        </p:nvSpPr>
        <p:spPr>
          <a:xfrm>
            <a:off x="548640" y="5440680"/>
            <a:ext cx="11064240" cy="749808"/>
          </a:xfrm>
          <a:prstGeom prst="roundRect">
            <a:avLst>
              <a:gd name="adj" fmla="val 14634"/>
            </a:avLst>
          </a:prstGeom>
          <a:solidFill>
            <a:srgbClr val="E2661A"/>
          </a:solidFill>
          <a:ln w="12700">
            <a:solidFill>
              <a:srgbClr val="E2661A"/>
            </a:solidFill>
            <a:prstDash val="solid"/>
          </a:ln>
        </p:spPr>
        <p:txBody>
          <a:bodyPr/>
          <a:lstStyle/>
          <a:p>
            <a:endParaRPr lang="en-US"/>
          </a:p>
        </p:txBody>
      </p:sp>
      <p:sp>
        <p:nvSpPr>
          <p:cNvPr id="50" name="Text 48"/>
          <p:cNvSpPr/>
          <p:nvPr/>
        </p:nvSpPr>
        <p:spPr>
          <a:xfrm>
            <a:off x="914400" y="5440680"/>
            <a:ext cx="2103120" cy="7498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 Beyond the brief:</a:t>
            </a:r>
            <a:endParaRPr lang="en-US" sz="1400" dirty="0"/>
          </a:p>
        </p:txBody>
      </p:sp>
      <p:sp>
        <p:nvSpPr>
          <p:cNvPr id="51" name="Text 49"/>
          <p:cNvSpPr/>
          <p:nvPr/>
        </p:nvSpPr>
        <p:spPr>
          <a:xfrm>
            <a:off x="3017520" y="5440680"/>
            <a:ext cx="8321040" cy="74980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outcome of every approved action is written back, so the next occurrence of this failure is answered from memory instead of re-reasoned. This is the answer to limited knowledge reuse.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EFFECTIVE CONVERSATIONAL EXPERIENCE</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What the support engineer actually sees</a:t>
            </a:r>
            <a:endParaRPr lang="en-US" sz="3200" dirty="0"/>
          </a:p>
        </p:txBody>
      </p:sp>
      <p:sp>
        <p:nvSpPr>
          <p:cNvPr id="4" name="Shape 2"/>
          <p:cNvSpPr/>
          <p:nvPr/>
        </p:nvSpPr>
        <p:spPr>
          <a:xfrm>
            <a:off x="548640" y="1417320"/>
            <a:ext cx="6126480" cy="4526280"/>
          </a:xfrm>
          <a:prstGeom prst="roundRect">
            <a:avLst>
              <a:gd name="adj" fmla="val 2828"/>
            </a:avLst>
          </a:prstGeom>
          <a:solidFill>
            <a:srgbClr val="E9EEF4"/>
          </a:solidFill>
          <a:ln w="12700">
            <a:solidFill>
              <a:srgbClr val="E9EEF4"/>
            </a:solidFill>
            <a:prstDash val="solid"/>
          </a:ln>
        </p:spPr>
        <p:txBody>
          <a:bodyPr/>
          <a:lstStyle/>
          <a:p>
            <a:endParaRPr lang="en-US"/>
          </a:p>
        </p:txBody>
      </p:sp>
      <p:sp>
        <p:nvSpPr>
          <p:cNvPr id="5" name="Shape 3"/>
          <p:cNvSpPr/>
          <p:nvPr/>
        </p:nvSpPr>
        <p:spPr>
          <a:xfrm>
            <a:off x="2103120" y="1627632"/>
            <a:ext cx="4343400" cy="457200"/>
          </a:xfrm>
          <a:prstGeom prst="roundRect">
            <a:avLst>
              <a:gd name="adj" fmla="val 24000"/>
            </a:avLst>
          </a:prstGeom>
          <a:solidFill>
            <a:srgbClr val="132039"/>
          </a:solidFill>
          <a:ln w="12700">
            <a:solidFill>
              <a:srgbClr val="132039"/>
            </a:solidFill>
            <a:prstDash val="solid"/>
          </a:ln>
        </p:spPr>
        <p:txBody>
          <a:bodyPr/>
          <a:lstStyle/>
          <a:p>
            <a:endParaRPr lang="en-US"/>
          </a:p>
        </p:txBody>
      </p:sp>
      <p:sp>
        <p:nvSpPr>
          <p:cNvPr id="6" name="Text 4"/>
          <p:cNvSpPr/>
          <p:nvPr/>
        </p:nvSpPr>
        <p:spPr>
          <a:xfrm>
            <a:off x="2286000" y="1627632"/>
            <a:ext cx="4023360"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Why did the customer billing load fail last night?</a:t>
            </a:r>
            <a:endParaRPr lang="en-US" sz="1150" dirty="0"/>
          </a:p>
        </p:txBody>
      </p:sp>
      <p:sp>
        <p:nvSpPr>
          <p:cNvPr id="7" name="Shape 5"/>
          <p:cNvSpPr/>
          <p:nvPr/>
        </p:nvSpPr>
        <p:spPr>
          <a:xfrm>
            <a:off x="777240" y="2212848"/>
            <a:ext cx="5120640" cy="1417320"/>
          </a:xfrm>
          <a:prstGeom prst="roundRect">
            <a:avLst>
              <a:gd name="adj" fmla="val 7742"/>
            </a:avLst>
          </a:prstGeom>
          <a:solidFill>
            <a:srgbClr val="FFFFFF"/>
          </a:solidFill>
          <a:ln w="12700">
            <a:solidFill>
              <a:srgbClr val="D3DEE9"/>
            </a:solidFill>
            <a:prstDash val="solid"/>
          </a:ln>
        </p:spPr>
        <p:txBody>
          <a:bodyPr/>
          <a:lstStyle/>
          <a:p>
            <a:endParaRPr lang="en-US"/>
          </a:p>
        </p:txBody>
      </p:sp>
      <p:sp>
        <p:nvSpPr>
          <p:cNvPr id="8" name="Text 6"/>
          <p:cNvSpPr/>
          <p:nvPr/>
        </p:nvSpPr>
        <p:spPr>
          <a:xfrm>
            <a:off x="960120" y="2331720"/>
            <a:ext cx="4754880" cy="548640"/>
          </a:xfrm>
          <a:prstGeom prst="rect">
            <a:avLst/>
          </a:prstGeom>
          <a:noFill/>
          <a:ln/>
        </p:spPr>
        <p:txBody>
          <a:bodyPr wrap="square" lIns="0" tIns="0" rIns="0" bIns="0" rtlCol="0" anchor="ctr"/>
          <a:lstStyle/>
          <a:p>
            <a:pPr marL="0" indent="0">
              <a:buNone/>
            </a:pPr>
            <a:r>
              <a:rPr lang="en-US" sz="1150" b="1" dirty="0">
                <a:solidFill>
                  <a:srgbClr val="132039"/>
                </a:solidFill>
                <a:latin typeface="Calibri" pitchFamily="34" charset="0"/>
                <a:ea typeface="Calibri" pitchFamily="34" charset="-122"/>
                <a:cs typeface="Calibri" pitchFamily="34" charset="-120"/>
              </a:rPr>
              <a:t>Root cause: schema drift on the source column billing_ts — the type changed from timestamp to string on 09 Aug.</a:t>
            </a:r>
            <a:endParaRPr lang="en-US" sz="1150" dirty="0"/>
          </a:p>
        </p:txBody>
      </p:sp>
      <p:sp>
        <p:nvSpPr>
          <p:cNvPr id="9" name="Text 7"/>
          <p:cNvSpPr/>
          <p:nvPr/>
        </p:nvSpPr>
        <p:spPr>
          <a:xfrm>
            <a:off x="960120" y="2880360"/>
            <a:ext cx="4754880" cy="32004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The same signature appeared in three earlier runs. One fix resolved all three.</a:t>
            </a:r>
            <a:endParaRPr lang="en-US" sz="1100" dirty="0"/>
          </a:p>
        </p:txBody>
      </p:sp>
      <p:sp>
        <p:nvSpPr>
          <p:cNvPr id="10" name="Text 8"/>
          <p:cNvSpPr/>
          <p:nvPr/>
        </p:nvSpPr>
        <p:spPr>
          <a:xfrm>
            <a:off x="960120" y="3246120"/>
            <a:ext cx="4754880" cy="274320"/>
          </a:xfrm>
          <a:prstGeom prst="rect">
            <a:avLst/>
          </a:prstGeom>
          <a:noFill/>
          <a:ln/>
        </p:spPr>
        <p:txBody>
          <a:bodyPr wrap="square" lIns="0" tIns="0" rIns="0" bIns="0" rtlCol="0" anchor="ctr"/>
          <a:lstStyle/>
          <a:p>
            <a:pPr marL="0" indent="0">
              <a:buNone/>
            </a:pPr>
            <a:r>
              <a:rPr lang="en-US" sz="1000" b="1" dirty="0">
                <a:solidFill>
                  <a:srgbClr val="B04A0F"/>
                </a:solidFill>
                <a:latin typeface="Calibri" pitchFamily="34" charset="0"/>
                <a:ea typeface="Calibri" pitchFamily="34" charset="-122"/>
                <a:cs typeface="Calibri" pitchFamily="34" charset="-120"/>
              </a:rPr>
              <a:t>Evidence: run 4471  ·  log line 812  ·  3 prior runs        Confidence 0.86</a:t>
            </a:r>
            <a:endParaRPr lang="en-US" sz="1000" dirty="0"/>
          </a:p>
        </p:txBody>
      </p:sp>
      <p:sp>
        <p:nvSpPr>
          <p:cNvPr id="11" name="Shape 9"/>
          <p:cNvSpPr/>
          <p:nvPr/>
        </p:nvSpPr>
        <p:spPr>
          <a:xfrm>
            <a:off x="777240" y="3730752"/>
            <a:ext cx="5120640" cy="914400"/>
          </a:xfrm>
          <a:prstGeom prst="roundRect">
            <a:avLst>
              <a:gd name="adj" fmla="val 12000"/>
            </a:avLst>
          </a:prstGeom>
          <a:solidFill>
            <a:srgbClr val="FDEFE3"/>
          </a:solidFill>
          <a:ln w="12700">
            <a:solidFill>
              <a:srgbClr val="E2661A"/>
            </a:solidFill>
            <a:prstDash val="solid"/>
          </a:ln>
        </p:spPr>
        <p:txBody>
          <a:bodyPr/>
          <a:lstStyle/>
          <a:p>
            <a:endParaRPr lang="en-US"/>
          </a:p>
        </p:txBody>
      </p:sp>
      <p:sp>
        <p:nvSpPr>
          <p:cNvPr id="12" name="Text 10"/>
          <p:cNvSpPr/>
          <p:nvPr/>
        </p:nvSpPr>
        <p:spPr>
          <a:xfrm>
            <a:off x="960120" y="3840480"/>
            <a:ext cx="4754880" cy="274320"/>
          </a:xfrm>
          <a:prstGeom prst="rect">
            <a:avLst/>
          </a:prstGeom>
          <a:noFill/>
          <a:ln/>
        </p:spPr>
        <p:txBody>
          <a:bodyPr wrap="square" lIns="0" tIns="0" rIns="0" bIns="0" rtlCol="0" anchor="ctr"/>
          <a:lstStyle/>
          <a:p>
            <a:pPr marL="0" indent="0">
              <a:buNone/>
            </a:pPr>
            <a:r>
              <a:rPr lang="en-US" sz="1100" b="1" dirty="0">
                <a:solidFill>
                  <a:srgbClr val="B04A0F"/>
                </a:solidFill>
                <a:latin typeface="Calibri" pitchFamily="34" charset="0"/>
                <a:ea typeface="Calibri" pitchFamily="34" charset="-122"/>
                <a:cs typeface="Calibri" pitchFamily="34" charset="-120"/>
              </a:rPr>
              <a:t>Proposed action  ·  backfill 09 Aug 02:00–04:00, 1 activity</a:t>
            </a:r>
            <a:endParaRPr lang="en-US" sz="1100" dirty="0"/>
          </a:p>
        </p:txBody>
      </p:sp>
      <p:sp>
        <p:nvSpPr>
          <p:cNvPr id="13" name="Shape 11"/>
          <p:cNvSpPr/>
          <p:nvPr/>
        </p:nvSpPr>
        <p:spPr>
          <a:xfrm>
            <a:off x="960120" y="4187952"/>
            <a:ext cx="1051560" cy="329184"/>
          </a:xfrm>
          <a:prstGeom prst="roundRect">
            <a:avLst>
              <a:gd name="adj" fmla="val 22222"/>
            </a:avLst>
          </a:prstGeom>
          <a:solidFill>
            <a:srgbClr val="E2661A"/>
          </a:solidFill>
          <a:ln w="12700">
            <a:solidFill>
              <a:srgbClr val="E2661A"/>
            </a:solidFill>
            <a:prstDash val="solid"/>
          </a:ln>
        </p:spPr>
        <p:txBody>
          <a:bodyPr/>
          <a:lstStyle/>
          <a:p>
            <a:endParaRPr lang="en-US"/>
          </a:p>
        </p:txBody>
      </p:sp>
      <p:sp>
        <p:nvSpPr>
          <p:cNvPr id="14" name="Text 12"/>
          <p:cNvSpPr/>
          <p:nvPr/>
        </p:nvSpPr>
        <p:spPr>
          <a:xfrm>
            <a:off x="960120" y="4187952"/>
            <a:ext cx="105156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Approve</a:t>
            </a:r>
            <a:endParaRPr lang="en-US" sz="1050" dirty="0"/>
          </a:p>
        </p:txBody>
      </p:sp>
      <p:sp>
        <p:nvSpPr>
          <p:cNvPr id="15" name="Shape 13"/>
          <p:cNvSpPr/>
          <p:nvPr/>
        </p:nvSpPr>
        <p:spPr>
          <a:xfrm>
            <a:off x="2121408" y="4187952"/>
            <a:ext cx="1051560" cy="329184"/>
          </a:xfrm>
          <a:prstGeom prst="roundRect">
            <a:avLst>
              <a:gd name="adj" fmla="val 22222"/>
            </a:avLst>
          </a:prstGeom>
          <a:solidFill>
            <a:srgbClr val="FFFFFF"/>
          </a:solidFill>
          <a:ln w="12700">
            <a:solidFill>
              <a:srgbClr val="5A6B80"/>
            </a:solidFill>
            <a:prstDash val="solid"/>
          </a:ln>
        </p:spPr>
        <p:txBody>
          <a:bodyPr/>
          <a:lstStyle/>
          <a:p>
            <a:endParaRPr lang="en-US"/>
          </a:p>
        </p:txBody>
      </p:sp>
      <p:sp>
        <p:nvSpPr>
          <p:cNvPr id="16" name="Text 14"/>
          <p:cNvSpPr/>
          <p:nvPr/>
        </p:nvSpPr>
        <p:spPr>
          <a:xfrm>
            <a:off x="2121408" y="4187952"/>
            <a:ext cx="1051560" cy="329184"/>
          </a:xfrm>
          <a:prstGeom prst="rect">
            <a:avLst/>
          </a:prstGeom>
          <a:noFill/>
          <a:ln/>
        </p:spPr>
        <p:txBody>
          <a:bodyPr wrap="square" lIns="0" tIns="0" rIns="0" bIns="0" rtlCol="0" anchor="ctr"/>
          <a:lstStyle/>
          <a:p>
            <a:pPr marL="0" indent="0" algn="ctr">
              <a:buNone/>
            </a:pPr>
            <a:r>
              <a:rPr lang="en-US" sz="1050" b="1" dirty="0">
                <a:solidFill>
                  <a:srgbClr val="5A6B80"/>
                </a:solidFill>
                <a:latin typeface="Calibri" pitchFamily="34" charset="0"/>
                <a:ea typeface="Calibri" pitchFamily="34" charset="-122"/>
                <a:cs typeface="Calibri" pitchFamily="34" charset="-120"/>
              </a:rPr>
              <a:t>Reject</a:t>
            </a:r>
            <a:endParaRPr lang="en-US" sz="1050" dirty="0"/>
          </a:p>
        </p:txBody>
      </p:sp>
      <p:sp>
        <p:nvSpPr>
          <p:cNvPr id="17" name="Text 15"/>
          <p:cNvSpPr/>
          <p:nvPr/>
        </p:nvSpPr>
        <p:spPr>
          <a:xfrm>
            <a:off x="3291840" y="4187952"/>
            <a:ext cx="2377440" cy="329184"/>
          </a:xfrm>
          <a:prstGeom prst="rect">
            <a:avLst/>
          </a:prstGeom>
          <a:noFill/>
          <a:ln/>
        </p:spPr>
        <p:txBody>
          <a:bodyPr wrap="square" lIns="0" tIns="0" rIns="0" bIns="0" rtlCol="0" anchor="ctr"/>
          <a:lstStyle/>
          <a:p>
            <a:pPr marL="0" indent="0">
              <a:buNone/>
            </a:pPr>
            <a:r>
              <a:rPr lang="en-US" sz="950" i="1" dirty="0">
                <a:solidFill>
                  <a:srgbClr val="5A6B80"/>
                </a:solidFill>
                <a:latin typeface="Calibri" pitchFamily="34" charset="0"/>
                <a:ea typeface="Calibri" pitchFamily="34" charset="-122"/>
                <a:cs typeface="Calibri" pitchFamily="34" charset="-120"/>
              </a:rPr>
              <a:t>role checked at run time</a:t>
            </a:r>
            <a:endParaRPr lang="en-US" sz="950" dirty="0"/>
          </a:p>
        </p:txBody>
      </p:sp>
      <p:sp>
        <p:nvSpPr>
          <p:cNvPr id="18" name="Shape 16"/>
          <p:cNvSpPr/>
          <p:nvPr/>
        </p:nvSpPr>
        <p:spPr>
          <a:xfrm>
            <a:off x="4160520" y="4754880"/>
            <a:ext cx="2286000" cy="384048"/>
          </a:xfrm>
          <a:prstGeom prst="roundRect">
            <a:avLst>
              <a:gd name="adj" fmla="val 28571"/>
            </a:avLst>
          </a:prstGeom>
          <a:solidFill>
            <a:srgbClr val="132039"/>
          </a:solidFill>
          <a:ln w="12700">
            <a:solidFill>
              <a:srgbClr val="132039"/>
            </a:solidFill>
            <a:prstDash val="solid"/>
          </a:ln>
        </p:spPr>
        <p:txBody>
          <a:bodyPr/>
          <a:lstStyle/>
          <a:p>
            <a:endParaRPr lang="en-US"/>
          </a:p>
        </p:txBody>
      </p:sp>
      <p:sp>
        <p:nvSpPr>
          <p:cNvPr id="19" name="Text 17"/>
          <p:cNvSpPr/>
          <p:nvPr/>
        </p:nvSpPr>
        <p:spPr>
          <a:xfrm>
            <a:off x="4160520" y="4754880"/>
            <a:ext cx="2286000" cy="38404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Approve</a:t>
            </a:r>
            <a:endParaRPr lang="en-US" sz="1150" dirty="0"/>
          </a:p>
        </p:txBody>
      </p:sp>
      <p:sp>
        <p:nvSpPr>
          <p:cNvPr id="20" name="Shape 18"/>
          <p:cNvSpPr/>
          <p:nvPr/>
        </p:nvSpPr>
        <p:spPr>
          <a:xfrm>
            <a:off x="777240" y="5266944"/>
            <a:ext cx="5120640" cy="502920"/>
          </a:xfrm>
          <a:prstGeom prst="roundRect">
            <a:avLst>
              <a:gd name="adj" fmla="val 21818"/>
            </a:avLst>
          </a:prstGeom>
          <a:solidFill>
            <a:srgbClr val="FFFFFF"/>
          </a:solidFill>
          <a:ln w="12700">
            <a:solidFill>
              <a:srgbClr val="D3DEE9"/>
            </a:solidFill>
            <a:prstDash val="solid"/>
          </a:ln>
        </p:spPr>
        <p:txBody>
          <a:bodyPr/>
          <a:lstStyle/>
          <a:p>
            <a:endParaRPr lang="en-US"/>
          </a:p>
        </p:txBody>
      </p:sp>
      <p:sp>
        <p:nvSpPr>
          <p:cNvPr id="21" name="Text 19"/>
          <p:cNvSpPr/>
          <p:nvPr/>
        </p:nvSpPr>
        <p:spPr>
          <a:xfrm>
            <a:off x="960120" y="5266944"/>
            <a:ext cx="4754880" cy="502920"/>
          </a:xfrm>
          <a:prstGeom prst="rect">
            <a:avLst/>
          </a:prstGeom>
          <a:noFill/>
          <a:ln/>
        </p:spPr>
        <p:txBody>
          <a:bodyPr wrap="square" lIns="0" tIns="0" rIns="0" bIns="0" rtlCol="0" anchor="ctr"/>
          <a:lstStyle/>
          <a:p>
            <a:pPr marL="0" indent="0">
              <a:buNone/>
            </a:pPr>
            <a:r>
              <a:rPr lang="en-US" sz="1050" dirty="0">
                <a:solidFill>
                  <a:srgbClr val="132039"/>
                </a:solidFill>
                <a:latin typeface="Calibri" pitchFamily="34" charset="0"/>
                <a:ea typeface="Calibri" pitchFamily="34" charset="-122"/>
                <a:cs typeface="Calibri" pitchFamily="34" charset="-120"/>
              </a:rPr>
              <a:t>Backfill complete, 2.1M rows recovered. Outcome saved — next time this signature appears, I will recognise it.</a:t>
            </a:r>
            <a:endParaRPr lang="en-US" sz="1050" dirty="0"/>
          </a:p>
        </p:txBody>
      </p:sp>
      <p:sp>
        <p:nvSpPr>
          <p:cNvPr id="22" name="Shape 20"/>
          <p:cNvSpPr/>
          <p:nvPr/>
        </p:nvSpPr>
        <p:spPr>
          <a:xfrm>
            <a:off x="6949440" y="1417320"/>
            <a:ext cx="4663440" cy="1005840"/>
          </a:xfrm>
          <a:prstGeom prst="roundRect">
            <a:avLst>
              <a:gd name="adj" fmla="val 10909"/>
            </a:avLst>
          </a:prstGeom>
          <a:solidFill>
            <a:srgbClr val="FDEFE3"/>
          </a:solidFill>
          <a:ln w="12700">
            <a:solidFill>
              <a:srgbClr val="F5A25B"/>
            </a:solidFill>
            <a:prstDash val="solid"/>
          </a:ln>
        </p:spPr>
        <p:txBody>
          <a:bodyPr/>
          <a:lstStyle/>
          <a:p>
            <a:endParaRPr lang="en-US"/>
          </a:p>
        </p:txBody>
      </p:sp>
      <p:sp>
        <p:nvSpPr>
          <p:cNvPr id="23" name="Text 21"/>
          <p:cNvSpPr/>
          <p:nvPr/>
        </p:nvSpPr>
        <p:spPr>
          <a:xfrm>
            <a:off x="7223760" y="1545336"/>
            <a:ext cx="4206240" cy="292608"/>
          </a:xfrm>
          <a:prstGeom prst="rect">
            <a:avLst/>
          </a:prstGeom>
          <a:noFill/>
          <a:ln/>
        </p:spPr>
        <p:txBody>
          <a:bodyPr wrap="square" lIns="0" tIns="0" rIns="0" bIns="0" rtlCol="0" anchor="ctr"/>
          <a:lstStyle/>
          <a:p>
            <a:pPr marL="0" indent="0">
              <a:buNone/>
            </a:pPr>
            <a:r>
              <a:rPr lang="en-US" sz="1400" b="1" dirty="0">
                <a:solidFill>
                  <a:srgbClr val="B04A0F"/>
                </a:solidFill>
                <a:latin typeface="Cambria" pitchFamily="34" charset="0"/>
                <a:ea typeface="Cambria" pitchFamily="34" charset="-122"/>
                <a:cs typeface="Cambria" pitchFamily="34" charset="-120"/>
              </a:rPr>
              <a:t>Plain language first</a:t>
            </a:r>
            <a:endParaRPr lang="en-US" sz="1400" dirty="0"/>
          </a:p>
        </p:txBody>
      </p:sp>
      <p:sp>
        <p:nvSpPr>
          <p:cNvPr id="24" name="Text 22"/>
          <p:cNvSpPr/>
          <p:nvPr/>
        </p:nvSpPr>
        <p:spPr>
          <a:xfrm>
            <a:off x="7223760" y="1856232"/>
            <a:ext cx="4206240" cy="5029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The answer leads with the cause, not a log excerpt. Reduced manual effort starts here.</a:t>
            </a:r>
            <a:endParaRPr lang="en-US" sz="1100" dirty="0"/>
          </a:p>
        </p:txBody>
      </p:sp>
      <p:sp>
        <p:nvSpPr>
          <p:cNvPr id="25" name="Shape 23"/>
          <p:cNvSpPr/>
          <p:nvPr/>
        </p:nvSpPr>
        <p:spPr>
          <a:xfrm>
            <a:off x="6949440" y="2578608"/>
            <a:ext cx="4663440" cy="1005840"/>
          </a:xfrm>
          <a:prstGeom prst="roundRect">
            <a:avLst>
              <a:gd name="adj" fmla="val 10909"/>
            </a:avLst>
          </a:prstGeom>
          <a:solidFill>
            <a:srgbClr val="FDEFE3"/>
          </a:solidFill>
          <a:ln w="12700">
            <a:solidFill>
              <a:srgbClr val="F5A25B"/>
            </a:solidFill>
            <a:prstDash val="solid"/>
          </a:ln>
        </p:spPr>
        <p:txBody>
          <a:bodyPr/>
          <a:lstStyle/>
          <a:p>
            <a:endParaRPr lang="en-US"/>
          </a:p>
        </p:txBody>
      </p:sp>
      <p:sp>
        <p:nvSpPr>
          <p:cNvPr id="26" name="Text 24"/>
          <p:cNvSpPr/>
          <p:nvPr/>
        </p:nvSpPr>
        <p:spPr>
          <a:xfrm>
            <a:off x="7223760" y="2706624"/>
            <a:ext cx="4206240" cy="292608"/>
          </a:xfrm>
          <a:prstGeom prst="rect">
            <a:avLst/>
          </a:prstGeom>
          <a:noFill/>
          <a:ln/>
        </p:spPr>
        <p:txBody>
          <a:bodyPr wrap="square" lIns="0" tIns="0" rIns="0" bIns="0" rtlCol="0" anchor="ctr"/>
          <a:lstStyle/>
          <a:p>
            <a:pPr marL="0" indent="0">
              <a:buNone/>
            </a:pPr>
            <a:r>
              <a:rPr lang="en-US" sz="1400" b="1" dirty="0">
                <a:solidFill>
                  <a:srgbClr val="B04A0F"/>
                </a:solidFill>
                <a:latin typeface="Cambria" pitchFamily="34" charset="0"/>
                <a:ea typeface="Cambria" pitchFamily="34" charset="-122"/>
                <a:cs typeface="Cambria" pitchFamily="34" charset="-120"/>
              </a:rPr>
              <a:t>Evidence on every claim</a:t>
            </a:r>
            <a:endParaRPr lang="en-US" sz="1400" dirty="0"/>
          </a:p>
        </p:txBody>
      </p:sp>
      <p:sp>
        <p:nvSpPr>
          <p:cNvPr id="27" name="Text 25"/>
          <p:cNvSpPr/>
          <p:nvPr/>
        </p:nvSpPr>
        <p:spPr>
          <a:xfrm>
            <a:off x="7223760" y="3017520"/>
            <a:ext cx="4206240" cy="5029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Run, log line and prior occurrences are linked inline — explainability by construction.</a:t>
            </a:r>
            <a:endParaRPr lang="en-US" sz="1100" dirty="0"/>
          </a:p>
        </p:txBody>
      </p:sp>
      <p:sp>
        <p:nvSpPr>
          <p:cNvPr id="28" name="Shape 26"/>
          <p:cNvSpPr/>
          <p:nvPr/>
        </p:nvSpPr>
        <p:spPr>
          <a:xfrm>
            <a:off x="6949440" y="3739896"/>
            <a:ext cx="4663440" cy="1005840"/>
          </a:xfrm>
          <a:prstGeom prst="roundRect">
            <a:avLst>
              <a:gd name="adj" fmla="val 10909"/>
            </a:avLst>
          </a:prstGeom>
          <a:solidFill>
            <a:srgbClr val="FDEFE3"/>
          </a:solidFill>
          <a:ln w="12700">
            <a:solidFill>
              <a:srgbClr val="F5A25B"/>
            </a:solidFill>
            <a:prstDash val="solid"/>
          </a:ln>
        </p:spPr>
        <p:txBody>
          <a:bodyPr/>
          <a:lstStyle/>
          <a:p>
            <a:endParaRPr lang="en-US"/>
          </a:p>
        </p:txBody>
      </p:sp>
      <p:sp>
        <p:nvSpPr>
          <p:cNvPr id="29" name="Text 27"/>
          <p:cNvSpPr/>
          <p:nvPr/>
        </p:nvSpPr>
        <p:spPr>
          <a:xfrm>
            <a:off x="7223760" y="3867912"/>
            <a:ext cx="4206240" cy="292608"/>
          </a:xfrm>
          <a:prstGeom prst="rect">
            <a:avLst/>
          </a:prstGeom>
          <a:noFill/>
          <a:ln/>
        </p:spPr>
        <p:txBody>
          <a:bodyPr wrap="square" lIns="0" tIns="0" rIns="0" bIns="0" rtlCol="0" anchor="ctr"/>
          <a:lstStyle/>
          <a:p>
            <a:pPr marL="0" indent="0">
              <a:buNone/>
            </a:pPr>
            <a:r>
              <a:rPr lang="en-US" sz="1400" b="1" dirty="0">
                <a:solidFill>
                  <a:srgbClr val="B04A0F"/>
                </a:solidFill>
                <a:latin typeface="Cambria" pitchFamily="34" charset="0"/>
                <a:ea typeface="Cambria" pitchFamily="34" charset="-122"/>
                <a:cs typeface="Cambria" pitchFamily="34" charset="-120"/>
              </a:rPr>
              <a:t>Confidence is visible</a:t>
            </a:r>
            <a:endParaRPr lang="en-US" sz="1400" dirty="0"/>
          </a:p>
        </p:txBody>
      </p:sp>
      <p:sp>
        <p:nvSpPr>
          <p:cNvPr id="30" name="Text 28"/>
          <p:cNvSpPr/>
          <p:nvPr/>
        </p:nvSpPr>
        <p:spPr>
          <a:xfrm>
            <a:off x="7223760" y="4178808"/>
            <a:ext cx="4206240" cy="5029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Below threshold the assistant abstains and escalates rather than guessing.</a:t>
            </a:r>
            <a:endParaRPr lang="en-US" sz="1100" dirty="0"/>
          </a:p>
        </p:txBody>
      </p:sp>
      <p:sp>
        <p:nvSpPr>
          <p:cNvPr id="31" name="Shape 29"/>
          <p:cNvSpPr/>
          <p:nvPr/>
        </p:nvSpPr>
        <p:spPr>
          <a:xfrm>
            <a:off x="6949440" y="4901184"/>
            <a:ext cx="4663440" cy="1005840"/>
          </a:xfrm>
          <a:prstGeom prst="roundRect">
            <a:avLst>
              <a:gd name="adj" fmla="val 10909"/>
            </a:avLst>
          </a:prstGeom>
          <a:solidFill>
            <a:srgbClr val="E2661A"/>
          </a:solidFill>
          <a:ln w="12700">
            <a:solidFill>
              <a:srgbClr val="E2661A"/>
            </a:solidFill>
            <a:prstDash val="solid"/>
          </a:ln>
        </p:spPr>
        <p:txBody>
          <a:bodyPr/>
          <a:lstStyle/>
          <a:p>
            <a:endParaRPr lang="en-US"/>
          </a:p>
        </p:txBody>
      </p:sp>
      <p:sp>
        <p:nvSpPr>
          <p:cNvPr id="32" name="Text 30"/>
          <p:cNvSpPr/>
          <p:nvPr/>
        </p:nvSpPr>
        <p:spPr>
          <a:xfrm>
            <a:off x="7223760" y="5029200"/>
            <a:ext cx="4206240" cy="292608"/>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Actions wait for a human</a:t>
            </a:r>
            <a:endParaRPr lang="en-US" sz="1400" dirty="0"/>
          </a:p>
        </p:txBody>
      </p:sp>
      <p:sp>
        <p:nvSpPr>
          <p:cNvPr id="33" name="Text 31"/>
          <p:cNvSpPr/>
          <p:nvPr/>
        </p:nvSpPr>
        <p:spPr>
          <a:xfrm>
            <a:off x="7223760" y="5340096"/>
            <a:ext cx="4206240" cy="502920"/>
          </a:xfrm>
          <a:prstGeom prst="rect">
            <a:avLst/>
          </a:prstGeom>
          <a:noFill/>
          <a:ln/>
        </p:spPr>
        <p:txBody>
          <a:bodyPr wrap="square" lIns="0" tIns="0" rIns="0" bIns="0" rtlCol="0" anchor="ctr"/>
          <a:lstStyle/>
          <a:p>
            <a:pPr marL="0" indent="0">
              <a:buNone/>
            </a:pPr>
            <a:r>
              <a:rPr lang="en-US" sz="1100" dirty="0">
                <a:solidFill>
                  <a:srgbClr val="FFEBDA"/>
                </a:solidFill>
                <a:latin typeface="Calibri" pitchFamily="34" charset="0"/>
                <a:ea typeface="Calibri" pitchFamily="34" charset="-122"/>
                <a:cs typeface="Calibri" pitchFamily="34" charset="-120"/>
              </a:rPr>
              <a:t>Nothing executes until Approve, the role is re-checked, and the outcome is written back.</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WHO USES IT</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Three users, one assistant, no new console</a:t>
            </a:r>
            <a:endParaRPr lang="en-US" sz="3200" dirty="0"/>
          </a:p>
        </p:txBody>
      </p:sp>
      <p:sp>
        <p:nvSpPr>
          <p:cNvPr id="4" name="Shape 2"/>
          <p:cNvSpPr/>
          <p:nvPr/>
        </p:nvSpPr>
        <p:spPr>
          <a:xfrm>
            <a:off x="548640" y="1463040"/>
            <a:ext cx="3447288" cy="2788920"/>
          </a:xfrm>
          <a:prstGeom prst="roundRect">
            <a:avLst>
              <a:gd name="adj" fmla="val 4590"/>
            </a:avLst>
          </a:prstGeom>
          <a:solidFill>
            <a:srgbClr val="E2661A"/>
          </a:solidFill>
          <a:ln w="12700">
            <a:solidFill>
              <a:srgbClr val="E2661A"/>
            </a:solidFill>
            <a:prstDash val="solid"/>
          </a:ln>
        </p:spPr>
        <p:txBody>
          <a:bodyPr/>
          <a:lstStyle/>
          <a:p>
            <a:endParaRPr lang="en-US"/>
          </a:p>
        </p:txBody>
      </p:sp>
      <p:sp>
        <p:nvSpPr>
          <p:cNvPr id="5" name="Text 3"/>
          <p:cNvSpPr/>
          <p:nvPr/>
        </p:nvSpPr>
        <p:spPr>
          <a:xfrm>
            <a:off x="868680" y="1691640"/>
            <a:ext cx="2834640" cy="256032"/>
          </a:xfrm>
          <a:prstGeom prst="rect">
            <a:avLst/>
          </a:prstGeom>
          <a:noFill/>
          <a:ln/>
        </p:spPr>
        <p:txBody>
          <a:bodyPr wrap="square" lIns="0" tIns="0" rIns="0" bIns="0" rtlCol="0" anchor="ctr"/>
          <a:lstStyle/>
          <a:p>
            <a:pPr marL="0" indent="0">
              <a:buNone/>
            </a:pPr>
            <a:r>
              <a:rPr lang="en-US" sz="1050" b="1" kern="0" spc="200" dirty="0">
                <a:solidFill>
                  <a:srgbClr val="FFE3CC"/>
                </a:solidFill>
                <a:latin typeface="Calibri" pitchFamily="34" charset="0"/>
                <a:ea typeface="Calibri" pitchFamily="34" charset="-122"/>
                <a:cs typeface="Calibri" pitchFamily="34" charset="-120"/>
              </a:rPr>
              <a:t>PRIMARY USER</a:t>
            </a:r>
            <a:endParaRPr lang="en-US" sz="1050" dirty="0"/>
          </a:p>
        </p:txBody>
      </p:sp>
      <p:sp>
        <p:nvSpPr>
          <p:cNvPr id="6" name="Text 4"/>
          <p:cNvSpPr/>
          <p:nvPr/>
        </p:nvSpPr>
        <p:spPr>
          <a:xfrm>
            <a:off x="868680" y="2011680"/>
            <a:ext cx="283464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On-call data engineer</a:t>
            </a:r>
            <a:endParaRPr lang="en-US" sz="1800" dirty="0"/>
          </a:p>
        </p:txBody>
      </p:sp>
      <p:sp>
        <p:nvSpPr>
          <p:cNvPr id="7" name="Text 5"/>
          <p:cNvSpPr/>
          <p:nvPr/>
        </p:nvSpPr>
        <p:spPr>
          <a:xfrm>
            <a:off x="868680" y="2606040"/>
            <a:ext cx="2834640" cy="1463040"/>
          </a:xfrm>
          <a:prstGeom prst="rect">
            <a:avLst/>
          </a:prstGeom>
          <a:noFill/>
          <a:ln/>
        </p:spPr>
        <p:txBody>
          <a:bodyPr wrap="square" lIns="0" tIns="0" rIns="0" bIns="0" rtlCol="0" anchor="ctr"/>
          <a:lstStyle/>
          <a:p>
            <a:pPr marL="0" indent="0">
              <a:buNone/>
            </a:pPr>
            <a:r>
              <a:rPr lang="en-US" sz="1250" dirty="0">
                <a:solidFill>
                  <a:srgbClr val="FFEBDA"/>
                </a:solidFill>
                <a:latin typeface="Calibri" pitchFamily="34" charset="0"/>
                <a:ea typeface="Calibri" pitchFamily="34" charset="-122"/>
                <a:cs typeface="Calibri" pitchFamily="34" charset="-120"/>
              </a:rPr>
              <a:t>"What broke, why, and what fixed it last time?" Gets the failing activity, a cited root cause and a ranked fix inside the incident channel.</a:t>
            </a:r>
            <a:endParaRPr lang="en-US" sz="1250" dirty="0"/>
          </a:p>
        </p:txBody>
      </p:sp>
      <p:sp>
        <p:nvSpPr>
          <p:cNvPr id="8" name="Shape 6"/>
          <p:cNvSpPr/>
          <p:nvPr/>
        </p:nvSpPr>
        <p:spPr>
          <a:xfrm>
            <a:off x="4270248" y="1463040"/>
            <a:ext cx="3447288" cy="2788920"/>
          </a:xfrm>
          <a:prstGeom prst="roundRect">
            <a:avLst>
              <a:gd name="adj" fmla="val 4590"/>
            </a:avLst>
          </a:prstGeom>
          <a:solidFill>
            <a:srgbClr val="E9EEF4"/>
          </a:solidFill>
          <a:ln w="12700">
            <a:solidFill>
              <a:srgbClr val="D3DEE9"/>
            </a:solidFill>
            <a:prstDash val="solid"/>
          </a:ln>
        </p:spPr>
        <p:txBody>
          <a:bodyPr/>
          <a:lstStyle/>
          <a:p>
            <a:endParaRPr lang="en-US"/>
          </a:p>
        </p:txBody>
      </p:sp>
      <p:sp>
        <p:nvSpPr>
          <p:cNvPr id="9" name="Text 7"/>
          <p:cNvSpPr/>
          <p:nvPr/>
        </p:nvSpPr>
        <p:spPr>
          <a:xfrm>
            <a:off x="4590288" y="1691640"/>
            <a:ext cx="2834640" cy="256032"/>
          </a:xfrm>
          <a:prstGeom prst="rect">
            <a:avLst/>
          </a:prstGeom>
          <a:noFill/>
          <a:ln/>
        </p:spPr>
        <p:txBody>
          <a:bodyPr wrap="square" lIns="0" tIns="0" rIns="0" bIns="0" rtlCol="0" anchor="ctr"/>
          <a:lstStyle/>
          <a:p>
            <a:pPr marL="0" indent="0">
              <a:buNone/>
            </a:pPr>
            <a:r>
              <a:rPr lang="en-US" sz="1050" b="1" kern="0" spc="200" dirty="0">
                <a:solidFill>
                  <a:srgbClr val="B04A0F"/>
                </a:solidFill>
                <a:latin typeface="Calibri" pitchFamily="34" charset="0"/>
                <a:ea typeface="Calibri" pitchFamily="34" charset="-122"/>
                <a:cs typeface="Calibri" pitchFamily="34" charset="-120"/>
              </a:rPr>
              <a:t>PRODUCTIVITY</a:t>
            </a:r>
            <a:endParaRPr lang="en-US" sz="1050" dirty="0"/>
          </a:p>
        </p:txBody>
      </p:sp>
      <p:sp>
        <p:nvSpPr>
          <p:cNvPr id="10" name="Text 8"/>
          <p:cNvSpPr/>
          <p:nvPr/>
        </p:nvSpPr>
        <p:spPr>
          <a:xfrm>
            <a:off x="4590288" y="2011680"/>
            <a:ext cx="2834640" cy="548640"/>
          </a:xfrm>
          <a:prstGeom prst="rect">
            <a:avLst/>
          </a:prstGeom>
          <a:noFill/>
          <a:ln/>
        </p:spPr>
        <p:txBody>
          <a:bodyPr wrap="square" lIns="0" tIns="0" rIns="0" bIns="0" rtlCol="0" anchor="ctr"/>
          <a:lstStyle/>
          <a:p>
            <a:pPr marL="0" indent="0">
              <a:buNone/>
            </a:pPr>
            <a:r>
              <a:rPr lang="en-US" sz="1800" b="1" dirty="0">
                <a:solidFill>
                  <a:srgbClr val="132039"/>
                </a:solidFill>
                <a:latin typeface="Cambria" pitchFamily="34" charset="0"/>
                <a:ea typeface="Cambria" pitchFamily="34" charset="-122"/>
                <a:cs typeface="Cambria" pitchFamily="34" charset="-120"/>
              </a:rPr>
              <a:t>Support L1 / L2</a:t>
            </a:r>
            <a:endParaRPr lang="en-US" sz="1800" dirty="0"/>
          </a:p>
        </p:txBody>
      </p:sp>
      <p:sp>
        <p:nvSpPr>
          <p:cNvPr id="11" name="Text 9"/>
          <p:cNvSpPr/>
          <p:nvPr/>
        </p:nvSpPr>
        <p:spPr>
          <a:xfrm>
            <a:off x="4590288" y="2606040"/>
            <a:ext cx="2834640" cy="1463040"/>
          </a:xfrm>
          <a:prstGeom prst="rect">
            <a:avLst/>
          </a:prstGeom>
          <a:noFill/>
          <a:ln/>
        </p:spPr>
        <p:txBody>
          <a:bodyPr wrap="square" lIns="0" tIns="0" rIns="0" bIns="0" rtlCol="0" anchor="ctr"/>
          <a:lstStyle/>
          <a:p>
            <a:pPr marL="0" indent="0">
              <a:buNone/>
            </a:pPr>
            <a:r>
              <a:rPr lang="en-US" sz="1250" dirty="0">
                <a:solidFill>
                  <a:srgbClr val="5A6B80"/>
                </a:solidFill>
                <a:latin typeface="Calibri" pitchFamily="34" charset="0"/>
                <a:ea typeface="Calibri" pitchFamily="34" charset="-122"/>
                <a:cs typeface="Calibri" pitchFamily="34" charset="-120"/>
              </a:rPr>
              <a:t>Resolves known patterns straight from the knowledge base, and escalates with a written summary attached instead of a raw log link.</a:t>
            </a:r>
            <a:endParaRPr lang="en-US" sz="1250" dirty="0"/>
          </a:p>
        </p:txBody>
      </p:sp>
      <p:sp>
        <p:nvSpPr>
          <p:cNvPr id="12" name="Shape 10"/>
          <p:cNvSpPr/>
          <p:nvPr/>
        </p:nvSpPr>
        <p:spPr>
          <a:xfrm>
            <a:off x="7991856" y="1463040"/>
            <a:ext cx="3447288" cy="2788920"/>
          </a:xfrm>
          <a:prstGeom prst="roundRect">
            <a:avLst>
              <a:gd name="adj" fmla="val 4590"/>
            </a:avLst>
          </a:prstGeom>
          <a:solidFill>
            <a:srgbClr val="E9EEF4"/>
          </a:solidFill>
          <a:ln w="12700">
            <a:solidFill>
              <a:srgbClr val="D3DEE9"/>
            </a:solidFill>
            <a:prstDash val="solid"/>
          </a:ln>
        </p:spPr>
        <p:txBody>
          <a:bodyPr/>
          <a:lstStyle/>
          <a:p>
            <a:endParaRPr lang="en-US"/>
          </a:p>
        </p:txBody>
      </p:sp>
      <p:sp>
        <p:nvSpPr>
          <p:cNvPr id="13" name="Text 11"/>
          <p:cNvSpPr/>
          <p:nvPr/>
        </p:nvSpPr>
        <p:spPr>
          <a:xfrm>
            <a:off x="8311896" y="1691640"/>
            <a:ext cx="2834640" cy="256032"/>
          </a:xfrm>
          <a:prstGeom prst="rect">
            <a:avLst/>
          </a:prstGeom>
          <a:noFill/>
          <a:ln/>
        </p:spPr>
        <p:txBody>
          <a:bodyPr wrap="square" lIns="0" tIns="0" rIns="0" bIns="0" rtlCol="0" anchor="ctr"/>
          <a:lstStyle/>
          <a:p>
            <a:pPr marL="0" indent="0">
              <a:buNone/>
            </a:pPr>
            <a:r>
              <a:rPr lang="en-US" sz="1050" b="1" kern="0" spc="200" dirty="0">
                <a:solidFill>
                  <a:srgbClr val="B04A0F"/>
                </a:solidFill>
                <a:latin typeface="Calibri" pitchFamily="34" charset="0"/>
                <a:ea typeface="Calibri" pitchFamily="34" charset="-122"/>
                <a:cs typeface="Calibri" pitchFamily="34" charset="-120"/>
              </a:rPr>
              <a:t>BUSINESS VIEW</a:t>
            </a:r>
            <a:endParaRPr lang="en-US" sz="1050" dirty="0"/>
          </a:p>
        </p:txBody>
      </p:sp>
      <p:sp>
        <p:nvSpPr>
          <p:cNvPr id="14" name="Text 12"/>
          <p:cNvSpPr/>
          <p:nvPr/>
        </p:nvSpPr>
        <p:spPr>
          <a:xfrm>
            <a:off x="8311896" y="2011680"/>
            <a:ext cx="2834640" cy="548640"/>
          </a:xfrm>
          <a:prstGeom prst="rect">
            <a:avLst/>
          </a:prstGeom>
          <a:noFill/>
          <a:ln/>
        </p:spPr>
        <p:txBody>
          <a:bodyPr wrap="square" lIns="0" tIns="0" rIns="0" bIns="0" rtlCol="0" anchor="ctr"/>
          <a:lstStyle/>
          <a:p>
            <a:pPr marL="0" indent="0">
              <a:buNone/>
            </a:pPr>
            <a:r>
              <a:rPr lang="en-US" sz="1800" b="1" dirty="0">
                <a:solidFill>
                  <a:srgbClr val="132039"/>
                </a:solidFill>
                <a:latin typeface="Cambria" pitchFamily="34" charset="0"/>
                <a:ea typeface="Cambria" pitchFamily="34" charset="-122"/>
                <a:cs typeface="Cambria" pitchFamily="34" charset="-120"/>
              </a:rPr>
              <a:t>Pipeline or data owner</a:t>
            </a:r>
            <a:endParaRPr lang="en-US" sz="1800" dirty="0"/>
          </a:p>
        </p:txBody>
      </p:sp>
      <p:sp>
        <p:nvSpPr>
          <p:cNvPr id="15" name="Text 13"/>
          <p:cNvSpPr/>
          <p:nvPr/>
        </p:nvSpPr>
        <p:spPr>
          <a:xfrm>
            <a:off x="8311896" y="2606040"/>
            <a:ext cx="2834640" cy="1463040"/>
          </a:xfrm>
          <a:prstGeom prst="rect">
            <a:avLst/>
          </a:prstGeom>
          <a:noFill/>
          <a:ln/>
        </p:spPr>
        <p:txBody>
          <a:bodyPr wrap="square" lIns="0" tIns="0" rIns="0" bIns="0" rtlCol="0" anchor="ctr"/>
          <a:lstStyle/>
          <a:p>
            <a:pPr marL="0" indent="0">
              <a:buNone/>
            </a:pPr>
            <a:r>
              <a:rPr lang="en-US" sz="1250" dirty="0">
                <a:solidFill>
                  <a:srgbClr val="5A6B80"/>
                </a:solidFill>
                <a:latin typeface="Calibri" pitchFamily="34" charset="0"/>
                <a:ea typeface="Calibri" pitchFamily="34" charset="-122"/>
                <a:cs typeface="Calibri" pitchFamily="34" charset="-120"/>
              </a:rPr>
              <a:t>"Is my load late, what does it affect, and when is it back?" Plain-language status without console access or a chase-up call.</a:t>
            </a:r>
            <a:endParaRPr lang="en-US" sz="1250" dirty="0"/>
          </a:p>
        </p:txBody>
      </p:sp>
      <p:sp>
        <p:nvSpPr>
          <p:cNvPr id="16" name="Text 14"/>
          <p:cNvSpPr/>
          <p:nvPr/>
        </p:nvSpPr>
        <p:spPr>
          <a:xfrm>
            <a:off x="548640" y="4480560"/>
            <a:ext cx="3657600" cy="274320"/>
          </a:xfrm>
          <a:prstGeom prst="rect">
            <a:avLst/>
          </a:prstGeom>
          <a:noFill/>
          <a:ln/>
        </p:spPr>
        <p:txBody>
          <a:bodyPr wrap="square" lIns="0" tIns="0" rIns="0" bIns="0" rtlCol="0" anchor="ctr"/>
          <a:lstStyle/>
          <a:p>
            <a:pPr marL="0" indent="0">
              <a:buNone/>
            </a:pPr>
            <a:r>
              <a:rPr lang="en-US" sz="1050" b="1" kern="0" spc="200" dirty="0">
                <a:solidFill>
                  <a:srgbClr val="B04A0F"/>
                </a:solidFill>
                <a:latin typeface="Calibri" pitchFamily="34" charset="0"/>
                <a:ea typeface="Calibri" pitchFamily="34" charset="-122"/>
                <a:cs typeface="Calibri" pitchFamily="34" charset="-120"/>
              </a:rPr>
              <a:t>WHERE IT LIVES</a:t>
            </a:r>
            <a:endParaRPr lang="en-US" sz="1050" dirty="0"/>
          </a:p>
        </p:txBody>
      </p:sp>
      <p:sp>
        <p:nvSpPr>
          <p:cNvPr id="17" name="Shape 15"/>
          <p:cNvSpPr/>
          <p:nvPr/>
        </p:nvSpPr>
        <p:spPr>
          <a:xfrm>
            <a:off x="548640" y="4800600"/>
            <a:ext cx="2578608" cy="685800"/>
          </a:xfrm>
          <a:prstGeom prst="roundRect">
            <a:avLst>
              <a:gd name="adj" fmla="val 13333"/>
            </a:avLst>
          </a:prstGeom>
          <a:solidFill>
            <a:srgbClr val="132039"/>
          </a:solidFill>
          <a:ln w="12700">
            <a:solidFill>
              <a:srgbClr val="132039"/>
            </a:solidFill>
            <a:prstDash val="solid"/>
          </a:ln>
        </p:spPr>
        <p:txBody>
          <a:bodyPr/>
          <a:lstStyle/>
          <a:p>
            <a:endParaRPr lang="en-US"/>
          </a:p>
        </p:txBody>
      </p:sp>
      <p:sp>
        <p:nvSpPr>
          <p:cNvPr id="18" name="Text 16"/>
          <p:cNvSpPr/>
          <p:nvPr/>
        </p:nvSpPr>
        <p:spPr>
          <a:xfrm>
            <a:off x="548640" y="4800600"/>
            <a:ext cx="2578608"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Teams / Slack bot</a:t>
            </a:r>
            <a:endParaRPr lang="en-US" sz="1250" dirty="0"/>
          </a:p>
        </p:txBody>
      </p:sp>
      <p:sp>
        <p:nvSpPr>
          <p:cNvPr id="19" name="Shape 17"/>
          <p:cNvSpPr/>
          <p:nvPr/>
        </p:nvSpPr>
        <p:spPr>
          <a:xfrm>
            <a:off x="3355848" y="4800600"/>
            <a:ext cx="2578608" cy="685800"/>
          </a:xfrm>
          <a:prstGeom prst="roundRect">
            <a:avLst>
              <a:gd name="adj" fmla="val 13333"/>
            </a:avLst>
          </a:prstGeom>
          <a:solidFill>
            <a:srgbClr val="132039"/>
          </a:solidFill>
          <a:ln w="12700">
            <a:solidFill>
              <a:srgbClr val="132039"/>
            </a:solidFill>
            <a:prstDash val="solid"/>
          </a:ln>
        </p:spPr>
        <p:txBody>
          <a:bodyPr/>
          <a:lstStyle/>
          <a:p>
            <a:endParaRPr lang="en-US"/>
          </a:p>
        </p:txBody>
      </p:sp>
      <p:sp>
        <p:nvSpPr>
          <p:cNvPr id="20" name="Text 18"/>
          <p:cNvSpPr/>
          <p:nvPr/>
        </p:nvSpPr>
        <p:spPr>
          <a:xfrm>
            <a:off x="3355848" y="4800600"/>
            <a:ext cx="2578608"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ITSM ticket enrichment</a:t>
            </a:r>
            <a:endParaRPr lang="en-US" sz="1250" dirty="0"/>
          </a:p>
        </p:txBody>
      </p:sp>
      <p:sp>
        <p:nvSpPr>
          <p:cNvPr id="21" name="Shape 19"/>
          <p:cNvSpPr/>
          <p:nvPr/>
        </p:nvSpPr>
        <p:spPr>
          <a:xfrm>
            <a:off x="6163056" y="4800600"/>
            <a:ext cx="2578608" cy="685800"/>
          </a:xfrm>
          <a:prstGeom prst="roundRect">
            <a:avLst>
              <a:gd name="adj" fmla="val 13333"/>
            </a:avLst>
          </a:prstGeom>
          <a:solidFill>
            <a:srgbClr val="132039"/>
          </a:solidFill>
          <a:ln w="12700">
            <a:solidFill>
              <a:srgbClr val="132039"/>
            </a:solidFill>
            <a:prstDash val="solid"/>
          </a:ln>
        </p:spPr>
        <p:txBody>
          <a:bodyPr/>
          <a:lstStyle/>
          <a:p>
            <a:endParaRPr lang="en-US"/>
          </a:p>
        </p:txBody>
      </p:sp>
      <p:sp>
        <p:nvSpPr>
          <p:cNvPr id="22" name="Text 20"/>
          <p:cNvSpPr/>
          <p:nvPr/>
        </p:nvSpPr>
        <p:spPr>
          <a:xfrm>
            <a:off x="6163056" y="4800600"/>
            <a:ext cx="2578608"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Orchestrator deep link</a:t>
            </a:r>
            <a:endParaRPr lang="en-US" sz="1250" dirty="0"/>
          </a:p>
        </p:txBody>
      </p:sp>
      <p:sp>
        <p:nvSpPr>
          <p:cNvPr id="23" name="Shape 21"/>
          <p:cNvSpPr/>
          <p:nvPr/>
        </p:nvSpPr>
        <p:spPr>
          <a:xfrm>
            <a:off x="8970264" y="4800600"/>
            <a:ext cx="2578608" cy="685800"/>
          </a:xfrm>
          <a:prstGeom prst="roundRect">
            <a:avLst>
              <a:gd name="adj" fmla="val 13333"/>
            </a:avLst>
          </a:prstGeom>
          <a:solidFill>
            <a:srgbClr val="132039"/>
          </a:solidFill>
          <a:ln w="12700">
            <a:solidFill>
              <a:srgbClr val="132039"/>
            </a:solidFill>
            <a:prstDash val="solid"/>
          </a:ln>
        </p:spPr>
        <p:txBody>
          <a:bodyPr/>
          <a:lstStyle/>
          <a:p>
            <a:endParaRPr lang="en-US"/>
          </a:p>
        </p:txBody>
      </p:sp>
      <p:sp>
        <p:nvSpPr>
          <p:cNvPr id="24" name="Text 22"/>
          <p:cNvSpPr/>
          <p:nvPr/>
        </p:nvSpPr>
        <p:spPr>
          <a:xfrm>
            <a:off x="8970264" y="4800600"/>
            <a:ext cx="2578608"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Daily failure digest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How a question becomes a resolved incident</a:t>
            </a:r>
            <a:endParaRPr lang="en-US" sz="3200" dirty="0"/>
          </a:p>
        </p:txBody>
      </p:sp>
      <p:sp>
        <p:nvSpPr>
          <p:cNvPr id="4" name="Shape 2"/>
          <p:cNvSpPr/>
          <p:nvPr/>
        </p:nvSpPr>
        <p:spPr>
          <a:xfrm>
            <a:off x="548640" y="1554480"/>
            <a:ext cx="1828800" cy="512064"/>
          </a:xfrm>
          <a:prstGeom prst="roundRect">
            <a:avLst>
              <a:gd name="adj" fmla="val 14286"/>
            </a:avLst>
          </a:prstGeom>
          <a:solidFill>
            <a:srgbClr val="E9EEF4"/>
          </a:solidFill>
          <a:ln w="12700">
            <a:solidFill>
              <a:srgbClr val="C6D4E1"/>
            </a:solidFill>
            <a:prstDash val="solid"/>
          </a:ln>
        </p:spPr>
        <p:txBody>
          <a:bodyPr/>
          <a:lstStyle/>
          <a:p>
            <a:endParaRPr lang="en-US"/>
          </a:p>
        </p:txBody>
      </p:sp>
      <p:sp>
        <p:nvSpPr>
          <p:cNvPr id="5" name="Text 3"/>
          <p:cNvSpPr/>
          <p:nvPr/>
        </p:nvSpPr>
        <p:spPr>
          <a:xfrm>
            <a:off x="548640" y="1554480"/>
            <a:ext cx="1828800" cy="512064"/>
          </a:xfrm>
          <a:prstGeom prst="rect">
            <a:avLst/>
          </a:prstGeom>
          <a:noFill/>
          <a:ln/>
        </p:spPr>
        <p:txBody>
          <a:bodyPr wrap="square" lIns="0" tIns="0" rIns="0" bIns="0" rtlCol="0" anchor="ctr"/>
          <a:lstStyle/>
          <a:p>
            <a:pPr marL="0" indent="0" algn="ctr">
              <a:buNone/>
            </a:pPr>
            <a:r>
              <a:rPr lang="en-US" sz="1150" b="1" dirty="0">
                <a:solidFill>
                  <a:srgbClr val="132039"/>
                </a:solidFill>
                <a:latin typeface="Calibri" pitchFamily="34" charset="0"/>
                <a:ea typeface="Calibri" pitchFamily="34" charset="-122"/>
                <a:cs typeface="Calibri" pitchFamily="34" charset="-120"/>
              </a:rPr>
              <a:t>Pipeline logs</a:t>
            </a:r>
            <a:endParaRPr lang="en-US" sz="1150" dirty="0"/>
          </a:p>
        </p:txBody>
      </p:sp>
      <p:sp>
        <p:nvSpPr>
          <p:cNvPr id="6" name="Shape 4"/>
          <p:cNvSpPr/>
          <p:nvPr/>
        </p:nvSpPr>
        <p:spPr>
          <a:xfrm>
            <a:off x="548640" y="2212848"/>
            <a:ext cx="1828800" cy="512064"/>
          </a:xfrm>
          <a:prstGeom prst="roundRect">
            <a:avLst>
              <a:gd name="adj" fmla="val 14286"/>
            </a:avLst>
          </a:prstGeom>
          <a:solidFill>
            <a:srgbClr val="E9EEF4"/>
          </a:solidFill>
          <a:ln w="12700">
            <a:solidFill>
              <a:srgbClr val="C6D4E1"/>
            </a:solidFill>
            <a:prstDash val="solid"/>
          </a:ln>
        </p:spPr>
        <p:txBody>
          <a:bodyPr/>
          <a:lstStyle/>
          <a:p>
            <a:endParaRPr lang="en-US"/>
          </a:p>
        </p:txBody>
      </p:sp>
      <p:sp>
        <p:nvSpPr>
          <p:cNvPr id="7" name="Text 5"/>
          <p:cNvSpPr/>
          <p:nvPr/>
        </p:nvSpPr>
        <p:spPr>
          <a:xfrm>
            <a:off x="548640" y="2212848"/>
            <a:ext cx="1828800" cy="512064"/>
          </a:xfrm>
          <a:prstGeom prst="rect">
            <a:avLst/>
          </a:prstGeom>
          <a:noFill/>
          <a:ln/>
        </p:spPr>
        <p:txBody>
          <a:bodyPr wrap="square" lIns="0" tIns="0" rIns="0" bIns="0" rtlCol="0" anchor="ctr"/>
          <a:lstStyle/>
          <a:p>
            <a:pPr marL="0" indent="0" algn="ctr">
              <a:buNone/>
            </a:pPr>
            <a:r>
              <a:rPr lang="en-US" sz="1150" b="1" dirty="0">
                <a:solidFill>
                  <a:srgbClr val="132039"/>
                </a:solidFill>
                <a:latin typeface="Calibri" pitchFamily="34" charset="0"/>
                <a:ea typeface="Calibri" pitchFamily="34" charset="-122"/>
                <a:cs typeface="Calibri" pitchFamily="34" charset="-120"/>
              </a:rPr>
              <a:t>Execution history</a:t>
            </a:r>
            <a:endParaRPr lang="en-US" sz="1150" dirty="0"/>
          </a:p>
        </p:txBody>
      </p:sp>
      <p:sp>
        <p:nvSpPr>
          <p:cNvPr id="8" name="Shape 6"/>
          <p:cNvSpPr/>
          <p:nvPr/>
        </p:nvSpPr>
        <p:spPr>
          <a:xfrm>
            <a:off x="548640" y="2871216"/>
            <a:ext cx="1828800" cy="512064"/>
          </a:xfrm>
          <a:prstGeom prst="roundRect">
            <a:avLst>
              <a:gd name="adj" fmla="val 14286"/>
            </a:avLst>
          </a:prstGeom>
          <a:solidFill>
            <a:srgbClr val="E9EEF4"/>
          </a:solidFill>
          <a:ln w="12700">
            <a:solidFill>
              <a:srgbClr val="C6D4E1"/>
            </a:solidFill>
            <a:prstDash val="solid"/>
          </a:ln>
        </p:spPr>
        <p:txBody>
          <a:bodyPr/>
          <a:lstStyle/>
          <a:p>
            <a:endParaRPr lang="en-US"/>
          </a:p>
        </p:txBody>
      </p:sp>
      <p:sp>
        <p:nvSpPr>
          <p:cNvPr id="9" name="Text 7"/>
          <p:cNvSpPr/>
          <p:nvPr/>
        </p:nvSpPr>
        <p:spPr>
          <a:xfrm>
            <a:off x="548640" y="2871216"/>
            <a:ext cx="1828800" cy="512064"/>
          </a:xfrm>
          <a:prstGeom prst="rect">
            <a:avLst/>
          </a:prstGeom>
          <a:noFill/>
          <a:ln/>
        </p:spPr>
        <p:txBody>
          <a:bodyPr wrap="square" lIns="0" tIns="0" rIns="0" bIns="0" rtlCol="0" anchor="ctr"/>
          <a:lstStyle/>
          <a:p>
            <a:pPr marL="0" indent="0" algn="ctr">
              <a:buNone/>
            </a:pPr>
            <a:r>
              <a:rPr lang="en-US" sz="1150" b="1" dirty="0">
                <a:solidFill>
                  <a:srgbClr val="132039"/>
                </a:solidFill>
                <a:latin typeface="Calibri" pitchFamily="34" charset="0"/>
                <a:ea typeface="Calibri" pitchFamily="34" charset="-122"/>
                <a:cs typeface="Calibri" pitchFamily="34" charset="-120"/>
              </a:rPr>
              <a:t>Error messages</a:t>
            </a:r>
            <a:endParaRPr lang="en-US" sz="1150" dirty="0"/>
          </a:p>
        </p:txBody>
      </p:sp>
      <p:sp>
        <p:nvSpPr>
          <p:cNvPr id="10" name="Text 8"/>
          <p:cNvSpPr/>
          <p:nvPr/>
        </p:nvSpPr>
        <p:spPr>
          <a:xfrm>
            <a:off x="548640" y="3611880"/>
            <a:ext cx="1828800" cy="502920"/>
          </a:xfrm>
          <a:prstGeom prst="rect">
            <a:avLst/>
          </a:prstGeom>
          <a:noFill/>
          <a:ln/>
        </p:spPr>
        <p:txBody>
          <a:bodyPr wrap="square" lIns="0" tIns="0" rIns="0" bIns="0" rtlCol="0" anchor="ctr"/>
          <a:lstStyle/>
          <a:p>
            <a:pPr marL="0" indent="0" algn="ctr">
              <a:buNone/>
            </a:pPr>
            <a:r>
              <a:rPr lang="en-US" sz="1050" i="1" dirty="0">
                <a:solidFill>
                  <a:srgbClr val="5A6B80"/>
                </a:solidFill>
                <a:latin typeface="Calibri" pitchFamily="34" charset="0"/>
                <a:ea typeface="Calibri" pitchFamily="34" charset="-122"/>
                <a:cs typeface="Calibri" pitchFamily="34" charset="-120"/>
              </a:rPr>
              <a:t>from ADF · Airflow ·</a:t>
            </a:r>
            <a:endParaRPr lang="en-US" sz="1050" dirty="0"/>
          </a:p>
          <a:p>
            <a:pPr marL="0" indent="0" algn="ctr">
              <a:buNone/>
            </a:pPr>
            <a:r>
              <a:rPr lang="en-US" sz="1050" i="1" dirty="0">
                <a:solidFill>
                  <a:srgbClr val="5A6B80"/>
                </a:solidFill>
                <a:latin typeface="Calibri" pitchFamily="34" charset="0"/>
                <a:ea typeface="Calibri" pitchFamily="34" charset="-122"/>
                <a:cs typeface="Calibri" pitchFamily="34" charset="-120"/>
              </a:rPr>
              <a:t>Databricks · Synapse</a:t>
            </a:r>
            <a:endParaRPr lang="en-US" sz="1050" dirty="0"/>
          </a:p>
        </p:txBody>
      </p:sp>
      <p:sp>
        <p:nvSpPr>
          <p:cNvPr id="11" name="Shape 9"/>
          <p:cNvSpPr/>
          <p:nvPr/>
        </p:nvSpPr>
        <p:spPr>
          <a:xfrm>
            <a:off x="2606040" y="1554480"/>
            <a:ext cx="1280160" cy="2139696"/>
          </a:xfrm>
          <a:prstGeom prst="roundRect">
            <a:avLst>
              <a:gd name="adj" fmla="val 7143"/>
            </a:avLst>
          </a:prstGeom>
          <a:solidFill>
            <a:srgbClr val="E2661A"/>
          </a:solidFill>
          <a:ln w="12700">
            <a:solidFill>
              <a:srgbClr val="E2661A"/>
            </a:solidFill>
            <a:prstDash val="solid"/>
          </a:ln>
        </p:spPr>
        <p:txBody>
          <a:bodyPr/>
          <a:lstStyle/>
          <a:p>
            <a:endParaRPr lang="en-US"/>
          </a:p>
        </p:txBody>
      </p:sp>
      <p:sp>
        <p:nvSpPr>
          <p:cNvPr id="12" name="Text 10"/>
          <p:cNvSpPr/>
          <p:nvPr/>
        </p:nvSpPr>
        <p:spPr>
          <a:xfrm>
            <a:off x="2606040" y="1554480"/>
            <a:ext cx="1280160" cy="21396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Normalized</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failure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record</a:t>
            </a:r>
            <a:endParaRPr lang="en-US" sz="1250" dirty="0"/>
          </a:p>
        </p:txBody>
      </p:sp>
      <p:sp>
        <p:nvSpPr>
          <p:cNvPr id="13" name="Shape 11"/>
          <p:cNvSpPr/>
          <p:nvPr/>
        </p:nvSpPr>
        <p:spPr>
          <a:xfrm>
            <a:off x="4114800" y="1554480"/>
            <a:ext cx="3657600" cy="1078992"/>
          </a:xfrm>
          <a:prstGeom prst="roundRect">
            <a:avLst>
              <a:gd name="adj" fmla="val 8475"/>
            </a:avLst>
          </a:prstGeom>
          <a:solidFill>
            <a:srgbClr val="132039"/>
          </a:solidFill>
          <a:ln w="12700">
            <a:solidFill>
              <a:srgbClr val="132039"/>
            </a:solidFill>
            <a:prstDash val="solid"/>
          </a:ln>
        </p:spPr>
        <p:txBody>
          <a:bodyPr/>
          <a:lstStyle/>
          <a:p>
            <a:endParaRPr lang="en-US"/>
          </a:p>
        </p:txBody>
      </p:sp>
      <p:sp>
        <p:nvSpPr>
          <p:cNvPr id="14" name="Shape 12"/>
          <p:cNvSpPr/>
          <p:nvPr/>
        </p:nvSpPr>
        <p:spPr>
          <a:xfrm>
            <a:off x="4343400" y="1737360"/>
            <a:ext cx="384048" cy="384048"/>
          </a:xfrm>
          <a:prstGeom prst="ellipse">
            <a:avLst/>
          </a:prstGeom>
          <a:solidFill>
            <a:srgbClr val="E2661A"/>
          </a:solidFill>
          <a:ln w="12700">
            <a:solidFill>
              <a:srgbClr val="E2661A"/>
            </a:solidFill>
            <a:prstDash val="solid"/>
          </a:ln>
        </p:spPr>
        <p:txBody>
          <a:bodyPr/>
          <a:lstStyle/>
          <a:p>
            <a:endParaRPr lang="en-US"/>
          </a:p>
        </p:txBody>
      </p:sp>
      <p:sp>
        <p:nvSpPr>
          <p:cNvPr id="15" name="Text 13"/>
          <p:cNvSpPr/>
          <p:nvPr/>
        </p:nvSpPr>
        <p:spPr>
          <a:xfrm>
            <a:off x="4343400" y="173736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p:nvPr/>
        </p:nvSpPr>
        <p:spPr>
          <a:xfrm>
            <a:off x="4846320" y="1682496"/>
            <a:ext cx="2743200" cy="292608"/>
          </a:xfrm>
          <a:prstGeom prst="rect">
            <a:avLst/>
          </a:prstGeom>
          <a:noFill/>
          <a:ln/>
        </p:spPr>
        <p:txBody>
          <a:bodyPr wrap="square" lIns="0" tIns="0" rIns="0" bIns="0" rtlCol="0" anchor="ctr"/>
          <a:lstStyle/>
          <a:p>
            <a:pPr marL="0" indent="0">
              <a:buNone/>
            </a:pPr>
            <a:r>
              <a:rPr lang="en-US" sz="1500" b="1" dirty="0">
                <a:solidFill>
                  <a:srgbClr val="F5A25B"/>
                </a:solidFill>
                <a:latin typeface="Cambria" pitchFamily="34" charset="0"/>
                <a:ea typeface="Cambria" pitchFamily="34" charset="-122"/>
                <a:cs typeface="Cambria" pitchFamily="34" charset="-120"/>
              </a:rPr>
              <a:t>Retriever</a:t>
            </a:r>
            <a:endParaRPr lang="en-US" sz="1500" dirty="0"/>
          </a:p>
        </p:txBody>
      </p:sp>
      <p:sp>
        <p:nvSpPr>
          <p:cNvPr id="17" name="Text 15"/>
          <p:cNvSpPr/>
          <p:nvPr/>
        </p:nvSpPr>
        <p:spPr>
          <a:xfrm>
            <a:off x="4846320" y="1993392"/>
            <a:ext cx="2743200" cy="566928"/>
          </a:xfrm>
          <a:prstGeom prst="rect">
            <a:avLst/>
          </a:prstGeom>
          <a:noFill/>
          <a:ln/>
        </p:spPr>
        <p:txBody>
          <a:bodyPr wrap="square" lIns="0" tIns="0" rIns="0" bIns="0" rtlCol="0" anchor="ctr"/>
          <a:lstStyle/>
          <a:p>
            <a:pPr marL="0" indent="0">
              <a:buNone/>
            </a:pPr>
            <a:r>
              <a:rPr lang="en-US" sz="1050" dirty="0">
                <a:solidFill>
                  <a:srgbClr val="C9D6E4"/>
                </a:solidFill>
                <a:latin typeface="Calibri" pitchFamily="34" charset="0"/>
                <a:ea typeface="Calibri" pitchFamily="34" charset="-122"/>
                <a:cs typeface="Calibri" pitchFamily="34" charset="-120"/>
              </a:rPr>
              <a:t>Turns the question into a scoped query. Pulls the failing activity's window — never a raw log dump.</a:t>
            </a:r>
            <a:endParaRPr lang="en-US" sz="1050" dirty="0"/>
          </a:p>
        </p:txBody>
      </p:sp>
      <p:sp>
        <p:nvSpPr>
          <p:cNvPr id="18" name="Shape 16"/>
          <p:cNvSpPr/>
          <p:nvPr/>
        </p:nvSpPr>
        <p:spPr>
          <a:xfrm>
            <a:off x="7955280" y="1554480"/>
            <a:ext cx="3657600" cy="1078992"/>
          </a:xfrm>
          <a:prstGeom prst="roundRect">
            <a:avLst>
              <a:gd name="adj" fmla="val 8475"/>
            </a:avLst>
          </a:prstGeom>
          <a:solidFill>
            <a:srgbClr val="132039"/>
          </a:solidFill>
          <a:ln w="12700">
            <a:solidFill>
              <a:srgbClr val="132039"/>
            </a:solidFill>
            <a:prstDash val="solid"/>
          </a:ln>
        </p:spPr>
        <p:txBody>
          <a:bodyPr/>
          <a:lstStyle/>
          <a:p>
            <a:endParaRPr lang="en-US"/>
          </a:p>
        </p:txBody>
      </p:sp>
      <p:sp>
        <p:nvSpPr>
          <p:cNvPr id="19" name="Shape 17"/>
          <p:cNvSpPr/>
          <p:nvPr/>
        </p:nvSpPr>
        <p:spPr>
          <a:xfrm>
            <a:off x="8183880" y="1737360"/>
            <a:ext cx="384048" cy="384048"/>
          </a:xfrm>
          <a:prstGeom prst="ellipse">
            <a:avLst/>
          </a:prstGeom>
          <a:solidFill>
            <a:srgbClr val="E2661A"/>
          </a:solidFill>
          <a:ln w="12700">
            <a:solidFill>
              <a:srgbClr val="E2661A"/>
            </a:solidFill>
            <a:prstDash val="solid"/>
          </a:ln>
        </p:spPr>
        <p:txBody>
          <a:bodyPr/>
          <a:lstStyle/>
          <a:p>
            <a:endParaRPr lang="en-US"/>
          </a:p>
        </p:txBody>
      </p:sp>
      <p:sp>
        <p:nvSpPr>
          <p:cNvPr id="20" name="Text 18"/>
          <p:cNvSpPr/>
          <p:nvPr/>
        </p:nvSpPr>
        <p:spPr>
          <a:xfrm>
            <a:off x="8183880" y="173736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p:nvPr/>
        </p:nvSpPr>
        <p:spPr>
          <a:xfrm>
            <a:off x="8686800" y="1682496"/>
            <a:ext cx="2743200" cy="292608"/>
          </a:xfrm>
          <a:prstGeom prst="rect">
            <a:avLst/>
          </a:prstGeom>
          <a:noFill/>
          <a:ln/>
        </p:spPr>
        <p:txBody>
          <a:bodyPr wrap="square" lIns="0" tIns="0" rIns="0" bIns="0" rtlCol="0" anchor="ctr"/>
          <a:lstStyle/>
          <a:p>
            <a:pPr marL="0" indent="0">
              <a:buNone/>
            </a:pPr>
            <a:r>
              <a:rPr lang="en-US" sz="1500" b="1" dirty="0">
                <a:solidFill>
                  <a:srgbClr val="F5A25B"/>
                </a:solidFill>
                <a:latin typeface="Cambria" pitchFamily="34" charset="0"/>
                <a:ea typeface="Cambria" pitchFamily="34" charset="-122"/>
                <a:cs typeface="Cambria" pitchFamily="34" charset="-120"/>
              </a:rPr>
              <a:t>Diagnostician</a:t>
            </a:r>
            <a:endParaRPr lang="en-US" sz="1500" dirty="0"/>
          </a:p>
        </p:txBody>
      </p:sp>
      <p:sp>
        <p:nvSpPr>
          <p:cNvPr id="22" name="Text 20"/>
          <p:cNvSpPr/>
          <p:nvPr/>
        </p:nvSpPr>
        <p:spPr>
          <a:xfrm>
            <a:off x="8686800" y="1993392"/>
            <a:ext cx="2743200" cy="566928"/>
          </a:xfrm>
          <a:prstGeom prst="rect">
            <a:avLst/>
          </a:prstGeom>
          <a:noFill/>
          <a:ln/>
        </p:spPr>
        <p:txBody>
          <a:bodyPr wrap="square" lIns="0" tIns="0" rIns="0" bIns="0" rtlCol="0" anchor="ctr"/>
          <a:lstStyle/>
          <a:p>
            <a:pPr marL="0" indent="0">
              <a:buNone/>
            </a:pPr>
            <a:r>
              <a:rPr lang="en-US" sz="1050" dirty="0">
                <a:solidFill>
                  <a:srgbClr val="C9D6E4"/>
                </a:solidFill>
                <a:latin typeface="Calibri" pitchFamily="34" charset="0"/>
                <a:ea typeface="Calibri" pitchFamily="34" charset="-122"/>
                <a:cs typeface="Calibri" pitchFamily="34" charset="-120"/>
              </a:rPr>
              <a:t>Normalizes the error into a signature, then retrieves matching previously resolved failures.</a:t>
            </a:r>
            <a:endParaRPr lang="en-US" sz="1050" dirty="0"/>
          </a:p>
        </p:txBody>
      </p:sp>
      <p:sp>
        <p:nvSpPr>
          <p:cNvPr id="23" name="Shape 21"/>
          <p:cNvSpPr/>
          <p:nvPr/>
        </p:nvSpPr>
        <p:spPr>
          <a:xfrm>
            <a:off x="4114800" y="2788920"/>
            <a:ext cx="3657600" cy="1078992"/>
          </a:xfrm>
          <a:prstGeom prst="roundRect">
            <a:avLst>
              <a:gd name="adj" fmla="val 8475"/>
            </a:avLst>
          </a:prstGeom>
          <a:solidFill>
            <a:srgbClr val="132039"/>
          </a:solidFill>
          <a:ln w="12700">
            <a:solidFill>
              <a:srgbClr val="132039"/>
            </a:solidFill>
            <a:prstDash val="solid"/>
          </a:ln>
        </p:spPr>
        <p:txBody>
          <a:bodyPr/>
          <a:lstStyle/>
          <a:p>
            <a:endParaRPr lang="en-US"/>
          </a:p>
        </p:txBody>
      </p:sp>
      <p:sp>
        <p:nvSpPr>
          <p:cNvPr id="24" name="Shape 22"/>
          <p:cNvSpPr/>
          <p:nvPr/>
        </p:nvSpPr>
        <p:spPr>
          <a:xfrm>
            <a:off x="4343400" y="2971800"/>
            <a:ext cx="384048" cy="384048"/>
          </a:xfrm>
          <a:prstGeom prst="ellipse">
            <a:avLst/>
          </a:prstGeom>
          <a:solidFill>
            <a:srgbClr val="E2661A"/>
          </a:solidFill>
          <a:ln w="12700">
            <a:solidFill>
              <a:srgbClr val="E2661A"/>
            </a:solidFill>
            <a:prstDash val="solid"/>
          </a:ln>
        </p:spPr>
        <p:txBody>
          <a:bodyPr/>
          <a:lstStyle/>
          <a:p>
            <a:endParaRPr lang="en-US"/>
          </a:p>
        </p:txBody>
      </p:sp>
      <p:sp>
        <p:nvSpPr>
          <p:cNvPr id="25" name="Text 23"/>
          <p:cNvSpPr/>
          <p:nvPr/>
        </p:nvSpPr>
        <p:spPr>
          <a:xfrm>
            <a:off x="4343400" y="29718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p:nvPr/>
        </p:nvSpPr>
        <p:spPr>
          <a:xfrm>
            <a:off x="4846320" y="2916936"/>
            <a:ext cx="2743200" cy="292608"/>
          </a:xfrm>
          <a:prstGeom prst="rect">
            <a:avLst/>
          </a:prstGeom>
          <a:noFill/>
          <a:ln/>
        </p:spPr>
        <p:txBody>
          <a:bodyPr wrap="square" lIns="0" tIns="0" rIns="0" bIns="0" rtlCol="0" anchor="ctr"/>
          <a:lstStyle/>
          <a:p>
            <a:pPr marL="0" indent="0">
              <a:buNone/>
            </a:pPr>
            <a:r>
              <a:rPr lang="en-US" sz="1500" b="1" dirty="0">
                <a:solidFill>
                  <a:srgbClr val="F5A25B"/>
                </a:solidFill>
                <a:latin typeface="Cambria" pitchFamily="34" charset="0"/>
                <a:ea typeface="Cambria" pitchFamily="34" charset="-122"/>
                <a:cs typeface="Cambria" pitchFamily="34" charset="-120"/>
              </a:rPr>
              <a:t>Recommender</a:t>
            </a:r>
            <a:endParaRPr lang="en-US" sz="1500" dirty="0"/>
          </a:p>
        </p:txBody>
      </p:sp>
      <p:sp>
        <p:nvSpPr>
          <p:cNvPr id="27" name="Text 25"/>
          <p:cNvSpPr/>
          <p:nvPr/>
        </p:nvSpPr>
        <p:spPr>
          <a:xfrm>
            <a:off x="4846320" y="3227832"/>
            <a:ext cx="2743200" cy="566928"/>
          </a:xfrm>
          <a:prstGeom prst="rect">
            <a:avLst/>
          </a:prstGeom>
          <a:noFill/>
          <a:ln/>
        </p:spPr>
        <p:txBody>
          <a:bodyPr wrap="square" lIns="0" tIns="0" rIns="0" bIns="0" rtlCol="0" anchor="ctr"/>
          <a:lstStyle/>
          <a:p>
            <a:pPr marL="0" indent="0">
              <a:buNone/>
            </a:pPr>
            <a:r>
              <a:rPr lang="en-US" sz="1050" dirty="0">
                <a:solidFill>
                  <a:srgbClr val="C9D6E4"/>
                </a:solidFill>
                <a:latin typeface="Calibri" pitchFamily="34" charset="0"/>
                <a:ea typeface="Calibri" pitchFamily="34" charset="-122"/>
                <a:cs typeface="Calibri" pitchFamily="34" charset="-120"/>
              </a:rPr>
              <a:t>Ranks corrective actions by observed success rate, each with its source citation.</a:t>
            </a:r>
            <a:endParaRPr lang="en-US" sz="1050" dirty="0"/>
          </a:p>
        </p:txBody>
      </p:sp>
      <p:sp>
        <p:nvSpPr>
          <p:cNvPr id="28" name="Shape 26"/>
          <p:cNvSpPr/>
          <p:nvPr/>
        </p:nvSpPr>
        <p:spPr>
          <a:xfrm>
            <a:off x="7955280" y="2788920"/>
            <a:ext cx="3657600" cy="1078992"/>
          </a:xfrm>
          <a:prstGeom prst="roundRect">
            <a:avLst>
              <a:gd name="adj" fmla="val 8475"/>
            </a:avLst>
          </a:prstGeom>
          <a:solidFill>
            <a:srgbClr val="132039"/>
          </a:solidFill>
          <a:ln w="12700">
            <a:solidFill>
              <a:srgbClr val="132039"/>
            </a:solidFill>
            <a:prstDash val="solid"/>
          </a:ln>
        </p:spPr>
        <p:txBody>
          <a:bodyPr/>
          <a:lstStyle/>
          <a:p>
            <a:endParaRPr lang="en-US"/>
          </a:p>
        </p:txBody>
      </p:sp>
      <p:sp>
        <p:nvSpPr>
          <p:cNvPr id="29" name="Shape 27"/>
          <p:cNvSpPr/>
          <p:nvPr/>
        </p:nvSpPr>
        <p:spPr>
          <a:xfrm>
            <a:off x="8183880" y="2971800"/>
            <a:ext cx="384048" cy="384048"/>
          </a:xfrm>
          <a:prstGeom prst="ellipse">
            <a:avLst/>
          </a:prstGeom>
          <a:solidFill>
            <a:srgbClr val="E2661A"/>
          </a:solidFill>
          <a:ln w="12700">
            <a:solidFill>
              <a:srgbClr val="E2661A"/>
            </a:solidFill>
            <a:prstDash val="solid"/>
          </a:ln>
        </p:spPr>
        <p:txBody>
          <a:bodyPr/>
          <a:lstStyle/>
          <a:p>
            <a:endParaRPr lang="en-US"/>
          </a:p>
        </p:txBody>
      </p:sp>
      <p:sp>
        <p:nvSpPr>
          <p:cNvPr id="30" name="Text 28"/>
          <p:cNvSpPr/>
          <p:nvPr/>
        </p:nvSpPr>
        <p:spPr>
          <a:xfrm>
            <a:off x="8183880" y="29718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p:nvPr/>
        </p:nvSpPr>
        <p:spPr>
          <a:xfrm>
            <a:off x="8686800" y="2916936"/>
            <a:ext cx="2743200" cy="292608"/>
          </a:xfrm>
          <a:prstGeom prst="rect">
            <a:avLst/>
          </a:prstGeom>
          <a:noFill/>
          <a:ln/>
        </p:spPr>
        <p:txBody>
          <a:bodyPr wrap="square" lIns="0" tIns="0" rIns="0" bIns="0" rtlCol="0" anchor="ctr"/>
          <a:lstStyle/>
          <a:p>
            <a:pPr marL="0" indent="0">
              <a:buNone/>
            </a:pPr>
            <a:r>
              <a:rPr lang="en-US" sz="1500" b="1" dirty="0">
                <a:solidFill>
                  <a:srgbClr val="F5A25B"/>
                </a:solidFill>
                <a:latin typeface="Cambria" pitchFamily="34" charset="0"/>
                <a:ea typeface="Cambria" pitchFamily="34" charset="-122"/>
                <a:cs typeface="Cambria" pitchFamily="34" charset="-120"/>
              </a:rPr>
              <a:t>Operator</a:t>
            </a:r>
            <a:endParaRPr lang="en-US" sz="1500" dirty="0"/>
          </a:p>
        </p:txBody>
      </p:sp>
      <p:sp>
        <p:nvSpPr>
          <p:cNvPr id="32" name="Text 30"/>
          <p:cNvSpPr/>
          <p:nvPr/>
        </p:nvSpPr>
        <p:spPr>
          <a:xfrm>
            <a:off x="8686800" y="3227832"/>
            <a:ext cx="2743200" cy="566928"/>
          </a:xfrm>
          <a:prstGeom prst="rect">
            <a:avLst/>
          </a:prstGeom>
          <a:noFill/>
          <a:ln/>
        </p:spPr>
        <p:txBody>
          <a:bodyPr wrap="square" lIns="0" tIns="0" rIns="0" bIns="0" rtlCol="0" anchor="ctr"/>
          <a:lstStyle/>
          <a:p>
            <a:pPr marL="0" indent="0">
              <a:buNone/>
            </a:pPr>
            <a:r>
              <a:rPr lang="en-US" sz="1050" dirty="0">
                <a:solidFill>
                  <a:srgbClr val="C9D6E4"/>
                </a:solidFill>
                <a:latin typeface="Calibri" pitchFamily="34" charset="0"/>
                <a:ea typeface="Calibri" pitchFamily="34" charset="-122"/>
                <a:cs typeface="Calibri" pitchFamily="34" charset="-120"/>
              </a:rPr>
              <a:t>Executes approved actions through an allow-listed tool set and writes an audit record.</a:t>
            </a:r>
            <a:endParaRPr lang="en-US" sz="1050" dirty="0"/>
          </a:p>
        </p:txBody>
      </p:sp>
      <p:sp>
        <p:nvSpPr>
          <p:cNvPr id="33" name="Shape 31"/>
          <p:cNvSpPr/>
          <p:nvPr/>
        </p:nvSpPr>
        <p:spPr>
          <a:xfrm>
            <a:off x="2606040" y="4297680"/>
            <a:ext cx="9006840" cy="914400"/>
          </a:xfrm>
          <a:prstGeom prst="roundRect">
            <a:avLst>
              <a:gd name="adj" fmla="val 12000"/>
            </a:avLst>
          </a:prstGeom>
          <a:solidFill>
            <a:srgbClr val="FDEFE3"/>
          </a:solidFill>
          <a:ln w="12700">
            <a:solidFill>
              <a:srgbClr val="E2661A"/>
            </a:solidFill>
            <a:prstDash val="solid"/>
          </a:ln>
        </p:spPr>
        <p:txBody>
          <a:bodyPr/>
          <a:lstStyle/>
          <a:p>
            <a:endParaRPr lang="en-US"/>
          </a:p>
        </p:txBody>
      </p:sp>
      <p:sp>
        <p:nvSpPr>
          <p:cNvPr id="34" name="Text 32"/>
          <p:cNvSpPr/>
          <p:nvPr/>
        </p:nvSpPr>
        <p:spPr>
          <a:xfrm>
            <a:off x="2880360" y="4434840"/>
            <a:ext cx="2011680" cy="274320"/>
          </a:xfrm>
          <a:prstGeom prst="rect">
            <a:avLst/>
          </a:prstGeom>
          <a:noFill/>
          <a:ln/>
        </p:spPr>
        <p:txBody>
          <a:bodyPr wrap="square" lIns="0" tIns="0" rIns="0" bIns="0" rtlCol="0" anchor="ctr"/>
          <a:lstStyle/>
          <a:p>
            <a:pPr marL="0" indent="0">
              <a:buNone/>
            </a:pPr>
            <a:r>
              <a:rPr lang="en-US" sz="1400" b="1" dirty="0">
                <a:solidFill>
                  <a:srgbClr val="B04A0F"/>
                </a:solidFill>
                <a:latin typeface="Cambria" pitchFamily="34" charset="0"/>
                <a:ea typeface="Cambria" pitchFamily="34" charset="-122"/>
                <a:cs typeface="Cambria" pitchFamily="34" charset="-120"/>
              </a:rPr>
              <a:t>Learning loop</a:t>
            </a:r>
            <a:endParaRPr lang="en-US" sz="1400" dirty="0"/>
          </a:p>
        </p:txBody>
      </p:sp>
      <p:sp>
        <p:nvSpPr>
          <p:cNvPr id="35" name="Text 33"/>
          <p:cNvSpPr/>
          <p:nvPr/>
        </p:nvSpPr>
        <p:spPr>
          <a:xfrm>
            <a:off x="4892040" y="4434840"/>
            <a:ext cx="6492240" cy="640080"/>
          </a:xfrm>
          <a:prstGeom prst="rect">
            <a:avLst/>
          </a:prstGeom>
          <a:noFill/>
          <a:ln/>
        </p:spPr>
        <p:txBody>
          <a:bodyPr wrap="square" lIns="0" tIns="0" rIns="0" bIns="0" rtlCol="0" anchor="ctr"/>
          <a:lstStyle/>
          <a:p>
            <a:pPr marL="0" indent="0">
              <a:buNone/>
            </a:pPr>
            <a:r>
              <a:rPr lang="en-US" sz="1200" dirty="0">
                <a:solidFill>
                  <a:srgbClr val="132039"/>
                </a:solidFill>
                <a:latin typeface="Calibri" pitchFamily="34" charset="0"/>
                <a:ea typeface="Calibri" pitchFamily="34" charset="-122"/>
                <a:cs typeface="Calibri" pitchFamily="34" charset="-120"/>
              </a:rPr>
              <a:t>Every confirmed resolution is written back with its outcome — the next occurrence is answered from memory, not re-reasoned.</a:t>
            </a:r>
            <a:endParaRPr lang="en-US" sz="1200" dirty="0"/>
          </a:p>
        </p:txBody>
      </p:sp>
      <p:sp>
        <p:nvSpPr>
          <p:cNvPr id="36" name="Text 34"/>
          <p:cNvSpPr/>
          <p:nvPr/>
        </p:nvSpPr>
        <p:spPr>
          <a:xfrm>
            <a:off x="548640" y="5486400"/>
            <a:ext cx="11064240" cy="320040"/>
          </a:xfrm>
          <a:prstGeom prst="rect">
            <a:avLst/>
          </a:prstGeom>
          <a:noFill/>
          <a:ln/>
        </p:spPr>
        <p:txBody>
          <a:bodyPr wrap="square" lIns="0" tIns="0" rIns="0" bIns="0" rtlCol="0" anchor="ctr"/>
          <a:lstStyle/>
          <a:p>
            <a:pPr marL="0" indent="0">
              <a:buNone/>
            </a:pPr>
            <a:r>
              <a:rPr lang="en-US" sz="1150" i="1" dirty="0">
                <a:solidFill>
                  <a:srgbClr val="5A6B80"/>
                </a:solidFill>
                <a:latin typeface="Calibri" pitchFamily="34" charset="0"/>
                <a:ea typeface="Calibri" pitchFamily="34" charset="-122"/>
                <a:cs typeface="Calibri" pitchFamily="34" charset="-120"/>
              </a:rPr>
              <a:t>Vector store of resolved failures  ·  error-signature clustering  ·  redaction at ingest  ·  model behind an abstraction layer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039"/>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F5A25B"/>
                </a:solidFill>
                <a:latin typeface="Calibri" pitchFamily="34" charset="0"/>
                <a:ea typeface="Calibri" pitchFamily="34" charset="-122"/>
                <a:cs typeface="Calibri" pitchFamily="34" charset="-120"/>
              </a:rPr>
              <a:t>INNOVATIVE USE OF AGENTIC AI</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Four properties a chatbot does not have</a:t>
            </a:r>
            <a:endParaRPr lang="en-US" sz="3200" dirty="0"/>
          </a:p>
        </p:txBody>
      </p:sp>
      <p:sp>
        <p:nvSpPr>
          <p:cNvPr id="4" name="Shape 2"/>
          <p:cNvSpPr/>
          <p:nvPr/>
        </p:nvSpPr>
        <p:spPr>
          <a:xfrm>
            <a:off x="548640" y="1508760"/>
            <a:ext cx="2578608" cy="3108960"/>
          </a:xfrm>
          <a:prstGeom prst="roundRect">
            <a:avLst>
              <a:gd name="adj" fmla="val 4965"/>
            </a:avLst>
          </a:prstGeom>
          <a:solidFill>
            <a:srgbClr val="E2661A"/>
          </a:solidFill>
          <a:ln w="12700">
            <a:solidFill>
              <a:srgbClr val="E2661A"/>
            </a:solidFill>
            <a:prstDash val="solid"/>
          </a:ln>
        </p:spPr>
        <p:txBody>
          <a:bodyPr/>
          <a:lstStyle/>
          <a:p>
            <a:endParaRPr lang="en-US"/>
          </a:p>
        </p:txBody>
      </p:sp>
      <p:sp>
        <p:nvSpPr>
          <p:cNvPr id="5" name="Text 3"/>
          <p:cNvSpPr/>
          <p:nvPr/>
        </p:nvSpPr>
        <p:spPr>
          <a:xfrm>
            <a:off x="822960" y="1783080"/>
            <a:ext cx="2103120" cy="8229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Plans</a:t>
            </a:r>
            <a:endParaRPr lang="en-US" sz="2200" dirty="0"/>
          </a:p>
        </p:txBody>
      </p:sp>
      <p:sp>
        <p:nvSpPr>
          <p:cNvPr id="6" name="Text 4"/>
          <p:cNvSpPr/>
          <p:nvPr/>
        </p:nvSpPr>
        <p:spPr>
          <a:xfrm>
            <a:off x="822960" y="2606040"/>
            <a:ext cx="2103120" cy="1828800"/>
          </a:xfrm>
          <a:prstGeom prst="rect">
            <a:avLst/>
          </a:prstGeom>
          <a:noFill/>
          <a:ln/>
        </p:spPr>
        <p:txBody>
          <a:bodyPr wrap="square" lIns="0" tIns="0" rIns="0" bIns="0" rtlCol="0" anchor="ctr"/>
          <a:lstStyle/>
          <a:p>
            <a:pPr marL="0" indent="0">
              <a:buNone/>
            </a:pPr>
            <a:r>
              <a:rPr lang="en-US" sz="1200" dirty="0">
                <a:solidFill>
                  <a:srgbClr val="FFEBDA"/>
                </a:solidFill>
                <a:latin typeface="Calibri" pitchFamily="34" charset="0"/>
                <a:ea typeface="Calibri" pitchFamily="34" charset="-122"/>
                <a:cs typeface="Calibri" pitchFamily="34" charset="-120"/>
              </a:rPr>
              <a:t>Decomposes a question into retrieve → diagnose → rank → act, and re-plans when a step returns nothing useful.</a:t>
            </a:r>
            <a:endParaRPr lang="en-US" sz="1200" dirty="0"/>
          </a:p>
        </p:txBody>
      </p:sp>
      <p:sp>
        <p:nvSpPr>
          <p:cNvPr id="7" name="Shape 5"/>
          <p:cNvSpPr/>
          <p:nvPr/>
        </p:nvSpPr>
        <p:spPr>
          <a:xfrm>
            <a:off x="3355848" y="1508760"/>
            <a:ext cx="2578608" cy="3108960"/>
          </a:xfrm>
          <a:prstGeom prst="roundRect">
            <a:avLst>
              <a:gd name="adj" fmla="val 4965"/>
            </a:avLst>
          </a:prstGeom>
          <a:solidFill>
            <a:srgbClr val="22344F"/>
          </a:solidFill>
          <a:ln w="12700">
            <a:solidFill>
              <a:srgbClr val="34456E"/>
            </a:solidFill>
            <a:prstDash val="solid"/>
          </a:ln>
        </p:spPr>
        <p:txBody>
          <a:bodyPr/>
          <a:lstStyle/>
          <a:p>
            <a:endParaRPr lang="en-US"/>
          </a:p>
        </p:txBody>
      </p:sp>
      <p:sp>
        <p:nvSpPr>
          <p:cNvPr id="8" name="Text 6"/>
          <p:cNvSpPr/>
          <p:nvPr/>
        </p:nvSpPr>
        <p:spPr>
          <a:xfrm>
            <a:off x="3630168" y="1783080"/>
            <a:ext cx="2103120" cy="822960"/>
          </a:xfrm>
          <a:prstGeom prst="rect">
            <a:avLst/>
          </a:prstGeom>
          <a:noFill/>
          <a:ln/>
        </p:spPr>
        <p:txBody>
          <a:bodyPr wrap="square" lIns="0" tIns="0" rIns="0" bIns="0" rtlCol="0" anchor="ctr"/>
          <a:lstStyle/>
          <a:p>
            <a:pPr marL="0" indent="0">
              <a:buNone/>
            </a:pPr>
            <a:r>
              <a:rPr lang="en-US" sz="2200" b="1" dirty="0">
                <a:solidFill>
                  <a:srgbClr val="F5A25B"/>
                </a:solidFill>
                <a:latin typeface="Cambria" pitchFamily="34" charset="0"/>
                <a:ea typeface="Cambria" pitchFamily="34" charset="-122"/>
                <a:cs typeface="Cambria" pitchFamily="34" charset="-120"/>
              </a:rPr>
              <a:t>Uses tools</a:t>
            </a:r>
            <a:endParaRPr lang="en-US" sz="2200" dirty="0"/>
          </a:p>
        </p:txBody>
      </p:sp>
      <p:sp>
        <p:nvSpPr>
          <p:cNvPr id="9" name="Text 7"/>
          <p:cNvSpPr/>
          <p:nvPr/>
        </p:nvSpPr>
        <p:spPr>
          <a:xfrm>
            <a:off x="3630168" y="2606040"/>
            <a:ext cx="2103120" cy="1828800"/>
          </a:xfrm>
          <a:prstGeom prst="rect">
            <a:avLst/>
          </a:prstGeom>
          <a:noFill/>
          <a:ln/>
        </p:spPr>
        <p:txBody>
          <a:bodyPr wrap="square" lIns="0" tIns="0" rIns="0" bIns="0" rtlCol="0" anchor="ctr"/>
          <a:lstStyle/>
          <a:p>
            <a:pPr marL="0" indent="0">
              <a:buNone/>
            </a:pPr>
            <a:r>
              <a:rPr lang="en-US" sz="1200" dirty="0">
                <a:solidFill>
                  <a:srgbClr val="BCCBDD"/>
                </a:solidFill>
                <a:latin typeface="Calibri" pitchFamily="34" charset="0"/>
                <a:ea typeface="Calibri" pitchFamily="34" charset="-122"/>
                <a:cs typeface="Calibri" pitchFamily="34" charset="-120"/>
              </a:rPr>
              <a:t>Queries execution history and runs backfills through a real, allow-listed tool set — not text about tools.</a:t>
            </a:r>
            <a:endParaRPr lang="en-US" sz="1200" dirty="0"/>
          </a:p>
        </p:txBody>
      </p:sp>
      <p:sp>
        <p:nvSpPr>
          <p:cNvPr id="10" name="Shape 8"/>
          <p:cNvSpPr/>
          <p:nvPr/>
        </p:nvSpPr>
        <p:spPr>
          <a:xfrm>
            <a:off x="6163056" y="1508760"/>
            <a:ext cx="2578608" cy="3108960"/>
          </a:xfrm>
          <a:prstGeom prst="roundRect">
            <a:avLst>
              <a:gd name="adj" fmla="val 4965"/>
            </a:avLst>
          </a:prstGeom>
          <a:solidFill>
            <a:srgbClr val="22344F"/>
          </a:solidFill>
          <a:ln w="12700">
            <a:solidFill>
              <a:srgbClr val="34456E"/>
            </a:solidFill>
            <a:prstDash val="solid"/>
          </a:ln>
        </p:spPr>
        <p:txBody>
          <a:bodyPr/>
          <a:lstStyle/>
          <a:p>
            <a:endParaRPr lang="en-US"/>
          </a:p>
        </p:txBody>
      </p:sp>
      <p:sp>
        <p:nvSpPr>
          <p:cNvPr id="11" name="Text 9"/>
          <p:cNvSpPr/>
          <p:nvPr/>
        </p:nvSpPr>
        <p:spPr>
          <a:xfrm>
            <a:off x="6437376" y="1783080"/>
            <a:ext cx="2103120" cy="822960"/>
          </a:xfrm>
          <a:prstGeom prst="rect">
            <a:avLst/>
          </a:prstGeom>
          <a:noFill/>
          <a:ln/>
        </p:spPr>
        <p:txBody>
          <a:bodyPr wrap="square" lIns="0" tIns="0" rIns="0" bIns="0" rtlCol="0" anchor="ctr"/>
          <a:lstStyle/>
          <a:p>
            <a:pPr marL="0" indent="0">
              <a:buNone/>
            </a:pPr>
            <a:r>
              <a:rPr lang="en-US" sz="2200" b="1" dirty="0">
                <a:solidFill>
                  <a:srgbClr val="F5A25B"/>
                </a:solidFill>
                <a:latin typeface="Cambria" pitchFamily="34" charset="0"/>
                <a:ea typeface="Cambria" pitchFamily="34" charset="-122"/>
                <a:cs typeface="Cambria" pitchFamily="34" charset="-120"/>
              </a:rPr>
              <a:t>Remembers</a:t>
            </a:r>
            <a:endParaRPr lang="en-US" sz="2200" dirty="0"/>
          </a:p>
        </p:txBody>
      </p:sp>
      <p:sp>
        <p:nvSpPr>
          <p:cNvPr id="12" name="Text 10"/>
          <p:cNvSpPr/>
          <p:nvPr/>
        </p:nvSpPr>
        <p:spPr>
          <a:xfrm>
            <a:off x="6437376" y="2606040"/>
            <a:ext cx="2103120" cy="1828800"/>
          </a:xfrm>
          <a:prstGeom prst="rect">
            <a:avLst/>
          </a:prstGeom>
          <a:noFill/>
          <a:ln/>
        </p:spPr>
        <p:txBody>
          <a:bodyPr wrap="square" lIns="0" tIns="0" rIns="0" bIns="0" rtlCol="0" anchor="ctr"/>
          <a:lstStyle/>
          <a:p>
            <a:pPr marL="0" indent="0">
              <a:buNone/>
            </a:pPr>
            <a:r>
              <a:rPr lang="en-US" sz="1200" dirty="0">
                <a:solidFill>
                  <a:srgbClr val="BCCBDD"/>
                </a:solidFill>
                <a:latin typeface="Calibri" pitchFamily="34" charset="0"/>
                <a:ea typeface="Calibri" pitchFamily="34" charset="-122"/>
                <a:cs typeface="Calibri" pitchFamily="34" charset="-120"/>
              </a:rPr>
              <a:t>Each resolved failure becomes retrievable context, so the same problem is cheaper the second time.</a:t>
            </a:r>
            <a:endParaRPr lang="en-US" sz="1200" dirty="0"/>
          </a:p>
        </p:txBody>
      </p:sp>
      <p:sp>
        <p:nvSpPr>
          <p:cNvPr id="13" name="Shape 11"/>
          <p:cNvSpPr/>
          <p:nvPr/>
        </p:nvSpPr>
        <p:spPr>
          <a:xfrm>
            <a:off x="8970264" y="1508760"/>
            <a:ext cx="2578608" cy="3108960"/>
          </a:xfrm>
          <a:prstGeom prst="roundRect">
            <a:avLst>
              <a:gd name="adj" fmla="val 4965"/>
            </a:avLst>
          </a:prstGeom>
          <a:solidFill>
            <a:srgbClr val="22344F"/>
          </a:solidFill>
          <a:ln w="12700">
            <a:solidFill>
              <a:srgbClr val="34456E"/>
            </a:solidFill>
            <a:prstDash val="solid"/>
          </a:ln>
        </p:spPr>
        <p:txBody>
          <a:bodyPr/>
          <a:lstStyle/>
          <a:p>
            <a:endParaRPr lang="en-US"/>
          </a:p>
        </p:txBody>
      </p:sp>
      <p:sp>
        <p:nvSpPr>
          <p:cNvPr id="14" name="Text 12"/>
          <p:cNvSpPr/>
          <p:nvPr/>
        </p:nvSpPr>
        <p:spPr>
          <a:xfrm>
            <a:off x="9244584" y="1783080"/>
            <a:ext cx="2103120" cy="822960"/>
          </a:xfrm>
          <a:prstGeom prst="rect">
            <a:avLst/>
          </a:prstGeom>
          <a:noFill/>
          <a:ln/>
        </p:spPr>
        <p:txBody>
          <a:bodyPr wrap="square" lIns="0" tIns="0" rIns="0" bIns="0" rtlCol="0" anchor="ctr"/>
          <a:lstStyle/>
          <a:p>
            <a:pPr marL="0" indent="0">
              <a:buNone/>
            </a:pPr>
            <a:r>
              <a:rPr lang="en-US" sz="2200" b="1" dirty="0">
                <a:solidFill>
                  <a:srgbClr val="F5A25B"/>
                </a:solidFill>
                <a:latin typeface="Cambria" pitchFamily="34" charset="0"/>
                <a:ea typeface="Cambria" pitchFamily="34" charset="-122"/>
                <a:cs typeface="Cambria" pitchFamily="34" charset="-120"/>
              </a:rPr>
              <a:t>Knows when to stop</a:t>
            </a:r>
            <a:endParaRPr lang="en-US" sz="2200" dirty="0"/>
          </a:p>
        </p:txBody>
      </p:sp>
      <p:sp>
        <p:nvSpPr>
          <p:cNvPr id="15" name="Text 13"/>
          <p:cNvSpPr/>
          <p:nvPr/>
        </p:nvSpPr>
        <p:spPr>
          <a:xfrm>
            <a:off x="9244584" y="2606040"/>
            <a:ext cx="2103120" cy="1828800"/>
          </a:xfrm>
          <a:prstGeom prst="rect">
            <a:avLst/>
          </a:prstGeom>
          <a:noFill/>
          <a:ln/>
        </p:spPr>
        <p:txBody>
          <a:bodyPr wrap="square" lIns="0" tIns="0" rIns="0" bIns="0" rtlCol="0" anchor="ctr"/>
          <a:lstStyle/>
          <a:p>
            <a:pPr marL="0" indent="0">
              <a:buNone/>
            </a:pPr>
            <a:r>
              <a:rPr lang="en-US" sz="1200" dirty="0">
                <a:solidFill>
                  <a:srgbClr val="BCCBDD"/>
                </a:solidFill>
                <a:latin typeface="Calibri" pitchFamily="34" charset="0"/>
                <a:ea typeface="Calibri" pitchFamily="34" charset="-122"/>
                <a:cs typeface="Calibri" pitchFamily="34" charset="-120"/>
              </a:rPr>
              <a:t>Below a confidence threshold it abstains and escalates. A wrong root cause costs more than no root cause.</a:t>
            </a:r>
            <a:endParaRPr lang="en-US" sz="1200" dirty="0"/>
          </a:p>
        </p:txBody>
      </p:sp>
      <p:sp>
        <p:nvSpPr>
          <p:cNvPr id="16" name="Shape 14"/>
          <p:cNvSpPr/>
          <p:nvPr/>
        </p:nvSpPr>
        <p:spPr>
          <a:xfrm>
            <a:off x="548640" y="4892040"/>
            <a:ext cx="11064240" cy="960120"/>
          </a:xfrm>
          <a:prstGeom prst="roundRect">
            <a:avLst>
              <a:gd name="adj" fmla="val 11429"/>
            </a:avLst>
          </a:prstGeom>
          <a:solidFill>
            <a:srgbClr val="22344F"/>
          </a:solidFill>
          <a:ln w="12700">
            <a:solidFill>
              <a:srgbClr val="E2661A"/>
            </a:solidFill>
            <a:prstDash val="solid"/>
          </a:ln>
        </p:spPr>
        <p:txBody>
          <a:bodyPr/>
          <a:lstStyle/>
          <a:p>
            <a:endParaRPr lang="en-US"/>
          </a:p>
        </p:txBody>
      </p:sp>
      <p:sp>
        <p:nvSpPr>
          <p:cNvPr id="17" name="Text 15"/>
          <p:cNvSpPr/>
          <p:nvPr/>
        </p:nvSpPr>
        <p:spPr>
          <a:xfrm>
            <a:off x="914400" y="5010912"/>
            <a:ext cx="3657600" cy="292608"/>
          </a:xfrm>
          <a:prstGeom prst="rect">
            <a:avLst/>
          </a:prstGeom>
          <a:noFill/>
          <a:ln/>
        </p:spPr>
        <p:txBody>
          <a:bodyPr wrap="square" lIns="0" tIns="0" rIns="0" bIns="0" rtlCol="0" anchor="ctr"/>
          <a:lstStyle/>
          <a:p>
            <a:pPr marL="0" indent="0">
              <a:buNone/>
            </a:pPr>
            <a:r>
              <a:rPr lang="en-US" sz="1400" b="1" dirty="0">
                <a:solidFill>
                  <a:srgbClr val="F5A25B"/>
                </a:solidFill>
                <a:latin typeface="Cambria" pitchFamily="34" charset="0"/>
                <a:ea typeface="Cambria" pitchFamily="34" charset="-122"/>
                <a:cs typeface="Cambria" pitchFamily="34" charset="-120"/>
              </a:rPr>
              <a:t>Autonomy is graded, not binary.</a:t>
            </a:r>
            <a:endParaRPr lang="en-US" sz="1400" dirty="0"/>
          </a:p>
        </p:txBody>
      </p:sp>
      <p:sp>
        <p:nvSpPr>
          <p:cNvPr id="18" name="Text 16"/>
          <p:cNvSpPr/>
          <p:nvPr/>
        </p:nvSpPr>
        <p:spPr>
          <a:xfrm>
            <a:off x="914400" y="5349240"/>
            <a:ext cx="1033272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Explain-only in Phase 1  ·  propose-and-approve in Phase 3  ·  auto-remediate reserved for signature-matched failures with a proven fix, and only if you switch it on.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CONSTRAINT TO MECHANISM</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Every constraint has a control behind it</a:t>
            </a:r>
            <a:endParaRPr lang="en-US" sz="3200" dirty="0"/>
          </a:p>
        </p:txBody>
      </p:sp>
      <p:sp>
        <p:nvSpPr>
          <p:cNvPr id="4" name="Shape 2"/>
          <p:cNvSpPr/>
          <p:nvPr/>
        </p:nvSpPr>
        <p:spPr>
          <a:xfrm>
            <a:off x="548640" y="1463040"/>
            <a:ext cx="2926080" cy="914400"/>
          </a:xfrm>
          <a:prstGeom prst="roundRect">
            <a:avLst>
              <a:gd name="adj" fmla="val 10000"/>
            </a:avLst>
          </a:prstGeom>
          <a:solidFill>
            <a:srgbClr val="E2661A"/>
          </a:solidFill>
          <a:ln w="12700">
            <a:solidFill>
              <a:srgbClr val="E2661A"/>
            </a:solidFill>
            <a:prstDash val="solid"/>
          </a:ln>
        </p:spPr>
        <p:txBody>
          <a:bodyPr/>
          <a:lstStyle/>
          <a:p>
            <a:endParaRPr lang="en-US"/>
          </a:p>
        </p:txBody>
      </p:sp>
      <p:sp>
        <p:nvSpPr>
          <p:cNvPr id="5" name="Text 3"/>
          <p:cNvSpPr/>
          <p:nvPr/>
        </p:nvSpPr>
        <p:spPr>
          <a:xfrm>
            <a:off x="685800" y="1463040"/>
            <a:ext cx="265176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Secure production data</a:t>
            </a:r>
            <a:endParaRPr lang="en-US" sz="1500" dirty="0"/>
          </a:p>
        </p:txBody>
      </p:sp>
      <p:sp>
        <p:nvSpPr>
          <p:cNvPr id="6" name="Shape 4"/>
          <p:cNvSpPr/>
          <p:nvPr/>
        </p:nvSpPr>
        <p:spPr>
          <a:xfrm>
            <a:off x="3547872" y="1828800"/>
            <a:ext cx="201168" cy="182880"/>
          </a:xfrm>
          <a:prstGeom prst="rightArrow">
            <a:avLst/>
          </a:prstGeom>
          <a:solidFill>
            <a:srgbClr val="E2661A"/>
          </a:solidFill>
          <a:ln w="12700">
            <a:solidFill>
              <a:srgbClr val="E2661A"/>
            </a:solidFill>
            <a:prstDash val="solid"/>
          </a:ln>
        </p:spPr>
        <p:txBody>
          <a:bodyPr/>
          <a:lstStyle/>
          <a:p>
            <a:endParaRPr lang="en-US"/>
          </a:p>
        </p:txBody>
      </p:sp>
      <p:sp>
        <p:nvSpPr>
          <p:cNvPr id="7" name="Shape 5"/>
          <p:cNvSpPr/>
          <p:nvPr/>
        </p:nvSpPr>
        <p:spPr>
          <a:xfrm>
            <a:off x="3840480" y="1463040"/>
            <a:ext cx="7772400" cy="914400"/>
          </a:xfrm>
          <a:prstGeom prst="roundRect">
            <a:avLst>
              <a:gd name="adj" fmla="val 10000"/>
            </a:avLst>
          </a:prstGeom>
          <a:solidFill>
            <a:srgbClr val="E9EEF4"/>
          </a:solidFill>
          <a:ln w="12700">
            <a:solidFill>
              <a:srgbClr val="E9EEF4"/>
            </a:solidFill>
            <a:prstDash val="solid"/>
          </a:ln>
        </p:spPr>
        <p:txBody>
          <a:bodyPr/>
          <a:lstStyle/>
          <a:p>
            <a:endParaRPr lang="en-US"/>
          </a:p>
        </p:txBody>
      </p:sp>
      <p:sp>
        <p:nvSpPr>
          <p:cNvPr id="8" name="Text 6"/>
          <p:cNvSpPr/>
          <p:nvPr/>
        </p:nvSpPr>
        <p:spPr>
          <a:xfrm>
            <a:off x="4160520" y="1463040"/>
            <a:ext cx="7223760" cy="914400"/>
          </a:xfrm>
          <a:prstGeom prst="rect">
            <a:avLst/>
          </a:prstGeom>
          <a:noFill/>
          <a:ln/>
        </p:spPr>
        <p:txBody>
          <a:bodyPr wrap="square" lIns="0" tIns="0" rIns="0" bIns="0" rtlCol="0" anchor="ctr"/>
          <a:lstStyle/>
          <a:p>
            <a:pPr marL="0" indent="0">
              <a:buNone/>
            </a:pPr>
            <a:r>
              <a:rPr lang="en-US" sz="1250" dirty="0">
                <a:solidFill>
                  <a:srgbClr val="132039"/>
                </a:solidFill>
                <a:latin typeface="Calibri" pitchFamily="34" charset="0"/>
                <a:ea typeface="Calibri" pitchFamily="34" charset="-122"/>
                <a:cs typeface="Calibri" pitchFamily="34" charset="-120"/>
              </a:rPr>
              <a:t>Redaction at ingest strips secrets, connection strings and PII from log text before retrieval. Nothing leaves the existing platform trust boundary.</a:t>
            </a:r>
            <a:endParaRPr lang="en-US" sz="1250" dirty="0"/>
          </a:p>
        </p:txBody>
      </p:sp>
      <p:sp>
        <p:nvSpPr>
          <p:cNvPr id="9" name="Shape 7"/>
          <p:cNvSpPr/>
          <p:nvPr/>
        </p:nvSpPr>
        <p:spPr>
          <a:xfrm>
            <a:off x="548640" y="2560320"/>
            <a:ext cx="2926080" cy="914400"/>
          </a:xfrm>
          <a:prstGeom prst="roundRect">
            <a:avLst>
              <a:gd name="adj" fmla="val 10000"/>
            </a:avLst>
          </a:prstGeom>
          <a:solidFill>
            <a:srgbClr val="E2661A"/>
          </a:solidFill>
          <a:ln w="12700">
            <a:solidFill>
              <a:srgbClr val="E2661A"/>
            </a:solidFill>
            <a:prstDash val="solid"/>
          </a:ln>
        </p:spPr>
        <p:txBody>
          <a:bodyPr/>
          <a:lstStyle/>
          <a:p>
            <a:endParaRPr lang="en-US"/>
          </a:p>
        </p:txBody>
      </p:sp>
      <p:sp>
        <p:nvSpPr>
          <p:cNvPr id="10" name="Text 8"/>
          <p:cNvSpPr/>
          <p:nvPr/>
        </p:nvSpPr>
        <p:spPr>
          <a:xfrm>
            <a:off x="685800" y="2560320"/>
            <a:ext cx="265176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Explainable responses</a:t>
            </a:r>
            <a:endParaRPr lang="en-US" sz="1500" dirty="0"/>
          </a:p>
        </p:txBody>
      </p:sp>
      <p:sp>
        <p:nvSpPr>
          <p:cNvPr id="11" name="Shape 9"/>
          <p:cNvSpPr/>
          <p:nvPr/>
        </p:nvSpPr>
        <p:spPr>
          <a:xfrm>
            <a:off x="3547872" y="2926080"/>
            <a:ext cx="201168" cy="182880"/>
          </a:xfrm>
          <a:prstGeom prst="rightArrow">
            <a:avLst/>
          </a:prstGeom>
          <a:solidFill>
            <a:srgbClr val="E2661A"/>
          </a:solidFill>
          <a:ln w="12700">
            <a:solidFill>
              <a:srgbClr val="E2661A"/>
            </a:solidFill>
            <a:prstDash val="solid"/>
          </a:ln>
        </p:spPr>
        <p:txBody>
          <a:bodyPr/>
          <a:lstStyle/>
          <a:p>
            <a:endParaRPr lang="en-US"/>
          </a:p>
        </p:txBody>
      </p:sp>
      <p:sp>
        <p:nvSpPr>
          <p:cNvPr id="12" name="Shape 10"/>
          <p:cNvSpPr/>
          <p:nvPr/>
        </p:nvSpPr>
        <p:spPr>
          <a:xfrm>
            <a:off x="3840480" y="2560320"/>
            <a:ext cx="7772400" cy="914400"/>
          </a:xfrm>
          <a:prstGeom prst="roundRect">
            <a:avLst>
              <a:gd name="adj" fmla="val 10000"/>
            </a:avLst>
          </a:prstGeom>
          <a:solidFill>
            <a:srgbClr val="E9EEF4"/>
          </a:solidFill>
          <a:ln w="12700">
            <a:solidFill>
              <a:srgbClr val="E9EEF4"/>
            </a:solidFill>
            <a:prstDash val="solid"/>
          </a:ln>
        </p:spPr>
        <p:txBody>
          <a:bodyPr/>
          <a:lstStyle/>
          <a:p>
            <a:endParaRPr lang="en-US"/>
          </a:p>
        </p:txBody>
      </p:sp>
      <p:sp>
        <p:nvSpPr>
          <p:cNvPr id="13" name="Text 11"/>
          <p:cNvSpPr/>
          <p:nvPr/>
        </p:nvSpPr>
        <p:spPr>
          <a:xfrm>
            <a:off x="4160520" y="2560320"/>
            <a:ext cx="7223760" cy="914400"/>
          </a:xfrm>
          <a:prstGeom prst="rect">
            <a:avLst/>
          </a:prstGeom>
          <a:noFill/>
          <a:ln/>
        </p:spPr>
        <p:txBody>
          <a:bodyPr wrap="square" lIns="0" tIns="0" rIns="0" bIns="0" rtlCol="0" anchor="ctr"/>
          <a:lstStyle/>
          <a:p>
            <a:pPr marL="0" indent="0">
              <a:buNone/>
            </a:pPr>
            <a:r>
              <a:rPr lang="en-US" sz="1250" dirty="0">
                <a:solidFill>
                  <a:srgbClr val="132039"/>
                </a:solidFill>
                <a:latin typeface="Calibri" pitchFamily="34" charset="0"/>
                <a:ea typeface="Calibri" pitchFamily="34" charset="-122"/>
                <a:cs typeface="Calibri" pitchFamily="34" charset="-120"/>
              </a:rPr>
              <a:t>Answers are assembled only from retrieved evidence, each claim linked to its run or log line. Uncited claims are suppressed, not smoothed over.</a:t>
            </a:r>
            <a:endParaRPr lang="en-US" sz="1250" dirty="0"/>
          </a:p>
        </p:txBody>
      </p:sp>
      <p:sp>
        <p:nvSpPr>
          <p:cNvPr id="14" name="Shape 12"/>
          <p:cNvSpPr/>
          <p:nvPr/>
        </p:nvSpPr>
        <p:spPr>
          <a:xfrm>
            <a:off x="548640" y="3657600"/>
            <a:ext cx="2926080" cy="914400"/>
          </a:xfrm>
          <a:prstGeom prst="roundRect">
            <a:avLst>
              <a:gd name="adj" fmla="val 10000"/>
            </a:avLst>
          </a:prstGeom>
          <a:solidFill>
            <a:srgbClr val="E2661A"/>
          </a:solidFill>
          <a:ln w="12700">
            <a:solidFill>
              <a:srgbClr val="E2661A"/>
            </a:solidFill>
            <a:prstDash val="solid"/>
          </a:ln>
        </p:spPr>
        <p:txBody>
          <a:bodyPr/>
          <a:lstStyle/>
          <a:p>
            <a:endParaRPr lang="en-US"/>
          </a:p>
        </p:txBody>
      </p:sp>
      <p:sp>
        <p:nvSpPr>
          <p:cNvPr id="15" name="Text 13"/>
          <p:cNvSpPr/>
          <p:nvPr/>
        </p:nvSpPr>
        <p:spPr>
          <a:xfrm>
            <a:off x="685800" y="3657600"/>
            <a:ext cx="265176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Valid roles for actions</a:t>
            </a:r>
            <a:endParaRPr lang="en-US" sz="1500" dirty="0"/>
          </a:p>
        </p:txBody>
      </p:sp>
      <p:sp>
        <p:nvSpPr>
          <p:cNvPr id="16" name="Shape 14"/>
          <p:cNvSpPr/>
          <p:nvPr/>
        </p:nvSpPr>
        <p:spPr>
          <a:xfrm>
            <a:off x="3547872" y="4023360"/>
            <a:ext cx="201168" cy="182880"/>
          </a:xfrm>
          <a:prstGeom prst="rightArrow">
            <a:avLst/>
          </a:prstGeom>
          <a:solidFill>
            <a:srgbClr val="E2661A"/>
          </a:solidFill>
          <a:ln w="12700">
            <a:solidFill>
              <a:srgbClr val="E2661A"/>
            </a:solidFill>
            <a:prstDash val="solid"/>
          </a:ln>
        </p:spPr>
        <p:txBody>
          <a:bodyPr/>
          <a:lstStyle/>
          <a:p>
            <a:endParaRPr lang="en-US"/>
          </a:p>
        </p:txBody>
      </p:sp>
      <p:sp>
        <p:nvSpPr>
          <p:cNvPr id="17" name="Shape 15"/>
          <p:cNvSpPr/>
          <p:nvPr/>
        </p:nvSpPr>
        <p:spPr>
          <a:xfrm>
            <a:off x="3840480" y="3657600"/>
            <a:ext cx="7772400" cy="914400"/>
          </a:xfrm>
          <a:prstGeom prst="roundRect">
            <a:avLst>
              <a:gd name="adj" fmla="val 10000"/>
            </a:avLst>
          </a:prstGeom>
          <a:solidFill>
            <a:srgbClr val="E9EEF4"/>
          </a:solidFill>
          <a:ln w="12700">
            <a:solidFill>
              <a:srgbClr val="E9EEF4"/>
            </a:solidFill>
            <a:prstDash val="solid"/>
          </a:ln>
        </p:spPr>
        <p:txBody>
          <a:bodyPr/>
          <a:lstStyle/>
          <a:p>
            <a:endParaRPr lang="en-US"/>
          </a:p>
        </p:txBody>
      </p:sp>
      <p:sp>
        <p:nvSpPr>
          <p:cNvPr id="18" name="Text 16"/>
          <p:cNvSpPr/>
          <p:nvPr/>
        </p:nvSpPr>
        <p:spPr>
          <a:xfrm>
            <a:off x="4160520" y="3657600"/>
            <a:ext cx="7223760" cy="914400"/>
          </a:xfrm>
          <a:prstGeom prst="rect">
            <a:avLst/>
          </a:prstGeom>
          <a:noFill/>
          <a:ln/>
        </p:spPr>
        <p:txBody>
          <a:bodyPr wrap="square" lIns="0" tIns="0" rIns="0" bIns="0" rtlCol="0" anchor="ctr"/>
          <a:lstStyle/>
          <a:p>
            <a:pPr marL="0" indent="0">
              <a:buNone/>
            </a:pPr>
            <a:r>
              <a:rPr lang="en-US" sz="1250" dirty="0">
                <a:solidFill>
                  <a:srgbClr val="132039"/>
                </a:solidFill>
                <a:latin typeface="Calibri" pitchFamily="34" charset="0"/>
                <a:ea typeface="Calibri" pitchFamily="34" charset="-122"/>
                <a:cs typeface="Calibri" pitchFamily="34" charset="-120"/>
              </a:rPr>
              <a:t>Entitlements are re-checked against the target workspace at execution time. The agent inherits no standing privilege and cannot widen its own scope.</a:t>
            </a:r>
            <a:endParaRPr lang="en-US" sz="1250" dirty="0"/>
          </a:p>
        </p:txBody>
      </p:sp>
      <p:sp>
        <p:nvSpPr>
          <p:cNvPr id="19" name="Shape 17"/>
          <p:cNvSpPr/>
          <p:nvPr/>
        </p:nvSpPr>
        <p:spPr>
          <a:xfrm>
            <a:off x="548640" y="4754880"/>
            <a:ext cx="2926080" cy="914400"/>
          </a:xfrm>
          <a:prstGeom prst="roundRect">
            <a:avLst>
              <a:gd name="adj" fmla="val 10000"/>
            </a:avLst>
          </a:prstGeom>
          <a:solidFill>
            <a:srgbClr val="E2661A"/>
          </a:solidFill>
          <a:ln w="12700">
            <a:solidFill>
              <a:srgbClr val="E2661A"/>
            </a:solidFill>
            <a:prstDash val="solid"/>
          </a:ln>
        </p:spPr>
        <p:txBody>
          <a:bodyPr/>
          <a:lstStyle/>
          <a:p>
            <a:endParaRPr lang="en-US"/>
          </a:p>
        </p:txBody>
      </p:sp>
      <p:sp>
        <p:nvSpPr>
          <p:cNvPr id="20" name="Text 18"/>
          <p:cNvSpPr/>
          <p:nvPr/>
        </p:nvSpPr>
        <p:spPr>
          <a:xfrm>
            <a:off x="685800" y="4754880"/>
            <a:ext cx="265176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Cloud agnostic design</a:t>
            </a:r>
            <a:endParaRPr lang="en-US" sz="1500" dirty="0"/>
          </a:p>
        </p:txBody>
      </p:sp>
      <p:sp>
        <p:nvSpPr>
          <p:cNvPr id="21" name="Shape 19"/>
          <p:cNvSpPr/>
          <p:nvPr/>
        </p:nvSpPr>
        <p:spPr>
          <a:xfrm>
            <a:off x="3547872" y="5120640"/>
            <a:ext cx="201168" cy="182880"/>
          </a:xfrm>
          <a:prstGeom prst="rightArrow">
            <a:avLst/>
          </a:prstGeom>
          <a:solidFill>
            <a:srgbClr val="E2661A"/>
          </a:solidFill>
          <a:ln w="12700">
            <a:solidFill>
              <a:srgbClr val="E2661A"/>
            </a:solidFill>
            <a:prstDash val="solid"/>
          </a:ln>
        </p:spPr>
        <p:txBody>
          <a:bodyPr/>
          <a:lstStyle/>
          <a:p>
            <a:endParaRPr lang="en-US"/>
          </a:p>
        </p:txBody>
      </p:sp>
      <p:sp>
        <p:nvSpPr>
          <p:cNvPr id="22" name="Shape 20"/>
          <p:cNvSpPr/>
          <p:nvPr/>
        </p:nvSpPr>
        <p:spPr>
          <a:xfrm>
            <a:off x="3840480" y="4754880"/>
            <a:ext cx="7772400" cy="914400"/>
          </a:xfrm>
          <a:prstGeom prst="roundRect">
            <a:avLst>
              <a:gd name="adj" fmla="val 10000"/>
            </a:avLst>
          </a:prstGeom>
          <a:solidFill>
            <a:srgbClr val="E9EEF4"/>
          </a:solidFill>
          <a:ln w="12700">
            <a:solidFill>
              <a:srgbClr val="E9EEF4"/>
            </a:solidFill>
            <a:prstDash val="solid"/>
          </a:ln>
        </p:spPr>
        <p:txBody>
          <a:bodyPr/>
          <a:lstStyle/>
          <a:p>
            <a:endParaRPr lang="en-US"/>
          </a:p>
        </p:txBody>
      </p:sp>
      <p:sp>
        <p:nvSpPr>
          <p:cNvPr id="23" name="Text 21"/>
          <p:cNvSpPr/>
          <p:nvPr/>
        </p:nvSpPr>
        <p:spPr>
          <a:xfrm>
            <a:off x="4160520" y="4754880"/>
            <a:ext cx="7223760" cy="914400"/>
          </a:xfrm>
          <a:prstGeom prst="rect">
            <a:avLst/>
          </a:prstGeom>
          <a:noFill/>
          <a:ln/>
        </p:spPr>
        <p:txBody>
          <a:bodyPr wrap="square" lIns="0" tIns="0" rIns="0" bIns="0" rtlCol="0" anchor="ctr"/>
          <a:lstStyle/>
          <a:p>
            <a:pPr marL="0" indent="0">
              <a:buNone/>
            </a:pPr>
            <a:r>
              <a:rPr lang="en-US" sz="1250" dirty="0">
                <a:solidFill>
                  <a:srgbClr val="132039"/>
                </a:solidFill>
                <a:latin typeface="Calibri" pitchFamily="34" charset="0"/>
                <a:ea typeface="Calibri" pitchFamily="34" charset="-122"/>
                <a:cs typeface="Calibri" pitchFamily="34" charset="-120"/>
              </a:rPr>
              <a:t>Platform differences are absorbed by adapters into one failure record. A new orchestrator is an adapter, not a change to the agents.</a:t>
            </a:r>
            <a:endParaRPr lang="en-US" sz="1250" dirty="0"/>
          </a:p>
        </p:txBody>
      </p:sp>
      <p:sp>
        <p:nvSpPr>
          <p:cNvPr id="24" name="Text 22"/>
          <p:cNvSpPr/>
          <p:nvPr/>
        </p:nvSpPr>
        <p:spPr>
          <a:xfrm>
            <a:off x="548640" y="5943600"/>
            <a:ext cx="11064240" cy="365760"/>
          </a:xfrm>
          <a:prstGeom prst="rect">
            <a:avLst/>
          </a:prstGeom>
          <a:noFill/>
          <a:ln/>
        </p:spPr>
        <p:txBody>
          <a:bodyPr wrap="square" lIns="0" tIns="0" rIns="0" bIns="0" rtlCol="0" anchor="ctr"/>
          <a:lstStyle/>
          <a:p>
            <a:pPr marL="0" indent="0">
              <a:buNone/>
            </a:pPr>
            <a:r>
              <a:rPr lang="en-US" sz="1350" b="1" i="1" dirty="0">
                <a:solidFill>
                  <a:srgbClr val="B04A0F"/>
                </a:solidFill>
                <a:latin typeface="Calibri" pitchFamily="34" charset="0"/>
                <a:ea typeface="Calibri" pitchFamily="34" charset="-122"/>
                <a:cs typeface="Calibri" pitchFamily="34" charset="-120"/>
              </a:rPr>
              <a:t>Secure and governed implementation: the assistant adds a decision log, not a new trust boundary.</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SUCCESS CRITERIA — FROM THE BUSINESS CASE</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Five criteria, five ways we prove them</a:t>
            </a:r>
            <a:endParaRPr lang="en-US" sz="3200" dirty="0"/>
          </a:p>
        </p:txBody>
      </p:sp>
      <p:sp>
        <p:nvSpPr>
          <p:cNvPr id="4" name="Text 2"/>
          <p:cNvSpPr/>
          <p:nvPr/>
        </p:nvSpPr>
        <p:spPr>
          <a:xfrm>
            <a:off x="685800" y="1371600"/>
            <a:ext cx="2377440" cy="228600"/>
          </a:xfrm>
          <a:prstGeom prst="rect">
            <a:avLst/>
          </a:prstGeom>
          <a:noFill/>
          <a:ln/>
        </p:spPr>
        <p:txBody>
          <a:bodyPr wrap="square" lIns="0" tIns="0" rIns="0" bIns="0" rtlCol="0" anchor="ctr"/>
          <a:lstStyle/>
          <a:p>
            <a:pPr marL="0" indent="0">
              <a:buNone/>
            </a:pPr>
            <a:r>
              <a:rPr lang="en-US" sz="950" b="1" kern="0" spc="200" dirty="0">
                <a:solidFill>
                  <a:srgbClr val="5A6B80"/>
                </a:solidFill>
                <a:latin typeface="Calibri" pitchFamily="34" charset="0"/>
                <a:ea typeface="Calibri" pitchFamily="34" charset="-122"/>
                <a:cs typeface="Calibri" pitchFamily="34" charset="-120"/>
              </a:rPr>
              <a:t>CRITERION</a:t>
            </a:r>
            <a:endParaRPr lang="en-US" sz="950" dirty="0"/>
          </a:p>
        </p:txBody>
      </p:sp>
      <p:sp>
        <p:nvSpPr>
          <p:cNvPr id="5" name="Text 3"/>
          <p:cNvSpPr/>
          <p:nvPr/>
        </p:nvSpPr>
        <p:spPr>
          <a:xfrm>
            <a:off x="3429000" y="1371600"/>
            <a:ext cx="4206240" cy="228600"/>
          </a:xfrm>
          <a:prstGeom prst="rect">
            <a:avLst/>
          </a:prstGeom>
          <a:noFill/>
          <a:ln/>
        </p:spPr>
        <p:txBody>
          <a:bodyPr wrap="square" lIns="0" tIns="0" rIns="0" bIns="0" rtlCol="0" anchor="ctr"/>
          <a:lstStyle/>
          <a:p>
            <a:pPr marL="0" indent="0">
              <a:buNone/>
            </a:pPr>
            <a:r>
              <a:rPr lang="en-US" sz="950" b="1" kern="0" spc="200" dirty="0">
                <a:solidFill>
                  <a:srgbClr val="5A6B80"/>
                </a:solidFill>
                <a:latin typeface="Calibri" pitchFamily="34" charset="0"/>
                <a:ea typeface="Calibri" pitchFamily="34" charset="-122"/>
                <a:cs typeface="Calibri" pitchFamily="34" charset="-120"/>
              </a:rPr>
              <a:t>HOW WE DELIVER IT</a:t>
            </a:r>
            <a:endParaRPr lang="en-US" sz="950" dirty="0"/>
          </a:p>
        </p:txBody>
      </p:sp>
      <p:sp>
        <p:nvSpPr>
          <p:cNvPr id="6" name="Text 4"/>
          <p:cNvSpPr/>
          <p:nvPr/>
        </p:nvSpPr>
        <p:spPr>
          <a:xfrm>
            <a:off x="8092440" y="1371600"/>
            <a:ext cx="3291840" cy="228600"/>
          </a:xfrm>
          <a:prstGeom prst="rect">
            <a:avLst/>
          </a:prstGeom>
          <a:noFill/>
          <a:ln/>
        </p:spPr>
        <p:txBody>
          <a:bodyPr wrap="square" lIns="0" tIns="0" rIns="0" bIns="0" rtlCol="0" anchor="ctr"/>
          <a:lstStyle/>
          <a:p>
            <a:pPr marL="0" indent="0">
              <a:buNone/>
            </a:pPr>
            <a:r>
              <a:rPr lang="en-US" sz="950" b="1" kern="0" spc="200" dirty="0">
                <a:solidFill>
                  <a:srgbClr val="5A6B80"/>
                </a:solidFill>
                <a:latin typeface="Calibri" pitchFamily="34" charset="0"/>
                <a:ea typeface="Calibri" pitchFamily="34" charset="-122"/>
                <a:cs typeface="Calibri" pitchFamily="34" charset="-120"/>
              </a:rPr>
              <a:t>HOW WE MEASURE IT</a:t>
            </a:r>
            <a:endParaRPr lang="en-US" sz="950" dirty="0"/>
          </a:p>
        </p:txBody>
      </p:sp>
      <p:sp>
        <p:nvSpPr>
          <p:cNvPr id="7" name="Shape 5"/>
          <p:cNvSpPr/>
          <p:nvPr/>
        </p:nvSpPr>
        <p:spPr>
          <a:xfrm>
            <a:off x="548640" y="1645920"/>
            <a:ext cx="2743200" cy="768096"/>
          </a:xfrm>
          <a:prstGeom prst="roundRect">
            <a:avLst>
              <a:gd name="adj" fmla="val 10714"/>
            </a:avLst>
          </a:prstGeom>
          <a:solidFill>
            <a:srgbClr val="E2661A"/>
          </a:solidFill>
          <a:ln w="12700">
            <a:solidFill>
              <a:srgbClr val="E2661A"/>
            </a:solidFill>
            <a:prstDash val="solid"/>
          </a:ln>
        </p:spPr>
        <p:txBody>
          <a:bodyPr/>
          <a:lstStyle/>
          <a:p>
            <a:endParaRPr lang="en-US"/>
          </a:p>
        </p:txBody>
      </p:sp>
      <p:sp>
        <p:nvSpPr>
          <p:cNvPr id="8" name="Text 6"/>
          <p:cNvSpPr/>
          <p:nvPr/>
        </p:nvSpPr>
        <p:spPr>
          <a:xfrm>
            <a:off x="685800" y="1645920"/>
            <a:ext cx="2468880" cy="768096"/>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Accurate failure analysis</a:t>
            </a:r>
            <a:endParaRPr lang="en-US" sz="1250" dirty="0"/>
          </a:p>
        </p:txBody>
      </p:sp>
      <p:sp>
        <p:nvSpPr>
          <p:cNvPr id="9" name="Shape 7"/>
          <p:cNvSpPr/>
          <p:nvPr/>
        </p:nvSpPr>
        <p:spPr>
          <a:xfrm>
            <a:off x="3383280" y="1645920"/>
            <a:ext cx="4572000" cy="768096"/>
          </a:xfrm>
          <a:prstGeom prst="roundRect">
            <a:avLst>
              <a:gd name="adj" fmla="val 10714"/>
            </a:avLst>
          </a:prstGeom>
          <a:solidFill>
            <a:srgbClr val="E9EEF4"/>
          </a:solidFill>
          <a:ln w="12700">
            <a:solidFill>
              <a:srgbClr val="E9EEF4"/>
            </a:solidFill>
            <a:prstDash val="solid"/>
          </a:ln>
        </p:spPr>
        <p:txBody>
          <a:bodyPr/>
          <a:lstStyle/>
          <a:p>
            <a:endParaRPr lang="en-US"/>
          </a:p>
        </p:txBody>
      </p:sp>
      <p:sp>
        <p:nvSpPr>
          <p:cNvPr id="10" name="Text 8"/>
          <p:cNvSpPr/>
          <p:nvPr/>
        </p:nvSpPr>
        <p:spPr>
          <a:xfrm>
            <a:off x="3566160" y="1645920"/>
            <a:ext cx="4251960" cy="768096"/>
          </a:xfrm>
          <a:prstGeom prst="rect">
            <a:avLst/>
          </a:prstGeom>
          <a:noFill/>
          <a:ln/>
        </p:spPr>
        <p:txBody>
          <a:bodyPr wrap="square" lIns="0" tIns="0" rIns="0" bIns="0" rtlCol="0" anchor="ctr"/>
          <a:lstStyle/>
          <a:p>
            <a:pPr marL="0" indent="0">
              <a:buNone/>
            </a:pPr>
            <a:r>
              <a:rPr lang="en-US" sz="1050" dirty="0">
                <a:solidFill>
                  <a:srgbClr val="132039"/>
                </a:solidFill>
                <a:latin typeface="Calibri" pitchFamily="34" charset="0"/>
                <a:ea typeface="Calibri" pitchFamily="34" charset="-122"/>
                <a:cs typeface="Calibri" pitchFamily="34" charset="-120"/>
              </a:rPr>
              <a:t>Signature match over execution history first, grounded generation second — the model never invents a cause.</a:t>
            </a:r>
            <a:endParaRPr lang="en-US" sz="1050" dirty="0"/>
          </a:p>
        </p:txBody>
      </p:sp>
      <p:sp>
        <p:nvSpPr>
          <p:cNvPr id="11" name="Shape 9"/>
          <p:cNvSpPr/>
          <p:nvPr/>
        </p:nvSpPr>
        <p:spPr>
          <a:xfrm>
            <a:off x="8046720" y="1645920"/>
            <a:ext cx="3566160" cy="768096"/>
          </a:xfrm>
          <a:prstGeom prst="roundRect">
            <a:avLst>
              <a:gd name="adj" fmla="val 10714"/>
            </a:avLst>
          </a:prstGeom>
          <a:solidFill>
            <a:srgbClr val="FDEFE3"/>
          </a:solidFill>
          <a:ln w="12700">
            <a:solidFill>
              <a:srgbClr val="F5A25B"/>
            </a:solidFill>
            <a:prstDash val="solid"/>
          </a:ln>
        </p:spPr>
        <p:txBody>
          <a:bodyPr/>
          <a:lstStyle/>
          <a:p>
            <a:endParaRPr lang="en-US"/>
          </a:p>
        </p:txBody>
      </p:sp>
      <p:sp>
        <p:nvSpPr>
          <p:cNvPr id="12" name="Text 10"/>
          <p:cNvSpPr/>
          <p:nvPr/>
        </p:nvSpPr>
        <p:spPr>
          <a:xfrm>
            <a:off x="8229600" y="1645920"/>
            <a:ext cx="3246120" cy="768096"/>
          </a:xfrm>
          <a:prstGeom prst="rect">
            <a:avLst/>
          </a:prstGeom>
          <a:noFill/>
          <a:ln/>
        </p:spPr>
        <p:txBody>
          <a:bodyPr wrap="square" lIns="0" tIns="0" rIns="0" bIns="0" rtlCol="0" anchor="ctr"/>
          <a:lstStyle/>
          <a:p>
            <a:pPr marL="0" indent="0">
              <a:buNone/>
            </a:pPr>
            <a:r>
              <a:rPr lang="en-US" sz="1050" b="1" dirty="0">
                <a:solidFill>
                  <a:srgbClr val="B04A0F"/>
                </a:solidFill>
                <a:latin typeface="Calibri" pitchFamily="34" charset="0"/>
                <a:ea typeface="Calibri" pitchFamily="34" charset="-122"/>
                <a:cs typeface="Calibri" pitchFamily="34" charset="-120"/>
              </a:rPr>
              <a:t>Precision@1 on a replay of 90 days of real failures</a:t>
            </a:r>
            <a:endParaRPr lang="en-US" sz="1050" dirty="0"/>
          </a:p>
        </p:txBody>
      </p:sp>
      <p:sp>
        <p:nvSpPr>
          <p:cNvPr id="13" name="Shape 11"/>
          <p:cNvSpPr/>
          <p:nvPr/>
        </p:nvSpPr>
        <p:spPr>
          <a:xfrm>
            <a:off x="548640" y="2496312"/>
            <a:ext cx="2743200" cy="768096"/>
          </a:xfrm>
          <a:prstGeom prst="roundRect">
            <a:avLst>
              <a:gd name="adj" fmla="val 10714"/>
            </a:avLst>
          </a:prstGeom>
          <a:solidFill>
            <a:srgbClr val="E2661A"/>
          </a:solidFill>
          <a:ln w="12700">
            <a:solidFill>
              <a:srgbClr val="E2661A"/>
            </a:solidFill>
            <a:prstDash val="solid"/>
          </a:ln>
        </p:spPr>
        <p:txBody>
          <a:bodyPr/>
          <a:lstStyle/>
          <a:p>
            <a:endParaRPr lang="en-US"/>
          </a:p>
        </p:txBody>
      </p:sp>
      <p:sp>
        <p:nvSpPr>
          <p:cNvPr id="14" name="Text 12"/>
          <p:cNvSpPr/>
          <p:nvPr/>
        </p:nvSpPr>
        <p:spPr>
          <a:xfrm>
            <a:off x="685800" y="2496312"/>
            <a:ext cx="2468880" cy="768096"/>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High-quality recommendations</a:t>
            </a:r>
            <a:endParaRPr lang="en-US" sz="1250" dirty="0"/>
          </a:p>
        </p:txBody>
      </p:sp>
      <p:sp>
        <p:nvSpPr>
          <p:cNvPr id="15" name="Shape 13"/>
          <p:cNvSpPr/>
          <p:nvPr/>
        </p:nvSpPr>
        <p:spPr>
          <a:xfrm>
            <a:off x="3383280" y="2496312"/>
            <a:ext cx="4572000" cy="768096"/>
          </a:xfrm>
          <a:prstGeom prst="roundRect">
            <a:avLst>
              <a:gd name="adj" fmla="val 10714"/>
            </a:avLst>
          </a:prstGeom>
          <a:solidFill>
            <a:srgbClr val="E9EEF4"/>
          </a:solidFill>
          <a:ln w="12700">
            <a:solidFill>
              <a:srgbClr val="E9EEF4"/>
            </a:solidFill>
            <a:prstDash val="solid"/>
          </a:ln>
        </p:spPr>
        <p:txBody>
          <a:bodyPr/>
          <a:lstStyle/>
          <a:p>
            <a:endParaRPr lang="en-US"/>
          </a:p>
        </p:txBody>
      </p:sp>
      <p:sp>
        <p:nvSpPr>
          <p:cNvPr id="16" name="Text 14"/>
          <p:cNvSpPr/>
          <p:nvPr/>
        </p:nvSpPr>
        <p:spPr>
          <a:xfrm>
            <a:off x="3566160" y="2496312"/>
            <a:ext cx="4251960" cy="768096"/>
          </a:xfrm>
          <a:prstGeom prst="rect">
            <a:avLst/>
          </a:prstGeom>
          <a:noFill/>
          <a:ln/>
        </p:spPr>
        <p:txBody>
          <a:bodyPr wrap="square" lIns="0" tIns="0" rIns="0" bIns="0" rtlCol="0" anchor="ctr"/>
          <a:lstStyle/>
          <a:p>
            <a:pPr marL="0" indent="0">
              <a:buNone/>
            </a:pPr>
            <a:r>
              <a:rPr lang="en-US" sz="1050" dirty="0">
                <a:solidFill>
                  <a:srgbClr val="132039"/>
                </a:solidFill>
                <a:latin typeface="Calibri" pitchFamily="34" charset="0"/>
                <a:ea typeface="Calibri" pitchFamily="34" charset="-122"/>
                <a:cs typeface="Calibri" pitchFamily="34" charset="-120"/>
              </a:rPr>
              <a:t>Fixes ranked by observed success rate, runner-up always shown, abstain path when evidence is thin.</a:t>
            </a:r>
            <a:endParaRPr lang="en-US" sz="1050" dirty="0"/>
          </a:p>
        </p:txBody>
      </p:sp>
      <p:sp>
        <p:nvSpPr>
          <p:cNvPr id="17" name="Shape 15"/>
          <p:cNvSpPr/>
          <p:nvPr/>
        </p:nvSpPr>
        <p:spPr>
          <a:xfrm>
            <a:off x="8046720" y="2496312"/>
            <a:ext cx="3566160" cy="768096"/>
          </a:xfrm>
          <a:prstGeom prst="roundRect">
            <a:avLst>
              <a:gd name="adj" fmla="val 10714"/>
            </a:avLst>
          </a:prstGeom>
          <a:solidFill>
            <a:srgbClr val="FDEFE3"/>
          </a:solidFill>
          <a:ln w="12700">
            <a:solidFill>
              <a:srgbClr val="F5A25B"/>
            </a:solidFill>
            <a:prstDash val="solid"/>
          </a:ln>
        </p:spPr>
        <p:txBody>
          <a:bodyPr/>
          <a:lstStyle/>
          <a:p>
            <a:endParaRPr lang="en-US"/>
          </a:p>
        </p:txBody>
      </p:sp>
      <p:sp>
        <p:nvSpPr>
          <p:cNvPr id="18" name="Text 16"/>
          <p:cNvSpPr/>
          <p:nvPr/>
        </p:nvSpPr>
        <p:spPr>
          <a:xfrm>
            <a:off x="8229600" y="2496312"/>
            <a:ext cx="3246120" cy="768096"/>
          </a:xfrm>
          <a:prstGeom prst="rect">
            <a:avLst/>
          </a:prstGeom>
          <a:noFill/>
          <a:ln/>
        </p:spPr>
        <p:txBody>
          <a:bodyPr wrap="square" lIns="0" tIns="0" rIns="0" bIns="0" rtlCol="0" anchor="ctr"/>
          <a:lstStyle/>
          <a:p>
            <a:pPr marL="0" indent="0">
              <a:buNone/>
            </a:pPr>
            <a:r>
              <a:rPr lang="en-US" sz="1050" b="1" dirty="0">
                <a:solidFill>
                  <a:srgbClr val="B04A0F"/>
                </a:solidFill>
                <a:latin typeface="Calibri" pitchFamily="34" charset="0"/>
                <a:ea typeface="Calibri" pitchFamily="34" charset="-122"/>
                <a:cs typeface="Calibri" pitchFamily="34" charset="-120"/>
              </a:rPr>
              <a:t>Fix acceptance rate; share resolved without rework</a:t>
            </a:r>
            <a:endParaRPr lang="en-US" sz="1050" dirty="0"/>
          </a:p>
        </p:txBody>
      </p:sp>
      <p:sp>
        <p:nvSpPr>
          <p:cNvPr id="19" name="Shape 17"/>
          <p:cNvSpPr/>
          <p:nvPr/>
        </p:nvSpPr>
        <p:spPr>
          <a:xfrm>
            <a:off x="548640" y="3346704"/>
            <a:ext cx="2743200" cy="768096"/>
          </a:xfrm>
          <a:prstGeom prst="roundRect">
            <a:avLst>
              <a:gd name="adj" fmla="val 10714"/>
            </a:avLst>
          </a:prstGeom>
          <a:solidFill>
            <a:srgbClr val="E2661A"/>
          </a:solidFill>
          <a:ln w="12700">
            <a:solidFill>
              <a:srgbClr val="E2661A"/>
            </a:solidFill>
            <a:prstDash val="solid"/>
          </a:ln>
        </p:spPr>
        <p:txBody>
          <a:bodyPr/>
          <a:lstStyle/>
          <a:p>
            <a:endParaRPr lang="en-US"/>
          </a:p>
        </p:txBody>
      </p:sp>
      <p:sp>
        <p:nvSpPr>
          <p:cNvPr id="20" name="Text 18"/>
          <p:cNvSpPr/>
          <p:nvPr/>
        </p:nvSpPr>
        <p:spPr>
          <a:xfrm>
            <a:off x="685800" y="3346704"/>
            <a:ext cx="2468880" cy="768096"/>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Effective conversational experience</a:t>
            </a:r>
            <a:endParaRPr lang="en-US" sz="1250" dirty="0"/>
          </a:p>
        </p:txBody>
      </p:sp>
      <p:sp>
        <p:nvSpPr>
          <p:cNvPr id="21" name="Shape 19"/>
          <p:cNvSpPr/>
          <p:nvPr/>
        </p:nvSpPr>
        <p:spPr>
          <a:xfrm>
            <a:off x="3383280" y="3346704"/>
            <a:ext cx="4572000" cy="768096"/>
          </a:xfrm>
          <a:prstGeom prst="roundRect">
            <a:avLst>
              <a:gd name="adj" fmla="val 10714"/>
            </a:avLst>
          </a:prstGeom>
          <a:solidFill>
            <a:srgbClr val="E9EEF4"/>
          </a:solidFill>
          <a:ln w="12700">
            <a:solidFill>
              <a:srgbClr val="E9EEF4"/>
            </a:solidFill>
            <a:prstDash val="solid"/>
          </a:ln>
        </p:spPr>
        <p:txBody>
          <a:bodyPr/>
          <a:lstStyle/>
          <a:p>
            <a:endParaRPr lang="en-US"/>
          </a:p>
        </p:txBody>
      </p:sp>
      <p:sp>
        <p:nvSpPr>
          <p:cNvPr id="22" name="Text 20"/>
          <p:cNvSpPr/>
          <p:nvPr/>
        </p:nvSpPr>
        <p:spPr>
          <a:xfrm>
            <a:off x="3566160" y="3346704"/>
            <a:ext cx="4251960" cy="768096"/>
          </a:xfrm>
          <a:prstGeom prst="rect">
            <a:avLst/>
          </a:prstGeom>
          <a:noFill/>
          <a:ln/>
        </p:spPr>
        <p:txBody>
          <a:bodyPr wrap="square" lIns="0" tIns="0" rIns="0" bIns="0" rtlCol="0" anchor="ctr"/>
          <a:lstStyle/>
          <a:p>
            <a:pPr marL="0" indent="0">
              <a:buNone/>
            </a:pPr>
            <a:r>
              <a:rPr lang="en-US" sz="1050" dirty="0">
                <a:solidFill>
                  <a:srgbClr val="132039"/>
                </a:solidFill>
                <a:latin typeface="Calibri" pitchFamily="34" charset="0"/>
                <a:ea typeface="Calibri" pitchFamily="34" charset="-122"/>
                <a:cs typeface="Calibri" pitchFamily="34" charset="-120"/>
              </a:rPr>
              <a:t>Multi-turn chat inside Teams or Slack; follow-ups keep the run in context; answers lead in plain language.</a:t>
            </a:r>
            <a:endParaRPr lang="en-US" sz="1050" dirty="0"/>
          </a:p>
        </p:txBody>
      </p:sp>
      <p:sp>
        <p:nvSpPr>
          <p:cNvPr id="23" name="Shape 21"/>
          <p:cNvSpPr/>
          <p:nvPr/>
        </p:nvSpPr>
        <p:spPr>
          <a:xfrm>
            <a:off x="8046720" y="3346704"/>
            <a:ext cx="3566160" cy="768096"/>
          </a:xfrm>
          <a:prstGeom prst="roundRect">
            <a:avLst>
              <a:gd name="adj" fmla="val 10714"/>
            </a:avLst>
          </a:prstGeom>
          <a:solidFill>
            <a:srgbClr val="FDEFE3"/>
          </a:solidFill>
          <a:ln w="12700">
            <a:solidFill>
              <a:srgbClr val="F5A25B"/>
            </a:solidFill>
            <a:prstDash val="solid"/>
          </a:ln>
        </p:spPr>
        <p:txBody>
          <a:bodyPr/>
          <a:lstStyle/>
          <a:p>
            <a:endParaRPr lang="en-US"/>
          </a:p>
        </p:txBody>
      </p:sp>
      <p:sp>
        <p:nvSpPr>
          <p:cNvPr id="24" name="Text 22"/>
          <p:cNvSpPr/>
          <p:nvPr/>
        </p:nvSpPr>
        <p:spPr>
          <a:xfrm>
            <a:off x="8229600" y="3346704"/>
            <a:ext cx="3246120" cy="768096"/>
          </a:xfrm>
          <a:prstGeom prst="rect">
            <a:avLst/>
          </a:prstGeom>
          <a:noFill/>
          <a:ln/>
        </p:spPr>
        <p:txBody>
          <a:bodyPr wrap="square" lIns="0" tIns="0" rIns="0" bIns="0" rtlCol="0" anchor="ctr"/>
          <a:lstStyle/>
          <a:p>
            <a:pPr marL="0" indent="0">
              <a:buNone/>
            </a:pPr>
            <a:r>
              <a:rPr lang="en-US" sz="1050" b="1" dirty="0">
                <a:solidFill>
                  <a:srgbClr val="B04A0F"/>
                </a:solidFill>
                <a:latin typeface="Calibri" pitchFamily="34" charset="0"/>
                <a:ea typeface="Calibri" pitchFamily="34" charset="-122"/>
                <a:cs typeface="Calibri" pitchFamily="34" charset="-120"/>
              </a:rPr>
              <a:t>Resolution within three turns; per-session rating</a:t>
            </a:r>
            <a:endParaRPr lang="en-US" sz="1050" dirty="0"/>
          </a:p>
        </p:txBody>
      </p:sp>
      <p:sp>
        <p:nvSpPr>
          <p:cNvPr id="25" name="Shape 23"/>
          <p:cNvSpPr/>
          <p:nvPr/>
        </p:nvSpPr>
        <p:spPr>
          <a:xfrm>
            <a:off x="548640" y="4197096"/>
            <a:ext cx="2743200" cy="768096"/>
          </a:xfrm>
          <a:prstGeom prst="roundRect">
            <a:avLst>
              <a:gd name="adj" fmla="val 10714"/>
            </a:avLst>
          </a:prstGeom>
          <a:solidFill>
            <a:srgbClr val="E2661A"/>
          </a:solidFill>
          <a:ln w="12700">
            <a:solidFill>
              <a:srgbClr val="E2661A"/>
            </a:solidFill>
            <a:prstDash val="solid"/>
          </a:ln>
        </p:spPr>
        <p:txBody>
          <a:bodyPr/>
          <a:lstStyle/>
          <a:p>
            <a:endParaRPr lang="en-US"/>
          </a:p>
        </p:txBody>
      </p:sp>
      <p:sp>
        <p:nvSpPr>
          <p:cNvPr id="26" name="Text 24"/>
          <p:cNvSpPr/>
          <p:nvPr/>
        </p:nvSpPr>
        <p:spPr>
          <a:xfrm>
            <a:off x="685800" y="4197096"/>
            <a:ext cx="2468880" cy="768096"/>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Secure and governed implementation</a:t>
            </a:r>
            <a:endParaRPr lang="en-US" sz="1250" dirty="0"/>
          </a:p>
        </p:txBody>
      </p:sp>
      <p:sp>
        <p:nvSpPr>
          <p:cNvPr id="27" name="Shape 25"/>
          <p:cNvSpPr/>
          <p:nvPr/>
        </p:nvSpPr>
        <p:spPr>
          <a:xfrm>
            <a:off x="3383280" y="4197096"/>
            <a:ext cx="4572000" cy="768096"/>
          </a:xfrm>
          <a:prstGeom prst="roundRect">
            <a:avLst>
              <a:gd name="adj" fmla="val 10714"/>
            </a:avLst>
          </a:prstGeom>
          <a:solidFill>
            <a:srgbClr val="E9EEF4"/>
          </a:solidFill>
          <a:ln w="12700">
            <a:solidFill>
              <a:srgbClr val="E9EEF4"/>
            </a:solidFill>
            <a:prstDash val="solid"/>
          </a:ln>
        </p:spPr>
        <p:txBody>
          <a:bodyPr/>
          <a:lstStyle/>
          <a:p>
            <a:endParaRPr lang="en-US"/>
          </a:p>
        </p:txBody>
      </p:sp>
      <p:sp>
        <p:nvSpPr>
          <p:cNvPr id="28" name="Text 26"/>
          <p:cNvSpPr/>
          <p:nvPr/>
        </p:nvSpPr>
        <p:spPr>
          <a:xfrm>
            <a:off x="3566160" y="4197096"/>
            <a:ext cx="4251960" cy="768096"/>
          </a:xfrm>
          <a:prstGeom prst="rect">
            <a:avLst/>
          </a:prstGeom>
          <a:noFill/>
          <a:ln/>
        </p:spPr>
        <p:txBody>
          <a:bodyPr wrap="square" lIns="0" tIns="0" rIns="0" bIns="0" rtlCol="0" anchor="ctr"/>
          <a:lstStyle/>
          <a:p>
            <a:pPr marL="0" indent="0">
              <a:buNone/>
            </a:pPr>
            <a:r>
              <a:rPr lang="en-US" sz="1050" dirty="0">
                <a:solidFill>
                  <a:srgbClr val="132039"/>
                </a:solidFill>
                <a:latin typeface="Calibri" pitchFamily="34" charset="0"/>
                <a:ea typeface="Calibri" pitchFamily="34" charset="-122"/>
                <a:cs typeface="Calibri" pitchFamily="34" charset="-120"/>
              </a:rPr>
              <a:t>Redaction, no standing privilege, role check at execution, approval gate, immutable audit trail.</a:t>
            </a:r>
            <a:endParaRPr lang="en-US" sz="1050" dirty="0"/>
          </a:p>
        </p:txBody>
      </p:sp>
      <p:sp>
        <p:nvSpPr>
          <p:cNvPr id="29" name="Shape 27"/>
          <p:cNvSpPr/>
          <p:nvPr/>
        </p:nvSpPr>
        <p:spPr>
          <a:xfrm>
            <a:off x="8046720" y="4197096"/>
            <a:ext cx="3566160" cy="768096"/>
          </a:xfrm>
          <a:prstGeom prst="roundRect">
            <a:avLst>
              <a:gd name="adj" fmla="val 10714"/>
            </a:avLst>
          </a:prstGeom>
          <a:solidFill>
            <a:srgbClr val="FDEFE3"/>
          </a:solidFill>
          <a:ln w="12700">
            <a:solidFill>
              <a:srgbClr val="F5A25B"/>
            </a:solidFill>
            <a:prstDash val="solid"/>
          </a:ln>
        </p:spPr>
        <p:txBody>
          <a:bodyPr/>
          <a:lstStyle/>
          <a:p>
            <a:endParaRPr lang="en-US"/>
          </a:p>
        </p:txBody>
      </p:sp>
      <p:sp>
        <p:nvSpPr>
          <p:cNvPr id="30" name="Text 28"/>
          <p:cNvSpPr/>
          <p:nvPr/>
        </p:nvSpPr>
        <p:spPr>
          <a:xfrm>
            <a:off x="8229600" y="4197096"/>
            <a:ext cx="3246120" cy="768096"/>
          </a:xfrm>
          <a:prstGeom prst="rect">
            <a:avLst/>
          </a:prstGeom>
          <a:noFill/>
          <a:ln/>
        </p:spPr>
        <p:txBody>
          <a:bodyPr wrap="square" lIns="0" tIns="0" rIns="0" bIns="0" rtlCol="0" anchor="ctr"/>
          <a:lstStyle/>
          <a:p>
            <a:pPr marL="0" indent="0">
              <a:buNone/>
            </a:pPr>
            <a:r>
              <a:rPr lang="en-US" sz="1050" b="1" dirty="0">
                <a:solidFill>
                  <a:srgbClr val="B04A0F"/>
                </a:solidFill>
                <a:latin typeface="Calibri" pitchFamily="34" charset="0"/>
                <a:ea typeface="Calibri" pitchFamily="34" charset="-122"/>
                <a:cs typeface="Calibri" pitchFamily="34" charset="-120"/>
              </a:rPr>
              <a:t>Zero unapproved writes; every action carries an audit record</a:t>
            </a:r>
            <a:endParaRPr lang="en-US" sz="1050" dirty="0"/>
          </a:p>
        </p:txBody>
      </p:sp>
      <p:sp>
        <p:nvSpPr>
          <p:cNvPr id="31" name="Shape 29"/>
          <p:cNvSpPr/>
          <p:nvPr/>
        </p:nvSpPr>
        <p:spPr>
          <a:xfrm>
            <a:off x="548640" y="5047488"/>
            <a:ext cx="2743200" cy="768096"/>
          </a:xfrm>
          <a:prstGeom prst="roundRect">
            <a:avLst>
              <a:gd name="adj" fmla="val 10714"/>
            </a:avLst>
          </a:prstGeom>
          <a:solidFill>
            <a:srgbClr val="E2661A"/>
          </a:solidFill>
          <a:ln w="12700">
            <a:solidFill>
              <a:srgbClr val="E2661A"/>
            </a:solidFill>
            <a:prstDash val="solid"/>
          </a:ln>
        </p:spPr>
        <p:txBody>
          <a:bodyPr/>
          <a:lstStyle/>
          <a:p>
            <a:endParaRPr lang="en-US"/>
          </a:p>
        </p:txBody>
      </p:sp>
      <p:sp>
        <p:nvSpPr>
          <p:cNvPr id="32" name="Text 30"/>
          <p:cNvSpPr/>
          <p:nvPr/>
        </p:nvSpPr>
        <p:spPr>
          <a:xfrm>
            <a:off x="685800" y="5047488"/>
            <a:ext cx="2468880" cy="768096"/>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Innovative use of agentic AI</a:t>
            </a:r>
            <a:endParaRPr lang="en-US" sz="1250" dirty="0"/>
          </a:p>
        </p:txBody>
      </p:sp>
      <p:sp>
        <p:nvSpPr>
          <p:cNvPr id="33" name="Shape 31"/>
          <p:cNvSpPr/>
          <p:nvPr/>
        </p:nvSpPr>
        <p:spPr>
          <a:xfrm>
            <a:off x="3383280" y="5047488"/>
            <a:ext cx="4572000" cy="768096"/>
          </a:xfrm>
          <a:prstGeom prst="roundRect">
            <a:avLst>
              <a:gd name="adj" fmla="val 10714"/>
            </a:avLst>
          </a:prstGeom>
          <a:solidFill>
            <a:srgbClr val="E9EEF4"/>
          </a:solidFill>
          <a:ln w="12700">
            <a:solidFill>
              <a:srgbClr val="E9EEF4"/>
            </a:solidFill>
            <a:prstDash val="solid"/>
          </a:ln>
        </p:spPr>
        <p:txBody>
          <a:bodyPr/>
          <a:lstStyle/>
          <a:p>
            <a:endParaRPr lang="en-US"/>
          </a:p>
        </p:txBody>
      </p:sp>
      <p:sp>
        <p:nvSpPr>
          <p:cNvPr id="34" name="Text 32"/>
          <p:cNvSpPr/>
          <p:nvPr/>
        </p:nvSpPr>
        <p:spPr>
          <a:xfrm>
            <a:off x="3566160" y="5047488"/>
            <a:ext cx="4251960" cy="768096"/>
          </a:xfrm>
          <a:prstGeom prst="rect">
            <a:avLst/>
          </a:prstGeom>
          <a:noFill/>
          <a:ln/>
        </p:spPr>
        <p:txBody>
          <a:bodyPr wrap="square" lIns="0" tIns="0" rIns="0" bIns="0" rtlCol="0" anchor="ctr"/>
          <a:lstStyle/>
          <a:p>
            <a:pPr marL="0" indent="0">
              <a:buNone/>
            </a:pPr>
            <a:r>
              <a:rPr lang="en-US" sz="1050" dirty="0">
                <a:solidFill>
                  <a:srgbClr val="132039"/>
                </a:solidFill>
                <a:latin typeface="Calibri" pitchFamily="34" charset="0"/>
                <a:ea typeface="Calibri" pitchFamily="34" charset="-122"/>
                <a:cs typeface="Calibri" pitchFamily="34" charset="-120"/>
              </a:rPr>
              <a:t>Planning loop across four agents, real tool use, memory that compounds, graded autonomy.</a:t>
            </a:r>
            <a:endParaRPr lang="en-US" sz="1050" dirty="0"/>
          </a:p>
        </p:txBody>
      </p:sp>
      <p:sp>
        <p:nvSpPr>
          <p:cNvPr id="35" name="Shape 33"/>
          <p:cNvSpPr/>
          <p:nvPr/>
        </p:nvSpPr>
        <p:spPr>
          <a:xfrm>
            <a:off x="8046720" y="5047488"/>
            <a:ext cx="3566160" cy="768096"/>
          </a:xfrm>
          <a:prstGeom prst="roundRect">
            <a:avLst>
              <a:gd name="adj" fmla="val 10714"/>
            </a:avLst>
          </a:prstGeom>
          <a:solidFill>
            <a:srgbClr val="FDEFE3"/>
          </a:solidFill>
          <a:ln w="12700">
            <a:solidFill>
              <a:srgbClr val="F5A25B"/>
            </a:solidFill>
            <a:prstDash val="solid"/>
          </a:ln>
        </p:spPr>
        <p:txBody>
          <a:bodyPr/>
          <a:lstStyle/>
          <a:p>
            <a:endParaRPr lang="en-US"/>
          </a:p>
        </p:txBody>
      </p:sp>
      <p:sp>
        <p:nvSpPr>
          <p:cNvPr id="36" name="Text 34"/>
          <p:cNvSpPr/>
          <p:nvPr/>
        </p:nvSpPr>
        <p:spPr>
          <a:xfrm>
            <a:off x="8229600" y="5047488"/>
            <a:ext cx="3246120" cy="768096"/>
          </a:xfrm>
          <a:prstGeom prst="rect">
            <a:avLst/>
          </a:prstGeom>
          <a:noFill/>
          <a:ln/>
        </p:spPr>
        <p:txBody>
          <a:bodyPr wrap="square" lIns="0" tIns="0" rIns="0" bIns="0" rtlCol="0" anchor="ctr"/>
          <a:lstStyle/>
          <a:p>
            <a:pPr marL="0" indent="0">
              <a:buNone/>
            </a:pPr>
            <a:r>
              <a:rPr lang="en-US" sz="1050" b="1" dirty="0">
                <a:solidFill>
                  <a:srgbClr val="B04A0F"/>
                </a:solidFill>
                <a:latin typeface="Calibri" pitchFamily="34" charset="0"/>
                <a:ea typeface="Calibri" pitchFamily="34" charset="-122"/>
                <a:cs typeface="Calibri" pitchFamily="34" charset="-120"/>
              </a:rPr>
              <a:t>Share of failures auto-classified from memory, tracked over time</a:t>
            </a:r>
            <a:endParaRPr lang="en-US" sz="1050" dirty="0"/>
          </a:p>
        </p:txBody>
      </p:sp>
      <p:sp>
        <p:nvSpPr>
          <p:cNvPr id="37" name="Text 35"/>
          <p:cNvSpPr/>
          <p:nvPr/>
        </p:nvSpPr>
        <p:spPr>
          <a:xfrm>
            <a:off x="548640" y="5989320"/>
            <a:ext cx="11064240" cy="365760"/>
          </a:xfrm>
          <a:prstGeom prst="rect">
            <a:avLst/>
          </a:prstGeom>
          <a:noFill/>
          <a:ln/>
        </p:spPr>
        <p:txBody>
          <a:bodyPr wrap="square" lIns="0" tIns="0" rIns="0" bIns="0" rtlCol="0" anchor="ctr"/>
          <a:lstStyle/>
          <a:p>
            <a:pPr marL="0" indent="0">
              <a:buNone/>
            </a:pPr>
            <a:r>
              <a:rPr lang="en-US" sz="1250" i="1" dirty="0">
                <a:solidFill>
                  <a:srgbClr val="132039"/>
                </a:solidFill>
                <a:latin typeface="Calibri" pitchFamily="34" charset="0"/>
                <a:ea typeface="Calibri" pitchFamily="34" charset="-122"/>
                <a:cs typeface="Calibri" pitchFamily="34" charset="-120"/>
              </a:rPr>
              <a:t>Baseline first: we replay a fixed set of historical failures and score the assistant against what the on-call engineer actually concluded. No claims before the replay holds up.</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BUSINESS IMPACT</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Four impacts</a:t>
            </a:r>
            <a:endParaRPr lang="en-US" sz="3200" dirty="0"/>
          </a:p>
        </p:txBody>
      </p:sp>
      <p:sp>
        <p:nvSpPr>
          <p:cNvPr id="4" name="Shape 2"/>
          <p:cNvSpPr/>
          <p:nvPr/>
        </p:nvSpPr>
        <p:spPr>
          <a:xfrm>
            <a:off x="548640" y="1508760"/>
            <a:ext cx="2578608" cy="2651760"/>
          </a:xfrm>
          <a:prstGeom prst="roundRect">
            <a:avLst>
              <a:gd name="adj" fmla="val 4255"/>
            </a:avLst>
          </a:prstGeom>
          <a:solidFill>
            <a:srgbClr val="E2661A"/>
          </a:solidFill>
          <a:ln w="12700">
            <a:solidFill>
              <a:srgbClr val="E2661A"/>
            </a:solidFill>
            <a:prstDash val="solid"/>
          </a:ln>
        </p:spPr>
        <p:txBody>
          <a:bodyPr/>
          <a:lstStyle/>
          <a:p>
            <a:endParaRPr lang="en-US"/>
          </a:p>
        </p:txBody>
      </p:sp>
      <p:sp>
        <p:nvSpPr>
          <p:cNvPr id="5" name="Text 3"/>
          <p:cNvSpPr/>
          <p:nvPr/>
        </p:nvSpPr>
        <p:spPr>
          <a:xfrm>
            <a:off x="804672" y="1783080"/>
            <a:ext cx="2103120" cy="9144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Reduced MTTR</a:t>
            </a:r>
            <a:endParaRPr lang="en-US" sz="1800" dirty="0"/>
          </a:p>
        </p:txBody>
      </p:sp>
      <p:sp>
        <p:nvSpPr>
          <p:cNvPr id="6" name="Text 4"/>
          <p:cNvSpPr/>
          <p:nvPr/>
        </p:nvSpPr>
        <p:spPr>
          <a:xfrm>
            <a:off x="804672" y="2743200"/>
            <a:ext cx="2103120" cy="1280160"/>
          </a:xfrm>
          <a:prstGeom prst="rect">
            <a:avLst/>
          </a:prstGeom>
          <a:noFill/>
          <a:ln/>
        </p:spPr>
        <p:txBody>
          <a:bodyPr wrap="square" lIns="0" tIns="0" rIns="0" bIns="0" rtlCol="0" anchor="ctr"/>
          <a:lstStyle/>
          <a:p>
            <a:pPr marL="0" indent="0">
              <a:buNone/>
            </a:pPr>
            <a:r>
              <a:rPr lang="en-US" sz="1200" dirty="0">
                <a:solidFill>
                  <a:srgbClr val="FFEBDA"/>
                </a:solidFill>
                <a:latin typeface="Calibri" pitchFamily="34" charset="0"/>
                <a:ea typeface="Calibri" pitchFamily="34" charset="-122"/>
                <a:cs typeface="Calibri" pitchFamily="34" charset="-120"/>
              </a:rPr>
              <a:t>Time from alert to confirmed resolution, cut by removing the search phase entirely.</a:t>
            </a:r>
            <a:endParaRPr lang="en-US" sz="1200" dirty="0"/>
          </a:p>
        </p:txBody>
      </p:sp>
      <p:sp>
        <p:nvSpPr>
          <p:cNvPr id="7" name="Shape 5"/>
          <p:cNvSpPr/>
          <p:nvPr/>
        </p:nvSpPr>
        <p:spPr>
          <a:xfrm>
            <a:off x="3355848" y="1508760"/>
            <a:ext cx="2578608" cy="2651760"/>
          </a:xfrm>
          <a:prstGeom prst="roundRect">
            <a:avLst>
              <a:gd name="adj" fmla="val 4255"/>
            </a:avLst>
          </a:prstGeom>
          <a:solidFill>
            <a:srgbClr val="E9EEF4"/>
          </a:solidFill>
          <a:ln w="12700">
            <a:solidFill>
              <a:srgbClr val="D3DEE9"/>
            </a:solidFill>
            <a:prstDash val="solid"/>
          </a:ln>
        </p:spPr>
        <p:txBody>
          <a:bodyPr/>
          <a:lstStyle/>
          <a:p>
            <a:endParaRPr lang="en-US"/>
          </a:p>
        </p:txBody>
      </p:sp>
      <p:sp>
        <p:nvSpPr>
          <p:cNvPr id="8" name="Text 6"/>
          <p:cNvSpPr/>
          <p:nvPr/>
        </p:nvSpPr>
        <p:spPr>
          <a:xfrm>
            <a:off x="3611880" y="1783080"/>
            <a:ext cx="2103120" cy="914400"/>
          </a:xfrm>
          <a:prstGeom prst="rect">
            <a:avLst/>
          </a:prstGeom>
          <a:noFill/>
          <a:ln/>
        </p:spPr>
        <p:txBody>
          <a:bodyPr wrap="square" lIns="0" tIns="0" rIns="0" bIns="0" rtlCol="0" anchor="ctr"/>
          <a:lstStyle/>
          <a:p>
            <a:pPr marL="0" indent="0">
              <a:buNone/>
            </a:pPr>
            <a:r>
              <a:rPr lang="en-US" sz="1800" b="1" dirty="0">
                <a:solidFill>
                  <a:srgbClr val="132039"/>
                </a:solidFill>
                <a:latin typeface="Cambria" pitchFamily="34" charset="0"/>
                <a:ea typeface="Cambria" pitchFamily="34" charset="-122"/>
                <a:cs typeface="Cambria" pitchFamily="34" charset="-120"/>
              </a:rPr>
              <a:t>Improved support productivity</a:t>
            </a:r>
            <a:endParaRPr lang="en-US" sz="1800" dirty="0"/>
          </a:p>
        </p:txBody>
      </p:sp>
      <p:sp>
        <p:nvSpPr>
          <p:cNvPr id="9" name="Text 7"/>
          <p:cNvSpPr/>
          <p:nvPr/>
        </p:nvSpPr>
        <p:spPr>
          <a:xfrm>
            <a:off x="3611880" y="2743200"/>
            <a:ext cx="2103120" cy="128016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More failures closed at L1, fewer escalations consuming senior engineer hours.</a:t>
            </a:r>
            <a:endParaRPr lang="en-US" sz="1200" dirty="0"/>
          </a:p>
        </p:txBody>
      </p:sp>
      <p:sp>
        <p:nvSpPr>
          <p:cNvPr id="10" name="Shape 8"/>
          <p:cNvSpPr/>
          <p:nvPr/>
        </p:nvSpPr>
        <p:spPr>
          <a:xfrm>
            <a:off x="6163056" y="1508760"/>
            <a:ext cx="2578608" cy="2651760"/>
          </a:xfrm>
          <a:prstGeom prst="roundRect">
            <a:avLst>
              <a:gd name="adj" fmla="val 4255"/>
            </a:avLst>
          </a:prstGeom>
          <a:solidFill>
            <a:srgbClr val="E9EEF4"/>
          </a:solidFill>
          <a:ln w="12700">
            <a:solidFill>
              <a:srgbClr val="D3DEE9"/>
            </a:solidFill>
            <a:prstDash val="solid"/>
          </a:ln>
        </p:spPr>
        <p:txBody>
          <a:bodyPr/>
          <a:lstStyle/>
          <a:p>
            <a:endParaRPr lang="en-US"/>
          </a:p>
        </p:txBody>
      </p:sp>
      <p:sp>
        <p:nvSpPr>
          <p:cNvPr id="11" name="Text 9"/>
          <p:cNvSpPr/>
          <p:nvPr/>
        </p:nvSpPr>
        <p:spPr>
          <a:xfrm>
            <a:off x="6419088" y="1783080"/>
            <a:ext cx="2103120" cy="914400"/>
          </a:xfrm>
          <a:prstGeom prst="rect">
            <a:avLst/>
          </a:prstGeom>
          <a:noFill/>
          <a:ln/>
        </p:spPr>
        <p:txBody>
          <a:bodyPr wrap="square" lIns="0" tIns="0" rIns="0" bIns="0" rtlCol="0" anchor="ctr"/>
          <a:lstStyle/>
          <a:p>
            <a:pPr marL="0" indent="0">
              <a:buNone/>
            </a:pPr>
            <a:r>
              <a:rPr lang="en-US" sz="1800" b="1" dirty="0">
                <a:solidFill>
                  <a:srgbClr val="132039"/>
                </a:solidFill>
                <a:latin typeface="Cambria" pitchFamily="34" charset="0"/>
                <a:ea typeface="Cambria" pitchFamily="34" charset="-122"/>
                <a:cs typeface="Cambria" pitchFamily="34" charset="-120"/>
              </a:rPr>
              <a:t>Lower operational costs</a:t>
            </a:r>
            <a:endParaRPr lang="en-US" sz="1800" dirty="0"/>
          </a:p>
        </p:txBody>
      </p:sp>
      <p:sp>
        <p:nvSpPr>
          <p:cNvPr id="12" name="Text 10"/>
          <p:cNvSpPr/>
          <p:nvPr/>
        </p:nvSpPr>
        <p:spPr>
          <a:xfrm>
            <a:off x="6419088" y="2743200"/>
            <a:ext cx="2103120" cy="128016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Engineer hours returned, net of inference and storage — scoped retrieval keeps run cost small.</a:t>
            </a:r>
            <a:endParaRPr lang="en-US" sz="1200" dirty="0"/>
          </a:p>
        </p:txBody>
      </p:sp>
      <p:sp>
        <p:nvSpPr>
          <p:cNvPr id="13" name="Shape 11"/>
          <p:cNvSpPr/>
          <p:nvPr/>
        </p:nvSpPr>
        <p:spPr>
          <a:xfrm>
            <a:off x="8970264" y="1508760"/>
            <a:ext cx="2578608" cy="2651760"/>
          </a:xfrm>
          <a:prstGeom prst="roundRect">
            <a:avLst>
              <a:gd name="adj" fmla="val 4255"/>
            </a:avLst>
          </a:prstGeom>
          <a:solidFill>
            <a:srgbClr val="E9EEF4"/>
          </a:solidFill>
          <a:ln w="12700">
            <a:solidFill>
              <a:srgbClr val="D3DEE9"/>
            </a:solidFill>
            <a:prstDash val="solid"/>
          </a:ln>
        </p:spPr>
        <p:txBody>
          <a:bodyPr/>
          <a:lstStyle/>
          <a:p>
            <a:endParaRPr lang="en-US"/>
          </a:p>
        </p:txBody>
      </p:sp>
      <p:sp>
        <p:nvSpPr>
          <p:cNvPr id="14" name="Text 12"/>
          <p:cNvSpPr/>
          <p:nvPr/>
        </p:nvSpPr>
        <p:spPr>
          <a:xfrm>
            <a:off x="9226296" y="1783080"/>
            <a:ext cx="2103120" cy="914400"/>
          </a:xfrm>
          <a:prstGeom prst="rect">
            <a:avLst/>
          </a:prstGeom>
          <a:noFill/>
          <a:ln/>
        </p:spPr>
        <p:txBody>
          <a:bodyPr wrap="square" lIns="0" tIns="0" rIns="0" bIns="0" rtlCol="0" anchor="ctr"/>
          <a:lstStyle/>
          <a:p>
            <a:pPr marL="0" indent="0">
              <a:buNone/>
            </a:pPr>
            <a:r>
              <a:rPr lang="en-US" sz="1800" b="1" dirty="0">
                <a:solidFill>
                  <a:srgbClr val="132039"/>
                </a:solidFill>
                <a:latin typeface="Cambria" pitchFamily="34" charset="0"/>
                <a:ea typeface="Cambria" pitchFamily="34" charset="-122"/>
                <a:cs typeface="Cambria" pitchFamily="34" charset="-120"/>
              </a:rPr>
              <a:t>Faster issue resolution</a:t>
            </a:r>
            <a:endParaRPr lang="en-US" sz="1800" dirty="0"/>
          </a:p>
        </p:txBody>
      </p:sp>
      <p:sp>
        <p:nvSpPr>
          <p:cNvPr id="15" name="Text 13"/>
          <p:cNvSpPr/>
          <p:nvPr/>
        </p:nvSpPr>
        <p:spPr>
          <a:xfrm>
            <a:off x="9226296" y="2743200"/>
            <a:ext cx="2103120" cy="1280160"/>
          </a:xfrm>
          <a:prstGeom prst="rect">
            <a:avLst/>
          </a:prstGeom>
          <a:noFill/>
          <a:ln/>
        </p:spPr>
        <p:txBody>
          <a:bodyPr wrap="square" lIns="0" tIns="0" rIns="0" bIns="0" rtlCol="0" anchor="ctr"/>
          <a:lstStyle/>
          <a:p>
            <a:pPr marL="0" indent="0">
              <a:buNone/>
            </a:pPr>
            <a:r>
              <a:rPr lang="en-US" sz="1200" dirty="0">
                <a:solidFill>
                  <a:srgbClr val="5A6B80"/>
                </a:solidFill>
                <a:latin typeface="Calibri" pitchFamily="34" charset="0"/>
                <a:ea typeface="Calibri" pitchFamily="34" charset="-122"/>
                <a:cs typeface="Calibri" pitchFamily="34" charset="-120"/>
              </a:rPr>
              <a:t>Repeat failures answered from memory in a single turn instead of a fresh investigation.</a:t>
            </a:r>
            <a:endParaRPr lang="en-US" sz="1200" dirty="0"/>
          </a:p>
        </p:txBody>
      </p:sp>
      <p:sp>
        <p:nvSpPr>
          <p:cNvPr id="16" name="Shape 14"/>
          <p:cNvSpPr/>
          <p:nvPr/>
        </p:nvSpPr>
        <p:spPr>
          <a:xfrm>
            <a:off x="548640" y="4389120"/>
            <a:ext cx="11064240" cy="1463040"/>
          </a:xfrm>
          <a:prstGeom prst="roundRect">
            <a:avLst>
              <a:gd name="adj" fmla="val 7500"/>
            </a:avLst>
          </a:prstGeom>
          <a:solidFill>
            <a:srgbClr val="132039"/>
          </a:solidFill>
          <a:ln w="12700">
            <a:solidFill>
              <a:srgbClr val="132039"/>
            </a:solidFill>
            <a:prstDash val="solid"/>
          </a:ln>
        </p:spPr>
        <p:txBody>
          <a:bodyPr/>
          <a:lstStyle/>
          <a:p>
            <a:endParaRPr lang="en-US"/>
          </a:p>
        </p:txBody>
      </p:sp>
      <p:sp>
        <p:nvSpPr>
          <p:cNvPr id="17" name="Text 15"/>
          <p:cNvSpPr/>
          <p:nvPr/>
        </p:nvSpPr>
        <p:spPr>
          <a:xfrm>
            <a:off x="914400" y="4526280"/>
            <a:ext cx="10332720" cy="320040"/>
          </a:xfrm>
          <a:prstGeom prst="rect">
            <a:avLst/>
          </a:prstGeom>
          <a:noFill/>
          <a:ln/>
        </p:spPr>
        <p:txBody>
          <a:bodyPr wrap="square" lIns="0" tIns="0" rIns="0" bIns="0" rtlCol="0" anchor="ctr"/>
          <a:lstStyle/>
          <a:p>
            <a:pPr marL="0" indent="0">
              <a:buNone/>
            </a:pPr>
            <a:r>
              <a:rPr lang="en-US" sz="1500" b="1" dirty="0">
                <a:solidFill>
                  <a:srgbClr val="F5A25B"/>
                </a:solidFill>
                <a:latin typeface="Cambria" pitchFamily="34" charset="0"/>
                <a:ea typeface="Cambria" pitchFamily="34" charset="-122"/>
                <a:cs typeface="Cambria" pitchFamily="34" charset="-120"/>
              </a:rPr>
              <a:t>How we will size it — rather than assert it</a:t>
            </a:r>
            <a:endParaRPr lang="en-US" sz="1500" dirty="0"/>
          </a:p>
        </p:txBody>
      </p:sp>
      <p:sp>
        <p:nvSpPr>
          <p:cNvPr id="18" name="Text 16"/>
          <p:cNvSpPr/>
          <p:nvPr/>
        </p:nvSpPr>
        <p:spPr>
          <a:xfrm>
            <a:off x="914400" y="4919472"/>
            <a:ext cx="103327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Hours returned  =  failures per month  ×  triage hours per failure  ×  share auto-diagnosed.      Delay cost avoided  =  MTTR reduction  ×  incidents  ×  cost of an hour of late data.</a:t>
            </a:r>
            <a:endParaRPr lang="en-US" sz="1200" dirty="0"/>
          </a:p>
        </p:txBody>
      </p:sp>
      <p:sp>
        <p:nvSpPr>
          <p:cNvPr id="19" name="Text 17"/>
          <p:cNvSpPr/>
          <p:nvPr/>
        </p:nvSpPr>
        <p:spPr>
          <a:xfrm>
            <a:off x="914400" y="5303520"/>
            <a:ext cx="10332720" cy="457200"/>
          </a:xfrm>
          <a:prstGeom prst="rect">
            <a:avLst/>
          </a:prstGeom>
          <a:noFill/>
          <a:ln/>
        </p:spPr>
        <p:txBody>
          <a:bodyPr wrap="square" lIns="0" tIns="0" rIns="0" bIns="0" rtlCol="0" anchor="ctr"/>
          <a:lstStyle/>
          <a:p>
            <a:pPr marL="0" indent="0">
              <a:buNone/>
            </a:pPr>
            <a:r>
              <a:rPr lang="en-US" sz="1200" i="1" dirty="0">
                <a:solidFill>
                  <a:srgbClr val="C6D3E2"/>
                </a:solidFill>
                <a:latin typeface="Calibri" pitchFamily="34" charset="0"/>
                <a:ea typeface="Calibri" pitchFamily="34" charset="-122"/>
                <a:cs typeface="Calibri" pitchFamily="34" charset="-120"/>
              </a:rPr>
              <a:t>Four inputs needed from the platform team: failures per month  ·  average engineer hours per failure  ·  blended hourly cost  ·  cost of an hour of late data. Phase 1 fills them from ninety days of our own run history.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RISKS, DEPENDENCIES AND ASSUMPTIONS</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What could go wrong, and what we do about it</a:t>
            </a:r>
            <a:endParaRPr lang="en-US" sz="3200" dirty="0"/>
          </a:p>
        </p:txBody>
      </p:sp>
      <p:sp>
        <p:nvSpPr>
          <p:cNvPr id="4" name="Shape 2"/>
          <p:cNvSpPr/>
          <p:nvPr/>
        </p:nvSpPr>
        <p:spPr>
          <a:xfrm>
            <a:off x="548640" y="1463040"/>
            <a:ext cx="5349240" cy="1371600"/>
          </a:xfrm>
          <a:prstGeom prst="roundRect">
            <a:avLst>
              <a:gd name="adj" fmla="val 8000"/>
            </a:avLst>
          </a:prstGeom>
          <a:solidFill>
            <a:srgbClr val="FDEFE3"/>
          </a:solidFill>
          <a:ln w="12700">
            <a:solidFill>
              <a:srgbClr val="F5A25B"/>
            </a:solidFill>
            <a:prstDash val="solid"/>
          </a:ln>
        </p:spPr>
        <p:txBody>
          <a:bodyPr/>
          <a:lstStyle/>
          <a:p>
            <a:endParaRPr lang="en-US"/>
          </a:p>
        </p:txBody>
      </p:sp>
      <p:sp>
        <p:nvSpPr>
          <p:cNvPr id="5" name="Text 3"/>
          <p:cNvSpPr/>
          <p:nvPr/>
        </p:nvSpPr>
        <p:spPr>
          <a:xfrm>
            <a:off x="868680" y="1627632"/>
            <a:ext cx="4709160" cy="347472"/>
          </a:xfrm>
          <a:prstGeom prst="rect">
            <a:avLst/>
          </a:prstGeom>
          <a:noFill/>
          <a:ln/>
        </p:spPr>
        <p:txBody>
          <a:bodyPr wrap="square" lIns="0" tIns="0" rIns="0" bIns="0" rtlCol="0" anchor="ctr"/>
          <a:lstStyle/>
          <a:p>
            <a:pPr marL="0" indent="0">
              <a:buNone/>
            </a:pPr>
            <a:r>
              <a:rPr lang="en-US" sz="1500" b="1" dirty="0">
                <a:solidFill>
                  <a:srgbClr val="B04A0F"/>
                </a:solidFill>
                <a:latin typeface="Cambria" pitchFamily="34" charset="0"/>
                <a:ea typeface="Cambria" pitchFamily="34" charset="-122"/>
                <a:cs typeface="Cambria" pitchFamily="34" charset="-120"/>
              </a:rPr>
              <a:t>Sparse resolution history</a:t>
            </a:r>
            <a:endParaRPr lang="en-US" sz="1500" dirty="0"/>
          </a:p>
        </p:txBody>
      </p:sp>
      <p:sp>
        <p:nvSpPr>
          <p:cNvPr id="6" name="Text 4"/>
          <p:cNvSpPr/>
          <p:nvPr/>
        </p:nvSpPr>
        <p:spPr>
          <a:xfrm>
            <a:off x="868680" y="2011680"/>
            <a:ext cx="4709160" cy="7315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Execution history shows what failed, rarely what fixed it. Phase 1 is explain-only and captures resolutions as they happen; reuse switches on once the base exists.</a:t>
            </a:r>
            <a:endParaRPr lang="en-US" sz="1100" dirty="0"/>
          </a:p>
        </p:txBody>
      </p:sp>
      <p:sp>
        <p:nvSpPr>
          <p:cNvPr id="7" name="Shape 5"/>
          <p:cNvSpPr/>
          <p:nvPr/>
        </p:nvSpPr>
        <p:spPr>
          <a:xfrm>
            <a:off x="6263640" y="1463040"/>
            <a:ext cx="5349240" cy="1371600"/>
          </a:xfrm>
          <a:prstGeom prst="roundRect">
            <a:avLst>
              <a:gd name="adj" fmla="val 8000"/>
            </a:avLst>
          </a:prstGeom>
          <a:solidFill>
            <a:srgbClr val="E9EEF4"/>
          </a:solidFill>
          <a:ln w="12700">
            <a:solidFill>
              <a:srgbClr val="E9EEF4"/>
            </a:solidFill>
            <a:prstDash val="solid"/>
          </a:ln>
        </p:spPr>
        <p:txBody>
          <a:bodyPr/>
          <a:lstStyle/>
          <a:p>
            <a:endParaRPr lang="en-US"/>
          </a:p>
        </p:txBody>
      </p:sp>
      <p:sp>
        <p:nvSpPr>
          <p:cNvPr id="8" name="Text 6"/>
          <p:cNvSpPr/>
          <p:nvPr/>
        </p:nvSpPr>
        <p:spPr>
          <a:xfrm>
            <a:off x="6583680" y="1627632"/>
            <a:ext cx="4709160" cy="347472"/>
          </a:xfrm>
          <a:prstGeom prst="rect">
            <a:avLst/>
          </a:prstGeom>
          <a:noFill/>
          <a:ln/>
        </p:spPr>
        <p:txBody>
          <a:bodyPr wrap="square" lIns="0" tIns="0" rIns="0" bIns="0" rtlCol="0" anchor="ctr"/>
          <a:lstStyle/>
          <a:p>
            <a:pPr marL="0" indent="0">
              <a:buNone/>
            </a:pPr>
            <a:r>
              <a:rPr lang="en-US" sz="1500" b="1" dirty="0">
                <a:solidFill>
                  <a:srgbClr val="132039"/>
                </a:solidFill>
                <a:latin typeface="Cambria" pitchFamily="34" charset="0"/>
                <a:ea typeface="Cambria" pitchFamily="34" charset="-122"/>
                <a:cs typeface="Cambria" pitchFamily="34" charset="-120"/>
              </a:rPr>
              <a:t>Uneven log quality</a:t>
            </a:r>
            <a:endParaRPr lang="en-US" sz="1500" dirty="0"/>
          </a:p>
        </p:txBody>
      </p:sp>
      <p:sp>
        <p:nvSpPr>
          <p:cNvPr id="9" name="Text 7"/>
          <p:cNvSpPr/>
          <p:nvPr/>
        </p:nvSpPr>
        <p:spPr>
          <a:xfrm>
            <a:off x="6583680" y="2011680"/>
            <a:ext cx="4709160" cy="7315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Adapters normalize what they can and fail loudly on unmapped fields. No silent inference from a field we do not understand.</a:t>
            </a:r>
            <a:endParaRPr lang="en-US" sz="1100" dirty="0"/>
          </a:p>
        </p:txBody>
      </p:sp>
      <p:sp>
        <p:nvSpPr>
          <p:cNvPr id="10" name="Shape 8"/>
          <p:cNvSpPr/>
          <p:nvPr/>
        </p:nvSpPr>
        <p:spPr>
          <a:xfrm>
            <a:off x="548640" y="2944368"/>
            <a:ext cx="5349240" cy="1371600"/>
          </a:xfrm>
          <a:prstGeom prst="roundRect">
            <a:avLst>
              <a:gd name="adj" fmla="val 8000"/>
            </a:avLst>
          </a:prstGeom>
          <a:solidFill>
            <a:srgbClr val="E9EEF4"/>
          </a:solidFill>
          <a:ln w="12700">
            <a:solidFill>
              <a:srgbClr val="E9EEF4"/>
            </a:solidFill>
            <a:prstDash val="solid"/>
          </a:ln>
        </p:spPr>
        <p:txBody>
          <a:bodyPr/>
          <a:lstStyle/>
          <a:p>
            <a:endParaRPr lang="en-US"/>
          </a:p>
        </p:txBody>
      </p:sp>
      <p:sp>
        <p:nvSpPr>
          <p:cNvPr id="11" name="Text 9"/>
          <p:cNvSpPr/>
          <p:nvPr/>
        </p:nvSpPr>
        <p:spPr>
          <a:xfrm>
            <a:off x="868680" y="3108960"/>
            <a:ext cx="4709160" cy="347472"/>
          </a:xfrm>
          <a:prstGeom prst="rect">
            <a:avLst/>
          </a:prstGeom>
          <a:noFill/>
          <a:ln/>
        </p:spPr>
        <p:txBody>
          <a:bodyPr wrap="square" lIns="0" tIns="0" rIns="0" bIns="0" rtlCol="0" anchor="ctr"/>
          <a:lstStyle/>
          <a:p>
            <a:pPr marL="0" indent="0">
              <a:buNone/>
            </a:pPr>
            <a:r>
              <a:rPr lang="en-US" sz="1500" b="1" dirty="0">
                <a:solidFill>
                  <a:srgbClr val="132039"/>
                </a:solidFill>
                <a:latin typeface="Cambria" pitchFamily="34" charset="0"/>
                <a:ea typeface="Cambria" pitchFamily="34" charset="-122"/>
                <a:cs typeface="Cambria" pitchFamily="34" charset="-120"/>
              </a:rPr>
              <a:t>Inference cost at volume</a:t>
            </a:r>
            <a:endParaRPr lang="en-US" sz="1500" dirty="0"/>
          </a:p>
        </p:txBody>
      </p:sp>
      <p:sp>
        <p:nvSpPr>
          <p:cNvPr id="12" name="Text 10"/>
          <p:cNvSpPr/>
          <p:nvPr/>
        </p:nvSpPr>
        <p:spPr>
          <a:xfrm>
            <a:off x="868680" y="3493008"/>
            <a:ext cx="4709160" cy="7315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Signature matching runs before reasoning, so repeat failures are answered from memory. Only novel failures reach the full agent path.</a:t>
            </a:r>
            <a:endParaRPr lang="en-US" sz="1100" dirty="0"/>
          </a:p>
        </p:txBody>
      </p:sp>
      <p:sp>
        <p:nvSpPr>
          <p:cNvPr id="13" name="Shape 11"/>
          <p:cNvSpPr/>
          <p:nvPr/>
        </p:nvSpPr>
        <p:spPr>
          <a:xfrm>
            <a:off x="6263640" y="2944368"/>
            <a:ext cx="5349240" cy="1371600"/>
          </a:xfrm>
          <a:prstGeom prst="roundRect">
            <a:avLst>
              <a:gd name="adj" fmla="val 8000"/>
            </a:avLst>
          </a:prstGeom>
          <a:solidFill>
            <a:srgbClr val="E9EEF4"/>
          </a:solidFill>
          <a:ln w="12700">
            <a:solidFill>
              <a:srgbClr val="E9EEF4"/>
            </a:solidFill>
            <a:prstDash val="solid"/>
          </a:ln>
        </p:spPr>
        <p:txBody>
          <a:bodyPr/>
          <a:lstStyle/>
          <a:p>
            <a:endParaRPr lang="en-US"/>
          </a:p>
        </p:txBody>
      </p:sp>
      <p:sp>
        <p:nvSpPr>
          <p:cNvPr id="14" name="Text 12"/>
          <p:cNvSpPr/>
          <p:nvPr/>
        </p:nvSpPr>
        <p:spPr>
          <a:xfrm>
            <a:off x="6583680" y="3108960"/>
            <a:ext cx="4709160" cy="347472"/>
          </a:xfrm>
          <a:prstGeom prst="rect">
            <a:avLst/>
          </a:prstGeom>
          <a:noFill/>
          <a:ln/>
        </p:spPr>
        <p:txBody>
          <a:bodyPr wrap="square" lIns="0" tIns="0" rIns="0" bIns="0" rtlCol="0" anchor="ctr"/>
          <a:lstStyle/>
          <a:p>
            <a:pPr marL="0" indent="0">
              <a:buNone/>
            </a:pPr>
            <a:r>
              <a:rPr lang="en-US" sz="1500" b="1" dirty="0">
                <a:solidFill>
                  <a:srgbClr val="132039"/>
                </a:solidFill>
                <a:latin typeface="Cambria" pitchFamily="34" charset="0"/>
                <a:ea typeface="Cambria" pitchFamily="34" charset="-122"/>
                <a:cs typeface="Cambria" pitchFamily="34" charset="-120"/>
              </a:rPr>
              <a:t>Trust and adoption</a:t>
            </a:r>
            <a:endParaRPr lang="en-US" sz="1500" dirty="0"/>
          </a:p>
        </p:txBody>
      </p:sp>
      <p:sp>
        <p:nvSpPr>
          <p:cNvPr id="15" name="Text 13"/>
          <p:cNvSpPr/>
          <p:nvPr/>
        </p:nvSpPr>
        <p:spPr>
          <a:xfrm>
            <a:off x="6583680" y="3493008"/>
            <a:ext cx="4709160" cy="7315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Read-only through Phase 1, an engineer in the loop throughout, citations visible on every claim. Adoption is measured, not assumed.</a:t>
            </a:r>
            <a:endParaRPr lang="en-US" sz="1100" dirty="0"/>
          </a:p>
        </p:txBody>
      </p:sp>
      <p:sp>
        <p:nvSpPr>
          <p:cNvPr id="16" name="Shape 14"/>
          <p:cNvSpPr/>
          <p:nvPr/>
        </p:nvSpPr>
        <p:spPr>
          <a:xfrm>
            <a:off x="548640" y="4425696"/>
            <a:ext cx="5349240" cy="1371600"/>
          </a:xfrm>
          <a:prstGeom prst="roundRect">
            <a:avLst>
              <a:gd name="adj" fmla="val 8000"/>
            </a:avLst>
          </a:prstGeom>
          <a:solidFill>
            <a:srgbClr val="E9EEF4"/>
          </a:solidFill>
          <a:ln w="12700">
            <a:solidFill>
              <a:srgbClr val="E9EEF4"/>
            </a:solidFill>
            <a:prstDash val="solid"/>
          </a:ln>
        </p:spPr>
        <p:txBody>
          <a:bodyPr/>
          <a:lstStyle/>
          <a:p>
            <a:endParaRPr lang="en-US"/>
          </a:p>
        </p:txBody>
      </p:sp>
      <p:sp>
        <p:nvSpPr>
          <p:cNvPr id="17" name="Text 15"/>
          <p:cNvSpPr/>
          <p:nvPr/>
        </p:nvSpPr>
        <p:spPr>
          <a:xfrm>
            <a:off x="868680" y="4590288"/>
            <a:ext cx="4709160" cy="347472"/>
          </a:xfrm>
          <a:prstGeom prst="rect">
            <a:avLst/>
          </a:prstGeom>
          <a:noFill/>
          <a:ln/>
        </p:spPr>
        <p:txBody>
          <a:bodyPr wrap="square" lIns="0" tIns="0" rIns="0" bIns="0" rtlCol="0" anchor="ctr"/>
          <a:lstStyle/>
          <a:p>
            <a:pPr marL="0" indent="0">
              <a:buNone/>
            </a:pPr>
            <a:r>
              <a:rPr lang="en-US" sz="1500" b="1" dirty="0">
                <a:solidFill>
                  <a:srgbClr val="132039"/>
                </a:solidFill>
                <a:latin typeface="Cambria" pitchFamily="34" charset="0"/>
                <a:ea typeface="Cambria" pitchFamily="34" charset="-122"/>
                <a:cs typeface="Cambria" pitchFamily="34" charset="-120"/>
              </a:rPr>
              <a:t>Security review timelines</a:t>
            </a:r>
            <a:endParaRPr lang="en-US" sz="1500" dirty="0"/>
          </a:p>
        </p:txBody>
      </p:sp>
      <p:sp>
        <p:nvSpPr>
          <p:cNvPr id="18" name="Text 16"/>
          <p:cNvSpPr/>
          <p:nvPr/>
        </p:nvSpPr>
        <p:spPr>
          <a:xfrm>
            <a:off x="868680" y="4974336"/>
            <a:ext cx="4709160" cy="7315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Constraints are designed in, not retrofitted. No new trust boundary and no standing privilege to negotiate late in the cycle.</a:t>
            </a:r>
            <a:endParaRPr lang="en-US" sz="1100" dirty="0"/>
          </a:p>
        </p:txBody>
      </p:sp>
      <p:sp>
        <p:nvSpPr>
          <p:cNvPr id="19" name="Shape 17"/>
          <p:cNvSpPr/>
          <p:nvPr/>
        </p:nvSpPr>
        <p:spPr>
          <a:xfrm>
            <a:off x="6263640" y="4425696"/>
            <a:ext cx="5349240" cy="1371600"/>
          </a:xfrm>
          <a:prstGeom prst="roundRect">
            <a:avLst>
              <a:gd name="adj" fmla="val 8000"/>
            </a:avLst>
          </a:prstGeom>
          <a:solidFill>
            <a:srgbClr val="E9EEF4"/>
          </a:solidFill>
          <a:ln w="12700">
            <a:solidFill>
              <a:srgbClr val="E9EEF4"/>
            </a:solidFill>
            <a:prstDash val="solid"/>
          </a:ln>
        </p:spPr>
        <p:txBody>
          <a:bodyPr/>
          <a:lstStyle/>
          <a:p>
            <a:endParaRPr lang="en-US"/>
          </a:p>
        </p:txBody>
      </p:sp>
      <p:sp>
        <p:nvSpPr>
          <p:cNvPr id="20" name="Text 18"/>
          <p:cNvSpPr/>
          <p:nvPr/>
        </p:nvSpPr>
        <p:spPr>
          <a:xfrm>
            <a:off x="6583680" y="4590288"/>
            <a:ext cx="4709160" cy="347472"/>
          </a:xfrm>
          <a:prstGeom prst="rect">
            <a:avLst/>
          </a:prstGeom>
          <a:noFill/>
          <a:ln/>
        </p:spPr>
        <p:txBody>
          <a:bodyPr wrap="square" lIns="0" tIns="0" rIns="0" bIns="0" rtlCol="0" anchor="ctr"/>
          <a:lstStyle/>
          <a:p>
            <a:pPr marL="0" indent="0">
              <a:buNone/>
            </a:pPr>
            <a:r>
              <a:rPr lang="en-US" sz="1500" b="1" dirty="0">
                <a:solidFill>
                  <a:srgbClr val="132039"/>
                </a:solidFill>
                <a:latin typeface="Cambria" pitchFamily="34" charset="0"/>
                <a:ea typeface="Cambria" pitchFamily="34" charset="-122"/>
                <a:cs typeface="Cambria" pitchFamily="34" charset="-120"/>
              </a:rPr>
              <a:t>Model dependency</a:t>
            </a:r>
            <a:endParaRPr lang="en-US" sz="1500" dirty="0"/>
          </a:p>
        </p:txBody>
      </p:sp>
      <p:sp>
        <p:nvSpPr>
          <p:cNvPr id="21" name="Text 19"/>
          <p:cNvSpPr/>
          <p:nvPr/>
        </p:nvSpPr>
        <p:spPr>
          <a:xfrm>
            <a:off x="6583680" y="4974336"/>
            <a:ext cx="4709160" cy="731520"/>
          </a:xfrm>
          <a:prstGeom prst="rect">
            <a:avLst/>
          </a:prstGeom>
          <a:noFill/>
          <a:ln/>
        </p:spPr>
        <p:txBody>
          <a:bodyPr wrap="square" lIns="0" tIns="0" rIns="0" bIns="0" rtlCol="0" anchor="ctr"/>
          <a:lstStyle/>
          <a:p>
            <a:pPr marL="0" indent="0">
              <a:buNone/>
            </a:pPr>
            <a:r>
              <a:rPr lang="en-US" sz="1100" dirty="0">
                <a:solidFill>
                  <a:srgbClr val="5A6B80"/>
                </a:solidFill>
                <a:latin typeface="Calibri" pitchFamily="34" charset="0"/>
                <a:ea typeface="Calibri" pitchFamily="34" charset="-122"/>
                <a:cs typeface="Calibri" pitchFamily="34" charset="-120"/>
              </a:rPr>
              <a:t>Agents sit behind an abstraction layer. The model is a swappable component, not the architecture.</a:t>
            </a:r>
            <a:endParaRPr lang="en-US" sz="1100" dirty="0"/>
          </a:p>
        </p:txBody>
      </p:sp>
      <p:sp>
        <p:nvSpPr>
          <p:cNvPr id="22" name="Text 20"/>
          <p:cNvSpPr/>
          <p:nvPr/>
        </p:nvSpPr>
        <p:spPr>
          <a:xfrm>
            <a:off x="548640" y="5943600"/>
            <a:ext cx="11064240" cy="365760"/>
          </a:xfrm>
          <a:prstGeom prst="rect">
            <a:avLst/>
          </a:prstGeom>
          <a:noFill/>
          <a:ln/>
        </p:spPr>
        <p:txBody>
          <a:bodyPr wrap="square" lIns="0" tIns="0" rIns="0" bIns="0" rtlCol="0" anchor="ctr"/>
          <a:lstStyle/>
          <a:p>
            <a:pPr marL="0" indent="0">
              <a:buNone/>
            </a:pPr>
            <a:r>
              <a:rPr lang="en-US" sz="1300" i="1" dirty="0">
                <a:solidFill>
                  <a:srgbClr val="132039"/>
                </a:solidFill>
                <a:latin typeface="Calibri" pitchFamily="34" charset="0"/>
                <a:ea typeface="Calibri" pitchFamily="34" charset="-122"/>
                <a:cs typeface="Calibri" pitchFamily="34" charset="-120"/>
              </a:rPr>
              <a:t>The highlighted risk is the one that decides whether knowledge reuse works — and it is a data problem, not a model problem.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11064240" cy="274320"/>
          </a:xfrm>
          <a:prstGeom prst="rect">
            <a:avLst/>
          </a:prstGeom>
          <a:noFill/>
          <a:ln/>
        </p:spPr>
        <p:txBody>
          <a:bodyPr wrap="square" lIns="0" tIns="0" rIns="0" bIns="0" rtlCol="0" anchor="ctr"/>
          <a:lstStyle/>
          <a:p>
            <a:pPr marL="0" indent="0">
              <a:buNone/>
            </a:pPr>
            <a:r>
              <a:rPr lang="en-US" sz="1100" b="1" kern="0" spc="200" dirty="0">
                <a:solidFill>
                  <a:srgbClr val="E2661A"/>
                </a:solidFill>
                <a:latin typeface="Calibri" pitchFamily="34" charset="0"/>
                <a:ea typeface="Calibri" pitchFamily="34" charset="-122"/>
                <a:cs typeface="Calibri" pitchFamily="34" charset="-120"/>
              </a:rPr>
              <a:t>DELIVERY</a:t>
            </a:r>
            <a:endParaRPr lang="en-US" sz="1100" dirty="0"/>
          </a:p>
        </p:txBody>
      </p:sp>
      <p:sp>
        <p:nvSpPr>
          <p:cNvPr id="3" name="Text 1"/>
          <p:cNvSpPr/>
          <p:nvPr/>
        </p:nvSpPr>
        <p:spPr>
          <a:xfrm>
            <a:off x="548640" y="411480"/>
            <a:ext cx="11064240" cy="777240"/>
          </a:xfrm>
          <a:prstGeom prst="rect">
            <a:avLst/>
          </a:prstGeom>
          <a:noFill/>
          <a:ln/>
        </p:spPr>
        <p:txBody>
          <a:bodyPr wrap="square" lIns="0" tIns="0" rIns="0" bIns="0" rtlCol="0" anchor="ctr"/>
          <a:lstStyle/>
          <a:p>
            <a:pPr marL="0" indent="0">
              <a:buNone/>
            </a:pPr>
            <a:r>
              <a:rPr lang="en-US" sz="3200" b="1" dirty="0">
                <a:solidFill>
                  <a:srgbClr val="132039"/>
                </a:solidFill>
                <a:latin typeface="Cambria" pitchFamily="34" charset="0"/>
                <a:ea typeface="Cambria" pitchFamily="34" charset="-122"/>
                <a:cs typeface="Cambria" pitchFamily="34" charset="-120"/>
              </a:rPr>
              <a:t>Three phases, value at the end of each</a:t>
            </a:r>
            <a:endParaRPr lang="en-US" sz="3200" dirty="0"/>
          </a:p>
        </p:txBody>
      </p:sp>
      <p:sp>
        <p:nvSpPr>
          <p:cNvPr id="4" name="Shape 2"/>
          <p:cNvSpPr/>
          <p:nvPr/>
        </p:nvSpPr>
        <p:spPr>
          <a:xfrm>
            <a:off x="548640" y="1463040"/>
            <a:ext cx="3447288" cy="868680"/>
          </a:xfrm>
          <a:prstGeom prst="roundRect">
            <a:avLst>
              <a:gd name="adj" fmla="val 10526"/>
            </a:avLst>
          </a:prstGeom>
          <a:solidFill>
            <a:srgbClr val="132039"/>
          </a:solidFill>
          <a:ln w="12700">
            <a:solidFill>
              <a:srgbClr val="132039"/>
            </a:solidFill>
            <a:prstDash val="solid"/>
          </a:ln>
        </p:spPr>
        <p:txBody>
          <a:bodyPr/>
          <a:lstStyle/>
          <a:p>
            <a:endParaRPr lang="en-US"/>
          </a:p>
        </p:txBody>
      </p:sp>
      <p:sp>
        <p:nvSpPr>
          <p:cNvPr id="5" name="Text 3"/>
          <p:cNvSpPr/>
          <p:nvPr/>
        </p:nvSpPr>
        <p:spPr>
          <a:xfrm>
            <a:off x="548640" y="1536192"/>
            <a:ext cx="344728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Phase 1  ·  Query and explain</a:t>
            </a:r>
            <a:endParaRPr lang="en-US" sz="1500" dirty="0"/>
          </a:p>
        </p:txBody>
      </p:sp>
      <p:sp>
        <p:nvSpPr>
          <p:cNvPr id="6" name="Text 4"/>
          <p:cNvSpPr/>
          <p:nvPr/>
        </p:nvSpPr>
        <p:spPr>
          <a:xfrm>
            <a:off x="548640" y="1901952"/>
            <a:ext cx="3447288" cy="292608"/>
          </a:xfrm>
          <a:prstGeom prst="rect">
            <a:avLst/>
          </a:prstGeom>
          <a:noFill/>
          <a:ln/>
        </p:spPr>
        <p:txBody>
          <a:bodyPr wrap="square" lIns="0" tIns="0" rIns="0" bIns="0" rtlCol="0" anchor="ctr"/>
          <a:lstStyle/>
          <a:p>
            <a:pPr marL="0" indent="0" algn="ctr">
              <a:buNone/>
            </a:pPr>
            <a:endParaRPr lang="en-US" sz="1100" dirty="0"/>
          </a:p>
        </p:txBody>
      </p:sp>
      <p:sp>
        <p:nvSpPr>
          <p:cNvPr id="7" name="Shape 5"/>
          <p:cNvSpPr/>
          <p:nvPr/>
        </p:nvSpPr>
        <p:spPr>
          <a:xfrm>
            <a:off x="548640" y="2450592"/>
            <a:ext cx="3447288" cy="2697480"/>
          </a:xfrm>
          <a:prstGeom prst="roundRect">
            <a:avLst>
              <a:gd name="adj" fmla="val 4068"/>
            </a:avLst>
          </a:prstGeom>
          <a:solidFill>
            <a:srgbClr val="E9EEF4"/>
          </a:solidFill>
          <a:ln w="12700">
            <a:solidFill>
              <a:srgbClr val="E9EEF4"/>
            </a:solidFill>
            <a:prstDash val="solid"/>
          </a:ln>
        </p:spPr>
        <p:txBody>
          <a:bodyPr/>
          <a:lstStyle/>
          <a:p>
            <a:endParaRPr lang="en-US"/>
          </a:p>
        </p:txBody>
      </p:sp>
      <p:sp>
        <p:nvSpPr>
          <p:cNvPr id="8" name="Text 6"/>
          <p:cNvSpPr/>
          <p:nvPr/>
        </p:nvSpPr>
        <p:spPr>
          <a:xfrm>
            <a:off x="868680" y="2651760"/>
            <a:ext cx="283464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Adapters for two orchestrators</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Normalized failure record</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NL query and grounded root cause</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Replay harness and baseline</a:t>
            </a:r>
            <a:endParaRPr lang="en-US" sz="1250" dirty="0"/>
          </a:p>
        </p:txBody>
      </p:sp>
      <p:sp>
        <p:nvSpPr>
          <p:cNvPr id="9" name="Shape 7"/>
          <p:cNvSpPr/>
          <p:nvPr/>
        </p:nvSpPr>
        <p:spPr>
          <a:xfrm>
            <a:off x="4270248" y="1463040"/>
            <a:ext cx="3447288" cy="868680"/>
          </a:xfrm>
          <a:prstGeom prst="roundRect">
            <a:avLst>
              <a:gd name="adj" fmla="val 10526"/>
            </a:avLst>
          </a:prstGeom>
          <a:solidFill>
            <a:srgbClr val="B04A0F"/>
          </a:solidFill>
          <a:ln w="12700">
            <a:solidFill>
              <a:srgbClr val="B04A0F"/>
            </a:solidFill>
            <a:prstDash val="solid"/>
          </a:ln>
        </p:spPr>
        <p:txBody>
          <a:bodyPr/>
          <a:lstStyle/>
          <a:p>
            <a:endParaRPr lang="en-US"/>
          </a:p>
        </p:txBody>
      </p:sp>
      <p:sp>
        <p:nvSpPr>
          <p:cNvPr id="10" name="Text 8"/>
          <p:cNvSpPr/>
          <p:nvPr/>
        </p:nvSpPr>
        <p:spPr>
          <a:xfrm>
            <a:off x="4270248" y="1536192"/>
            <a:ext cx="344728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Phase 2  ·  Recommend and reuse</a:t>
            </a:r>
            <a:endParaRPr lang="en-US" sz="1500" dirty="0"/>
          </a:p>
        </p:txBody>
      </p:sp>
      <p:sp>
        <p:nvSpPr>
          <p:cNvPr id="11" name="Text 9"/>
          <p:cNvSpPr/>
          <p:nvPr/>
        </p:nvSpPr>
        <p:spPr>
          <a:xfrm>
            <a:off x="4270248" y="1901952"/>
            <a:ext cx="3447288" cy="292608"/>
          </a:xfrm>
          <a:prstGeom prst="rect">
            <a:avLst/>
          </a:prstGeom>
          <a:noFill/>
          <a:ln/>
        </p:spPr>
        <p:txBody>
          <a:bodyPr wrap="square" lIns="0" tIns="0" rIns="0" bIns="0" rtlCol="0" anchor="ctr"/>
          <a:lstStyle/>
          <a:p>
            <a:pPr marL="0" indent="0" algn="ctr">
              <a:buNone/>
            </a:pPr>
            <a:endParaRPr lang="en-US" sz="1100" dirty="0"/>
          </a:p>
        </p:txBody>
      </p:sp>
      <p:sp>
        <p:nvSpPr>
          <p:cNvPr id="12" name="Shape 10"/>
          <p:cNvSpPr/>
          <p:nvPr/>
        </p:nvSpPr>
        <p:spPr>
          <a:xfrm>
            <a:off x="4270248" y="2450592"/>
            <a:ext cx="3447288" cy="2697480"/>
          </a:xfrm>
          <a:prstGeom prst="roundRect">
            <a:avLst>
              <a:gd name="adj" fmla="val 4068"/>
            </a:avLst>
          </a:prstGeom>
          <a:solidFill>
            <a:srgbClr val="E9EEF4"/>
          </a:solidFill>
          <a:ln w="12700">
            <a:solidFill>
              <a:srgbClr val="E9EEF4"/>
            </a:solidFill>
            <a:prstDash val="solid"/>
          </a:ln>
        </p:spPr>
        <p:txBody>
          <a:bodyPr/>
          <a:lstStyle/>
          <a:p>
            <a:endParaRPr lang="en-US"/>
          </a:p>
        </p:txBody>
      </p:sp>
      <p:sp>
        <p:nvSpPr>
          <p:cNvPr id="13" name="Text 11"/>
          <p:cNvSpPr/>
          <p:nvPr/>
        </p:nvSpPr>
        <p:spPr>
          <a:xfrm>
            <a:off x="4590288" y="2651760"/>
            <a:ext cx="283464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Resolved-failure knowledge base</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Error-signature clustering</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Ranked fixes with citations</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Confidence scoring and abstention</a:t>
            </a:r>
            <a:endParaRPr lang="en-US" sz="1250" dirty="0"/>
          </a:p>
        </p:txBody>
      </p:sp>
      <p:sp>
        <p:nvSpPr>
          <p:cNvPr id="14" name="Shape 12"/>
          <p:cNvSpPr/>
          <p:nvPr/>
        </p:nvSpPr>
        <p:spPr>
          <a:xfrm>
            <a:off x="7991856" y="1463040"/>
            <a:ext cx="3447288" cy="868680"/>
          </a:xfrm>
          <a:prstGeom prst="roundRect">
            <a:avLst>
              <a:gd name="adj" fmla="val 10526"/>
            </a:avLst>
          </a:prstGeom>
          <a:solidFill>
            <a:srgbClr val="E2661A"/>
          </a:solidFill>
          <a:ln w="12700">
            <a:solidFill>
              <a:srgbClr val="E2661A"/>
            </a:solidFill>
            <a:prstDash val="solid"/>
          </a:ln>
        </p:spPr>
        <p:txBody>
          <a:bodyPr/>
          <a:lstStyle/>
          <a:p>
            <a:endParaRPr lang="en-US"/>
          </a:p>
        </p:txBody>
      </p:sp>
      <p:sp>
        <p:nvSpPr>
          <p:cNvPr id="15" name="Text 13"/>
          <p:cNvSpPr/>
          <p:nvPr/>
        </p:nvSpPr>
        <p:spPr>
          <a:xfrm>
            <a:off x="7991856" y="1536192"/>
            <a:ext cx="344728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Phase 3  ·  Trigger with approval</a:t>
            </a:r>
            <a:endParaRPr lang="en-US" sz="1500" dirty="0"/>
          </a:p>
        </p:txBody>
      </p:sp>
      <p:sp>
        <p:nvSpPr>
          <p:cNvPr id="16" name="Text 14"/>
          <p:cNvSpPr/>
          <p:nvPr/>
        </p:nvSpPr>
        <p:spPr>
          <a:xfrm>
            <a:off x="7991856" y="1901952"/>
            <a:ext cx="3447288" cy="292608"/>
          </a:xfrm>
          <a:prstGeom prst="rect">
            <a:avLst/>
          </a:prstGeom>
          <a:noFill/>
          <a:ln/>
        </p:spPr>
        <p:txBody>
          <a:bodyPr wrap="square" lIns="0" tIns="0" rIns="0" bIns="0" rtlCol="0" anchor="ctr"/>
          <a:lstStyle/>
          <a:p>
            <a:pPr marL="0" indent="0" algn="ctr">
              <a:buNone/>
            </a:pPr>
            <a:endParaRPr lang="en-US" sz="1100" dirty="0"/>
          </a:p>
        </p:txBody>
      </p:sp>
      <p:sp>
        <p:nvSpPr>
          <p:cNvPr id="17" name="Shape 15"/>
          <p:cNvSpPr/>
          <p:nvPr/>
        </p:nvSpPr>
        <p:spPr>
          <a:xfrm>
            <a:off x="7991856" y="2450592"/>
            <a:ext cx="3447288" cy="2697480"/>
          </a:xfrm>
          <a:prstGeom prst="roundRect">
            <a:avLst>
              <a:gd name="adj" fmla="val 4068"/>
            </a:avLst>
          </a:prstGeom>
          <a:solidFill>
            <a:srgbClr val="FDEFE3"/>
          </a:solidFill>
          <a:ln w="12700">
            <a:solidFill>
              <a:srgbClr val="F5A25B"/>
            </a:solidFill>
            <a:prstDash val="solid"/>
          </a:ln>
        </p:spPr>
        <p:txBody>
          <a:bodyPr/>
          <a:lstStyle/>
          <a:p>
            <a:endParaRPr lang="en-US"/>
          </a:p>
        </p:txBody>
      </p:sp>
      <p:sp>
        <p:nvSpPr>
          <p:cNvPr id="18" name="Text 16"/>
          <p:cNvSpPr/>
          <p:nvPr/>
        </p:nvSpPr>
        <p:spPr>
          <a:xfrm>
            <a:off x="8311896" y="2651760"/>
            <a:ext cx="2834640" cy="228600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Allow-listed action tools</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Role validation and approval gate</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Audit trail and write-back loop</a:t>
            </a:r>
            <a:endParaRPr lang="en-US" sz="1250" dirty="0"/>
          </a:p>
          <a:p>
            <a:pPr marL="342900" indent="-342900">
              <a:spcAft>
                <a:spcPts val="1000"/>
              </a:spcAft>
              <a:buSzPct val="100000"/>
              <a:buChar char="•"/>
            </a:pPr>
            <a:r>
              <a:rPr lang="en-US" sz="1250" dirty="0">
                <a:solidFill>
                  <a:srgbClr val="132039"/>
                </a:solidFill>
                <a:latin typeface="Calibri" pitchFamily="34" charset="0"/>
                <a:ea typeface="Calibri" pitchFamily="34" charset="-122"/>
                <a:cs typeface="Calibri" pitchFamily="34" charset="-120"/>
              </a:rPr>
              <a:t>Remaining platform adapters</a:t>
            </a:r>
            <a:endParaRPr lang="en-US" sz="1250" dirty="0"/>
          </a:p>
        </p:txBody>
      </p:sp>
      <p:sp>
        <p:nvSpPr>
          <p:cNvPr id="19" name="Shape 17"/>
          <p:cNvSpPr/>
          <p:nvPr/>
        </p:nvSpPr>
        <p:spPr>
          <a:xfrm>
            <a:off x="548640" y="5349240"/>
            <a:ext cx="11064240" cy="731520"/>
          </a:xfrm>
          <a:prstGeom prst="roundRect">
            <a:avLst>
              <a:gd name="adj" fmla="val 12500"/>
            </a:avLst>
          </a:prstGeom>
          <a:solidFill>
            <a:srgbClr val="132039"/>
          </a:solidFill>
          <a:ln w="12700">
            <a:solidFill>
              <a:srgbClr val="132039"/>
            </a:solidFill>
            <a:prstDash val="solid"/>
          </a:ln>
        </p:spPr>
        <p:txBody>
          <a:bodyPr/>
          <a:lstStyle/>
          <a:p>
            <a:endParaRPr lang="en-US"/>
          </a:p>
        </p:txBody>
      </p:sp>
      <p:sp>
        <p:nvSpPr>
          <p:cNvPr id="20" name="Text 18"/>
          <p:cNvSpPr/>
          <p:nvPr/>
        </p:nvSpPr>
        <p:spPr>
          <a:xfrm>
            <a:off x="914400" y="5349240"/>
            <a:ext cx="10332720" cy="73152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Team of three, roughly fourteen weeks to full scope — and a conversational interface answering real questions by week four.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039"/>
        </a:solidFill>
        <a:effectLst/>
      </p:bgPr>
    </p:bg>
    <p:spTree>
      <p:nvGrpSpPr>
        <p:cNvPr id="1" name=""/>
        <p:cNvGrpSpPr/>
        <p:nvPr/>
      </p:nvGrpSpPr>
      <p:grpSpPr>
        <a:xfrm>
          <a:off x="0" y="0"/>
          <a:ext cx="0" cy="0"/>
          <a:chOff x="0" y="0"/>
          <a:chExt cx="0" cy="0"/>
        </a:xfrm>
      </p:grpSpPr>
      <p:sp>
        <p:nvSpPr>
          <p:cNvPr id="2" name="Shape 0"/>
          <p:cNvSpPr/>
          <p:nvPr/>
        </p:nvSpPr>
        <p:spPr>
          <a:xfrm>
            <a:off x="-1463040" y="4023360"/>
            <a:ext cx="4206240" cy="4206240"/>
          </a:xfrm>
          <a:prstGeom prst="ellipse">
            <a:avLst/>
          </a:prstGeom>
          <a:solidFill>
            <a:srgbClr val="22344F"/>
          </a:solidFill>
          <a:ln w="12700">
            <a:solidFill>
              <a:srgbClr val="22344F"/>
            </a:solidFill>
            <a:prstDash val="solid"/>
          </a:ln>
        </p:spPr>
        <p:txBody>
          <a:bodyPr/>
          <a:lstStyle/>
          <a:p>
            <a:endParaRPr lang="en-US"/>
          </a:p>
        </p:txBody>
      </p:sp>
      <p:sp>
        <p:nvSpPr>
          <p:cNvPr id="3" name="Shape 1"/>
          <p:cNvSpPr/>
          <p:nvPr/>
        </p:nvSpPr>
        <p:spPr>
          <a:xfrm>
            <a:off x="10241280" y="-1280160"/>
            <a:ext cx="3657600" cy="3657600"/>
          </a:xfrm>
          <a:prstGeom prst="ellipse">
            <a:avLst/>
          </a:prstGeom>
          <a:solidFill>
            <a:srgbClr val="22344F"/>
          </a:solidFill>
          <a:ln w="12700">
            <a:solidFill>
              <a:srgbClr val="22344F"/>
            </a:solidFill>
            <a:prstDash val="solid"/>
          </a:ln>
        </p:spPr>
        <p:txBody>
          <a:bodyPr/>
          <a:lstStyle/>
          <a:p>
            <a:endParaRPr lang="en-US"/>
          </a:p>
        </p:txBody>
      </p:sp>
      <p:sp>
        <p:nvSpPr>
          <p:cNvPr id="4" name="Text 2"/>
          <p:cNvSpPr/>
          <p:nvPr/>
        </p:nvSpPr>
        <p:spPr>
          <a:xfrm>
            <a:off x="914400" y="1371600"/>
            <a:ext cx="5486400" cy="365760"/>
          </a:xfrm>
          <a:prstGeom prst="rect">
            <a:avLst/>
          </a:prstGeom>
          <a:noFill/>
          <a:ln/>
        </p:spPr>
        <p:txBody>
          <a:bodyPr wrap="square" lIns="0" tIns="0" rIns="0" bIns="0" rtlCol="0" anchor="ctr"/>
          <a:lstStyle/>
          <a:p>
            <a:pPr marL="0" indent="0">
              <a:buNone/>
            </a:pPr>
            <a:r>
              <a:rPr lang="en-US" sz="1200" b="1" kern="0" spc="200" dirty="0">
                <a:solidFill>
                  <a:srgbClr val="F5A25B"/>
                </a:solidFill>
                <a:latin typeface="Calibri" pitchFamily="34" charset="0"/>
                <a:ea typeface="Calibri" pitchFamily="34" charset="-122"/>
                <a:cs typeface="Calibri" pitchFamily="34" charset="-120"/>
              </a:rPr>
              <a:t>THE ASK</a:t>
            </a:r>
            <a:endParaRPr lang="en-US" sz="1200" dirty="0"/>
          </a:p>
        </p:txBody>
      </p:sp>
      <p:sp>
        <p:nvSpPr>
          <p:cNvPr id="5" name="Text 3"/>
          <p:cNvSpPr/>
          <p:nvPr/>
        </p:nvSpPr>
        <p:spPr>
          <a:xfrm>
            <a:off x="914400" y="1828800"/>
            <a:ext cx="877824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One pipeline estate and</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ninety days of execution history</a:t>
            </a:r>
            <a:endParaRPr lang="en-US" sz="3400" dirty="0"/>
          </a:p>
        </p:txBody>
      </p:sp>
      <p:sp>
        <p:nvSpPr>
          <p:cNvPr id="6" name="Text 4"/>
          <p:cNvSpPr/>
          <p:nvPr/>
        </p:nvSpPr>
        <p:spPr>
          <a:xfrm>
            <a:off x="914400" y="3429000"/>
            <a:ext cx="7863840" cy="1097280"/>
          </a:xfrm>
          <a:prstGeom prst="rect">
            <a:avLst/>
          </a:prstGeom>
          <a:noFill/>
          <a:ln/>
        </p:spPr>
        <p:txBody>
          <a:bodyPr wrap="square" lIns="0" tIns="0" rIns="0" bIns="0" rtlCol="0" anchor="ctr"/>
          <a:lstStyle/>
          <a:p>
            <a:pPr marL="0" indent="0">
              <a:buNone/>
            </a:pPr>
            <a:r>
              <a:rPr lang="en-US" sz="1500" dirty="0">
                <a:solidFill>
                  <a:srgbClr val="E9EEF4"/>
                </a:solidFill>
                <a:latin typeface="Calibri" pitchFamily="34" charset="0"/>
                <a:ea typeface="Calibri" pitchFamily="34" charset="-122"/>
                <a:cs typeface="Calibri" pitchFamily="34" charset="-120"/>
              </a:rPr>
              <a:t>Read access to logs, execution history and error messages for a single orchestrator is everything Phase 1 needs. No production write access, no new trust boundary — and a scored result against real failures at the end of it.</a:t>
            </a:r>
            <a:endParaRPr lang="en-US" sz="1500" dirty="0"/>
          </a:p>
        </p:txBody>
      </p:sp>
      <p:sp>
        <p:nvSpPr>
          <p:cNvPr id="7" name="Shape 5"/>
          <p:cNvSpPr/>
          <p:nvPr/>
        </p:nvSpPr>
        <p:spPr>
          <a:xfrm>
            <a:off x="914400" y="4846320"/>
            <a:ext cx="7863840" cy="777240"/>
          </a:xfrm>
          <a:prstGeom prst="roundRect">
            <a:avLst>
              <a:gd name="adj" fmla="val 14118"/>
            </a:avLst>
          </a:prstGeom>
          <a:solidFill>
            <a:srgbClr val="E2661A"/>
          </a:solidFill>
          <a:ln w="12700">
            <a:solidFill>
              <a:srgbClr val="E2661A"/>
            </a:solidFill>
            <a:prstDash val="solid"/>
          </a:ln>
        </p:spPr>
        <p:txBody>
          <a:bodyPr/>
          <a:lstStyle/>
          <a:p>
            <a:endParaRPr lang="en-US"/>
          </a:p>
        </p:txBody>
      </p:sp>
      <p:sp>
        <p:nvSpPr>
          <p:cNvPr id="8" name="Text 6"/>
          <p:cNvSpPr/>
          <p:nvPr/>
        </p:nvSpPr>
        <p:spPr>
          <a:xfrm>
            <a:off x="914400" y="4846320"/>
            <a:ext cx="7863840" cy="777240"/>
          </a:xfrm>
          <a:prstGeom prst="rect">
            <a:avLst/>
          </a:prstGeom>
          <a:noFill/>
          <a:ln/>
        </p:spPr>
        <p:txBody>
          <a:bodyPr wrap="square" lIns="0" tIns="0" rIns="0" bIns="0" rtlCol="0" anchor="ctr"/>
          <a:lstStyle/>
          <a:p>
            <a:pPr marL="0" indent="0" algn="ctr">
              <a:buNone/>
            </a:pPr>
            <a:r>
              <a:rPr lang="en-US" sz="1800" b="1" i="1" dirty="0">
                <a:solidFill>
                  <a:srgbClr val="FFFFFF"/>
                </a:solidFill>
                <a:latin typeface="Cambria" pitchFamily="34" charset="0"/>
                <a:ea typeface="Cambria" pitchFamily="34" charset="-122"/>
                <a:cs typeface="Cambria" pitchFamily="34" charset="-120"/>
              </a:rPr>
              <a:t>Stop re-diagnosing yesterday's failure.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2685</Words>
  <Application>Microsoft Office PowerPoint</Application>
  <PresentationFormat>Widescreen</PresentationFormat>
  <Paragraphs>292</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Assistant for Intelligent Pipeline Failure Analysis</dc:title>
  <dc:subject>PptxGenJS Presentation</dc:subject>
  <dc:creator>Team 10</dc:creator>
  <cp:lastModifiedBy>Gupta, Prayas</cp:lastModifiedBy>
  <cp:revision>1</cp:revision>
  <dcterms:created xsi:type="dcterms:W3CDTF">2026-08-10T10:00:16Z</dcterms:created>
  <dcterms:modified xsi:type="dcterms:W3CDTF">2026-08-10T10:38:01Z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32c2-122e-4c56-85a9-bc2fa83b9933_Enabled">
    <vt:lpwstr>true</vt:lpwstr>
  </property>
  <property fmtid="{D5CDD505-2E9C-101B-9397-08002B2CF9AE}" pid="3" name="MSIP_Label_5b5832c2-122e-4c56-85a9-bc2fa83b9933_SetDate">
    <vt:lpwstr>2026-08-10T10:03:28Z</vt:lpwstr>
  </property>
  <property fmtid="{D5CDD505-2E9C-101B-9397-08002B2CF9AE}" pid="4" name="MSIP_Label_5b5832c2-122e-4c56-85a9-bc2fa83b9933_Method">
    <vt:lpwstr>Privileged</vt:lpwstr>
  </property>
  <property fmtid="{D5CDD505-2E9C-101B-9397-08002B2CF9AE}" pid="5" name="MSIP_Label_5b5832c2-122e-4c56-85a9-bc2fa83b9933_Name">
    <vt:lpwstr>General</vt:lpwstr>
  </property>
  <property fmtid="{D5CDD505-2E9C-101B-9397-08002B2CF9AE}" pid="6" name="MSIP_Label_5b5832c2-122e-4c56-85a9-bc2fa83b9933_SiteId">
    <vt:lpwstr>89a64c04-5070-4bae-a1ed-e9639497e1b7</vt:lpwstr>
  </property>
  <property fmtid="{D5CDD505-2E9C-101B-9397-08002B2CF9AE}" pid="7" name="MSIP_Label_5b5832c2-122e-4c56-85a9-bc2fa83b9933_ActionId">
    <vt:lpwstr>5310760f-c702-4b1c-bd16-99b39a406568</vt:lpwstr>
  </property>
  <property fmtid="{D5CDD505-2E9C-101B-9397-08002B2CF9AE}" pid="8" name="MSIP_Label_5b5832c2-122e-4c56-85a9-bc2fa83b9933_ContentBits">
    <vt:lpwstr>0</vt:lpwstr>
  </property>
  <property fmtid="{D5CDD505-2E9C-101B-9397-08002B2CF9AE}" pid="9" name="MSIP_Label_5b5832c2-122e-4c56-85a9-bc2fa83b9933_Tag">
    <vt:lpwstr>10, 0, 1, 1</vt:lpwstr>
  </property>
</Properties>
</file>