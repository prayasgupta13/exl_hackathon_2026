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the hardest part of a lakehouse migration isn't the data, it's the hundreds of stored procedures. We built a GenAI-powered accelerator that converts them and stays trustworthy enough for regulated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pain: manual rewrite is slow and inconsistent; LLM-only is fast but hallucinates and isn't reproducible; and nobody checks that the target schema has already drifted from what the procedures assume.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three bets: determinism where correctness matters, metadata as the single source of truth, and drift detection as a gate before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phases left to right. Drift (amber) is the gate. Every phase writes an execution_log row; everything mirrors to CSV; offline mode runs everything except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GenAI only touches std-&gt;dwh, and even there it's handed exact names from lineage. raw-&gt;std is a pure template, so the output is byte-identical on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Drift is the differentiator. Four types, severity drives the pipeline. The terminal panel shows REAL findings from this run: two blockers and one warning, produced deterministically.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in one slide. Five procedures engineered to hit five realistic outcomes: a clean convert, two blockers, a recoverable type warning, and a dynamic-SQL human-review packet.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Lineage is the contract. Codegen resolves names through it, so code and lineage can't disagree. These are real rows for the customer dimension, with business-key and SCD2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an enterprise can trust it: append-only metadata with deterministic IDs, a full execution log, GenAI prompt/response audit, human-in-the-loop, offline inspectability, temperature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against the alternatives. We keep the speed of generation and add the reproducibility, drift-awareness and audit trail the other two lack.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and impact for management: weeks to hours, byte-identical regeneration, 12 tests passing with no credentials, and an audit-ready metadata trail on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roadmap and the ask: a pilot on 20 real production procedures, with the drift report and audit trail as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6858000" cy="6858000"/>
          </a:xfrm>
          <a:prstGeom prst="ellipse">
            <a:avLst/>
          </a:prstGeom>
          <a:solidFill>
            <a:srgbClr val="EDF4FB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943600" cy="5943600"/>
          </a:xfrm>
          <a:prstGeom prst="ellipse">
            <a:avLst/>
          </a:prstGeom>
          <a:solidFill>
            <a:srgbClr val="F0F8F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  ·  DATA ENGINEERING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7863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
</a:t>
            </a:r>
            <a:pPr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→ Databricks
</a:t>
            </a:r>
            <a:pPr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procedures in.  Governed lakehouse pipelines out.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5257800"/>
            <a:ext cx="2382012" cy="475488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5431536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257800"/>
            <a:ext cx="19705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Deterministic-first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15284" y="5257800"/>
            <a:ext cx="2171700" cy="475488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8164" y="5431536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3781044" y="5257800"/>
            <a:ext cx="17602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is truth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43016" y="5257800"/>
            <a:ext cx="1540764" cy="475488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25896" y="5431536"/>
            <a:ext cx="128016" cy="12801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5" name="Text 13"/>
          <p:cNvSpPr/>
          <p:nvPr/>
        </p:nvSpPr>
        <p:spPr>
          <a:xfrm>
            <a:off x="6208776" y="5257800"/>
            <a:ext cx="11292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Drift-gated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81160" y="1600200"/>
            <a:ext cx="2240280" cy="960120"/>
          </a:xfrm>
          <a:prstGeom prst="roundRect">
            <a:avLst>
              <a:gd name="adj" fmla="val 13333"/>
            </a:avLst>
          </a:prstGeom>
          <a:solidFill>
            <a:srgbClr val="FDF3E1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17282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0976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landed as-is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22992" y="25694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1B5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81160" y="2898648"/>
            <a:ext cx="2240280" cy="960120"/>
          </a:xfrm>
          <a:prstGeom prst="roundRect">
            <a:avLst>
              <a:gd name="adj" fmla="val 13333"/>
            </a:avLst>
          </a:prstGeom>
          <a:solidFill>
            <a:srgbClr val="E2F6F2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30266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09760" y="3401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cleansed · typed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22992" y="38679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1B5"/>
                </a:solidFill>
              </a:rPr>
              <a:t>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81160" y="4197096"/>
            <a:ext cx="2240280" cy="960120"/>
          </a:xfrm>
          <a:prstGeom prst="roundRect">
            <a:avLst>
              <a:gd name="adj" fmla="val 13333"/>
            </a:avLst>
          </a:prstGeom>
          <a:solidFill>
            <a:srgbClr val="EAF0F8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0" y="4325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DWH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509760" y="47000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SCD2 · facts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Migrations stall on the logic, not the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40680" cy="2048256"/>
          </a:xfrm>
          <a:prstGeom prst="roundRect">
            <a:avLst>
              <a:gd name="adj" fmla="val 5357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566928" cy="566928"/>
          </a:xfrm>
          <a:prstGeom prst="ellipse">
            <a:avLst/>
          </a:prstGeom>
          <a:solidFill>
            <a:srgbClr val="FCE9EA"/>
          </a:solidFill>
          <a:ln/>
        </p:spPr>
      </p:sp>
      <p:pic>
        <p:nvPicPr>
          <p:cNvPr id="6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09397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19293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rewrite: weeks per wave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32688" y="2660904"/>
            <a:ext cx="485546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T-SQL procedures carry the real work — SCD2 merges, fact loads, aggregations. Rewriting them by hand is the slowest lane of the whole migration.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1691640"/>
            <a:ext cx="5440680" cy="2048256"/>
          </a:xfrm>
          <a:prstGeom prst="roundRect">
            <a:avLst>
              <a:gd name="adj" fmla="val 5357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1965960"/>
            <a:ext cx="566928" cy="566928"/>
          </a:xfrm>
          <a:prstGeom prst="ellipse">
            <a:avLst/>
          </a:prstGeom>
          <a:solidFill>
            <a:srgbClr val="FCE9EA"/>
          </a:solidFill>
          <a:ln/>
        </p:spPr>
      </p:sp>
      <p:pic>
        <p:nvPicPr>
          <p:cNvPr id="11" name="Image 1" descr="icons/shuff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09397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24928" y="19293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engineer converts differently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693408" y="2660904"/>
            <a:ext cx="485546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MERGE becomes five different notebooks in five hands. Inconsistent patterns, human error, and a thin audit trail at the end.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14216"/>
            <a:ext cx="5440680" cy="2048256"/>
          </a:xfrm>
          <a:prstGeom prst="roundRect">
            <a:avLst>
              <a:gd name="adj" fmla="val 5357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288536"/>
            <a:ext cx="566928" cy="566928"/>
          </a:xfrm>
          <a:prstGeom prst="ellipse">
            <a:avLst/>
          </a:prstGeom>
          <a:solidFill>
            <a:srgbClr val="FCE9EA"/>
          </a:solidFill>
          <a:ln/>
        </p:spPr>
      </p:sp>
      <p:pic>
        <p:nvPicPr>
          <p:cNvPr id="16" name="Image 2" descr="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41655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64208" y="425196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“Just ask an LLM” fails the trust test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32688" y="4983480"/>
            <a:ext cx="485546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GenAI hallucinates column names, invents transforms, and answers differently on every run — unacceptable for regulated insurance and finance data.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0" y="4014216"/>
            <a:ext cx="5440680" cy="2048256"/>
          </a:xfrm>
          <a:prstGeom prst="roundRect">
            <a:avLst>
              <a:gd name="adj" fmla="val 5357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75120" y="4288536"/>
            <a:ext cx="566928" cy="566928"/>
          </a:xfrm>
          <a:prstGeom prst="ellipse">
            <a:avLst/>
          </a:prstGeom>
          <a:solidFill>
            <a:srgbClr val="FCE9EA"/>
          </a:solidFill>
          <a:ln/>
        </p:spPr>
      </p:sp>
      <p:pic>
        <p:nvPicPr>
          <p:cNvPr id="21" name="Image 3" descr="icons/eyeo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441655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4928" y="425196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checks the target first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693408" y="4983480"/>
            <a:ext cx="485546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lakehouse raw layer has already drifted from what the procedures assume. Broken code is discovered only when it fails in production.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senior teams actually ask:  </a:t>
            </a:r>
            <a:pPr indent="0" marL="0">
              <a:buNone/>
            </a:pPr>
            <a:r>
              <a:rPr lang="en-US" sz="1400" b="1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we go fast without losing the audit trail?”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the work by what has to be trustworthy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3566160"/>
          </a:xfrm>
          <a:prstGeom prst="roundRect">
            <a:avLst>
              <a:gd name="adj" fmla="val 3590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91840" y="2075688"/>
            <a:ext cx="640080" cy="640080"/>
          </a:xfrm>
          <a:prstGeom prst="ellipse">
            <a:avLst/>
          </a:prstGeom>
          <a:solidFill>
            <a:srgbClr val="E2F6F2"/>
          </a:solidFill>
          <a:ln/>
        </p:spPr>
      </p:sp>
      <p:pic>
        <p:nvPicPr>
          <p:cNvPr id="7" name="Image 0" descr="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7288" y="223113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807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Deterministic-first,</a:t>
            </a:r>
            <a:endParaRPr lang="en-US" sz="18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GenAI-second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739896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and templates do the must-be-repeatable work — parsing, name derivation, type mapping, drift, lineage. The model only fills semantic gaps a rule can't.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44568" y="1783080"/>
            <a:ext cx="3611880" cy="3566160"/>
          </a:xfrm>
          <a:prstGeom prst="roundRect">
            <a:avLst>
              <a:gd name="adj" fmla="val 3590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64608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7196328" y="2075688"/>
            <a:ext cx="640080" cy="640080"/>
          </a:xfrm>
          <a:prstGeom prst="ellipse">
            <a:avLst/>
          </a:prstGeom>
          <a:solidFill>
            <a:srgbClr val="FDF3E1"/>
          </a:solidFill>
          <a:ln/>
        </p:spPr>
      </p:sp>
      <p:pic>
        <p:nvPicPr>
          <p:cNvPr id="13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6" y="223113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64608" y="2807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is the</a:t>
            </a:r>
            <a:endParaRPr lang="en-US" sz="18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64608" y="3739896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schema registry is generated from the procedures; a lineage table records every column's journey. Generated code resolves names through lineage — never free text.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449056" y="1783080"/>
            <a:ext cx="3611880" cy="3566160"/>
          </a:xfrm>
          <a:prstGeom prst="roundRect">
            <a:avLst>
              <a:gd name="adj" fmla="val 3590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769096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1100816" y="2075688"/>
            <a:ext cx="640080" cy="640080"/>
          </a:xfrm>
          <a:prstGeom prst="ellipse">
            <a:avLst/>
          </a:prstGeom>
          <a:solidFill>
            <a:srgbClr val="FCE9EA"/>
          </a:solidFill>
          <a:ln/>
        </p:spPr>
      </p:sp>
      <p:pic>
        <p:nvPicPr>
          <p:cNvPr id="19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6264" y="223113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69096" y="2807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drift before</a:t>
            </a:r>
            <a:endParaRPr lang="en-US" sz="18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code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769096" y="3739896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procedures assume is compared against the live target schema. A blocker stops code generation instead of shipping code that breaks at runtime.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13333"/>
            </a:avLst>
          </a:prstGeom>
          <a:solidFill>
            <a:srgbClr val="EAF6FB"/>
          </a:solidFill>
          <a:ln w="12700">
            <a:solidFill>
              <a:srgbClr val="C4DD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14400" y="56235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 </a:t>
            </a:r>
            <a:pPr indent="0" marL="0">
              <a:buNone/>
            </a:pPr>
            <a:r>
              <a:rPr lang="en-US" sz="1450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speed of GenAI, with the reproducibility and audit trail a regulated migration demands.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 · five phases · every step logged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0744" y="2011680"/>
            <a:ext cx="603504" cy="603504"/>
          </a:xfrm>
          <a:prstGeom prst="ellipse">
            <a:avLst/>
          </a:prstGeom>
          <a:solidFill>
            <a:srgbClr val="E2F6F2"/>
          </a:solidFill>
          <a:ln/>
        </p:spPr>
      </p:sp>
      <p:pic>
        <p:nvPicPr>
          <p:cNvPr id="6" name="Image 0" descr="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21488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974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31520" y="293522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9808" y="33192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 → ProcedureIR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dynamic SQL, cursors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706624" y="27432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1B5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72384" y="178308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13048" y="2011680"/>
            <a:ext cx="603504" cy="603504"/>
          </a:xfrm>
          <a:prstGeom prst="ellipse">
            <a:avLst/>
          </a:prstGeom>
          <a:solidFill>
            <a:srgbClr val="E2F6F2"/>
          </a:solidFill>
          <a:ln/>
        </p:spPr>
      </p:sp>
      <p:pic>
        <p:nvPicPr>
          <p:cNvPr id="13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208" y="214884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63824" y="26974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163824" y="293522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182112" y="33192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→ schema_registry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source→target, generated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138928" y="27432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1B5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504688" y="178308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FFF6E5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45352" y="2011680"/>
            <a:ext cx="603504" cy="603504"/>
          </a:xfrm>
          <a:prstGeom prst="ellipse">
            <a:avLst/>
          </a:prstGeom>
          <a:solidFill>
            <a:srgbClr val="FDEBC8"/>
          </a:solidFill>
          <a:ln/>
        </p:spPr>
      </p:sp>
      <p:pic>
        <p:nvPicPr>
          <p:cNvPr id="20" name="Image 2" descr="icons/alerto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14884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96128" y="26974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596128" y="293522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5614416" y="33192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vs LIVE raw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stop codegen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571232" y="27432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1B5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936992" y="178308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677656" y="2011680"/>
            <a:ext cx="603504" cy="603504"/>
          </a:xfrm>
          <a:prstGeom prst="ellipse">
            <a:avLst/>
          </a:prstGeom>
          <a:solidFill>
            <a:srgbClr val="E2F6F2"/>
          </a:solidFill>
          <a:ln/>
        </p:spPr>
      </p:sp>
      <p:pic>
        <p:nvPicPr>
          <p:cNvPr id="27" name="Image 3" descr="icons/git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16" y="2148840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028432" y="26974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8028432" y="293522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8046720" y="33192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raw→std→dwh recorded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column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10003536" y="27432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1B5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10369296" y="178308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1109960" y="2011680"/>
            <a:ext cx="603504" cy="603504"/>
          </a:xfrm>
          <a:prstGeom prst="ellipse">
            <a:avLst/>
          </a:prstGeom>
          <a:solidFill>
            <a:srgbClr val="E2F6F2"/>
          </a:solidFill>
          <a:ln/>
        </p:spPr>
      </p:sp>
      <p:pic>
        <p:nvPicPr>
          <p:cNvPr id="34" name="Image 4" descr="icons/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2148840"/>
            <a:ext cx="329184" cy="32918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460736" y="26974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10460736" y="293522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Codegen</a:t>
            </a:r>
            <a:endParaRPr lang="en-US" sz="1700" dirty="0"/>
          </a:p>
        </p:txBody>
      </p:sp>
      <p:sp>
        <p:nvSpPr>
          <p:cNvPr id="37" name="Text 30"/>
          <p:cNvSpPr/>
          <p:nvPr/>
        </p:nvSpPr>
        <p:spPr>
          <a:xfrm>
            <a:off x="10479024" y="33192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raw→std deterministic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std→dwh GenAI, grounded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640080" y="44348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0F4FA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91440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METADATA — written every run · deterministic IDs · mirrored to CSV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914400" y="4846320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914400" y="48463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metadata.schema_registry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3593592" y="4846320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593592" y="48463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metadata.schema_drift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6272784" y="4846320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272784" y="48463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metadata.lineage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8951976" y="4846320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8951976" y="48463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metadata.execution_log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mode </a:t>
            </a:r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Parse → Registry → Lineage → Codegen with no warehouse.  Every phase writes an execution-log row — the answer to </a:t>
            </a:r>
            <a:pPr indent="0" marL="0">
              <a:buNone/>
            </a:pPr>
            <a:r>
              <a:rPr lang="en-US" sz="125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did it do, and when?”</a:t>
            </a:r>
            <a:endParaRPr lang="en-US" sz="1250" dirty="0"/>
          </a:p>
        </p:txBody>
      </p:sp>
      <p:sp>
        <p:nvSpPr>
          <p:cNvPr id="49" name="Text 42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DESIGN CHOICE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touches exactly one layer — and it's grounded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126480" cy="3794760"/>
          </a:xfrm>
          <a:prstGeom prst="roundRect">
            <a:avLst>
              <a:gd name="adj" fmla="val 3373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pic>
        <p:nvPicPr>
          <p:cNvPr id="5" name="Image 0" descr="ico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 ·  RULES &amp; TEMPLATES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98448" y="25603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parse  —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pattern, business keys, transform intent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98448" y="3127248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derivation  —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cust_nm → customer_name, from a rule dictionary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98448" y="3694176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mapping  —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→ Spark, table-driven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98448" y="4261104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Schema-drift detection  —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types, severity drives the pipeline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012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98448" y="482803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assembly + raw→std code  —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Python template — byte-identical every run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59168" y="1737360"/>
            <a:ext cx="4480560" cy="3794760"/>
          </a:xfrm>
          <a:prstGeom prst="roundRect">
            <a:avLst>
              <a:gd name="adj" fmla="val 3373"/>
            </a:avLst>
          </a:prstGeom>
          <a:solidFill>
            <a:srgbClr val="FFF6E5"/>
          </a:solidFill>
          <a:ln w="19050">
            <a:solidFill>
              <a:srgbClr val="D97706"/>
            </a:solidFill>
            <a:prstDash val="solid"/>
          </a:ln>
        </p:spPr>
      </p:sp>
      <p:pic>
        <p:nvPicPr>
          <p:cNvPr id="18" name="Image 1" descr="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6" y="20116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882128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 ·  GROUNDED ON LINEAGE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379208" y="26060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→ dwh business logic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SCD2 merges, joins, aggregations, derived columns — the one layer that genuinely needs judgment.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7379208" y="393192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DEBC8"/>
          </a:solidFill>
          <a:ln w="12700">
            <a:solidFill>
              <a:srgbClr val="E4C78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562088" y="406908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carries the exact std &amp; dwh column names from lineage.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= 0  ·  every call logged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raw → std is a template, regenerating produces </a:t>
            </a:r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byte-identical output</a:t>
            </a:r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same input, same code, every run.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drift is caught before a line of code is generated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DRIFT TYPES — SEVERITY DRIVES THE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928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MISSING_TABLE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2219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reads a table raw doesn't have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30368" y="2020824"/>
            <a:ext cx="106070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30368" y="2020824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752344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862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MISSING_COLUMN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31912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used but absent from the raw table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30368" y="2990088"/>
            <a:ext cx="106070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2990088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721608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831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TYPE_MISMATCH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41605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landed a different type than implied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30368" y="3959352"/>
            <a:ext cx="106070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3959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4690872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8006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EXTRA_COLUMN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51297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has a column no procedure uses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30368" y="4928616"/>
            <a:ext cx="106070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4928616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AUTO-ADOPT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12280" y="1481328"/>
            <a:ext cx="4736592" cy="4160520"/>
          </a:xfrm>
          <a:prstGeom prst="roundRect">
            <a:avLst>
              <a:gd name="adj" fmla="val 2637"/>
            </a:avLst>
          </a:prstGeom>
          <a:solidFill>
            <a:srgbClr val="0B1524"/>
          </a:solidFill>
          <a:ln w="15875">
            <a:solidFill>
              <a:srgbClr val="2739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68312" y="1719072"/>
            <a:ext cx="118872" cy="1188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69480" y="1719072"/>
            <a:ext cx="118872" cy="1188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0648" y="1719072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9" name="Text 27"/>
          <p:cNvSpPr/>
          <p:nvPr/>
        </p:nvSpPr>
        <p:spPr>
          <a:xfrm>
            <a:off x="7726680" y="1627632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FINDINGS — THIS RUN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68312" y="2139696"/>
            <a:ext cx="4224528" cy="914400"/>
          </a:xfrm>
          <a:prstGeom prst="roundRect">
            <a:avLst>
              <a:gd name="adj" fmla="val 8000"/>
            </a:avLst>
          </a:prstGeom>
          <a:solidFill>
            <a:srgbClr val="13203A"/>
          </a:solidFill>
          <a:ln w="12700">
            <a:solidFill>
              <a:srgbClr val="273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2258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MISSING_COLUMN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131552" y="225856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B1524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31552" y="22585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69480" y="2596896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raw.stg_claims has no deductible_amt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68312" y="3218688"/>
            <a:ext cx="4224528" cy="914400"/>
          </a:xfrm>
          <a:prstGeom prst="roundRect">
            <a:avLst>
              <a:gd name="adj" fmla="val 8000"/>
            </a:avLst>
          </a:prstGeom>
          <a:solidFill>
            <a:srgbClr val="13203A"/>
          </a:solidFill>
          <a:ln w="12700">
            <a:solidFill>
              <a:srgbClr val="273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MISSING_TABLE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131552" y="333756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B1524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31552" y="33375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269480" y="367588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raw.stg_premium_txn does not exist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68312" y="4297680"/>
            <a:ext cx="4224528" cy="914400"/>
          </a:xfrm>
          <a:prstGeom prst="roundRect">
            <a:avLst>
              <a:gd name="adj" fmla="val 8000"/>
            </a:avLst>
          </a:prstGeom>
          <a:solidFill>
            <a:srgbClr val="13203A"/>
          </a:solidFill>
          <a:ln w="12700">
            <a:solidFill>
              <a:srgbClr val="273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9480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TYPE_MISMATCH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131552" y="441655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B1524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31552" y="44165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269480" y="475488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prem_amt implies decimal(18,2) · raw has string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008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procedures blocked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fully deterministic  ·  every finding reproducible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real procedures — five outcomes it handles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27632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1627632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procedures 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52928" y="1572768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54096" y="1627632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721608" y="1627632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convert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65776" y="1572768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66944" y="1627632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934456" y="1627632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by drift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78624" y="1572768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9792" y="1627632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47304" y="1627632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warning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91472" y="1572768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1627632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360152" y="1627632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ACCELERATOR DID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104120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090672"/>
            <a:ext cx="10908792" cy="530352"/>
          </a:xfrm>
          <a:prstGeom prst="roundRect">
            <a:avLst>
              <a:gd name="adj" fmla="val 12069"/>
            </a:avLst>
          </a:prstGeom>
          <a:solidFill>
            <a:srgbClr val="F4F6FA"/>
          </a:solidFill>
          <a:ln w="9525">
            <a:solidFill>
              <a:srgbClr val="DFE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0906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usp_Load_Dim_Customer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309067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SCD2 dimension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309067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baseline — converts end to end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104120" y="319125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04120" y="31912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40080" y="3712464"/>
            <a:ext cx="10908792" cy="530352"/>
          </a:xfrm>
          <a:prstGeom prst="roundRect">
            <a:avLst>
              <a:gd name="adj" fmla="val 12069"/>
            </a:avLst>
          </a:prstGeom>
          <a:solidFill>
            <a:srgbClr val="FBFCFE"/>
          </a:solidFill>
          <a:ln w="9525">
            <a:solidFill>
              <a:srgbClr val="DFE6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71246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usp_Load_Fact_Claims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371246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· temp table · joins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371246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deductible_amt missing from raw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104120" y="38130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04120" y="38130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40080" y="4334256"/>
            <a:ext cx="10908792" cy="530352"/>
          </a:xfrm>
          <a:prstGeom prst="roundRect">
            <a:avLst>
              <a:gd name="adj" fmla="val 12069"/>
            </a:avLst>
          </a:prstGeom>
          <a:solidFill>
            <a:srgbClr val="F4F6FA"/>
          </a:solidFill>
          <a:ln w="9525">
            <a:solidFill>
              <a:srgbClr val="DFE6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33425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usp_Load_Dim_Policy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0" y="4334256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SCD2 dimension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433425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prem_amt is STRING in raw — recoverable cast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104120" y="443484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04120" y="44348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40080" y="4956048"/>
            <a:ext cx="10908792" cy="530352"/>
          </a:xfrm>
          <a:prstGeom prst="roundRect">
            <a:avLst>
              <a:gd name="adj" fmla="val 12069"/>
            </a:avLst>
          </a:prstGeom>
          <a:solidFill>
            <a:srgbClr val="FBFCFE"/>
          </a:solidFill>
          <a:ln w="9525">
            <a:solidFill>
              <a:srgbClr val="DFE6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495604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usp_Load_Fact_Premium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0" y="495604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/ GROUP BY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0" y="495604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stg_premium_txn not landed in raw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104120" y="505663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04120" y="5056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40080" y="5577840"/>
            <a:ext cx="10908792" cy="530352"/>
          </a:xfrm>
          <a:prstGeom prst="roundRect">
            <a:avLst>
              <a:gd name="adj" fmla="val 12069"/>
            </a:avLst>
          </a:prstGeom>
          <a:solidFill>
            <a:srgbClr val="F4F6FA"/>
          </a:solidFill>
          <a:ln w="9525">
            <a:solidFill>
              <a:srgbClr val="DFE6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557784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usp_Purge_Old_Partitions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14800" y="557784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SQL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00800" y="557784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unknowable — review packet written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0104120" y="567842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04120" y="567842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is the contract codegen can't break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column's journey is recorded once — raw → std (transform) → dwh. Codegen resolves names through this table, so generated code and recorded lineage can never disagree.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COLUMN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2331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COLUMN  (TRANSFORM)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8388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DWH COLUMN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660904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9525">
            <a:solidFill>
              <a:srgbClr val="DF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6090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stg_customer.cust_id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22192" y="266090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66090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 </a:t>
            </a:r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TRIM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589520" y="266090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3880" y="266090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dim_customer.customer_id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771632" y="2825496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71632" y="282549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BFCFE"/>
          </a:solidFill>
          <a:ln w="9525">
            <a:solidFill>
              <a:srgbClr val="DF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290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stg_customer.cust_nm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22192" y="34290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4290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  </a:t>
            </a:r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INITCAP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89520" y="34290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3880" y="34290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dim_customer.customer_name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771632" y="3593592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71632" y="359359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4197096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9525">
            <a:solidFill>
              <a:srgbClr val="DF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19709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stg_customer.cust_addr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22192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419709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customer_address  </a:t>
            </a:r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TRIM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8952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83880" y="419709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dim_customer.customer_address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771632" y="4361688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71632" y="436168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" y="4965192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BFCFE"/>
          </a:solidFill>
          <a:ln w="9525">
            <a:solidFill>
              <a:srgbClr val="DFE6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96519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stg_customer.cust_seg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22192" y="496519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0" y="496519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customer_segment  </a:t>
            </a:r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UPPER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589520" y="496519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83880" y="496519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dim_customer.customer_segment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771632" y="5129784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71632" y="512978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0080" y="5715000"/>
            <a:ext cx="10908792" cy="621792"/>
          </a:xfrm>
          <a:prstGeom prst="roundRect">
            <a:avLst>
              <a:gd name="adj" fmla="val 14706"/>
            </a:avLst>
          </a:prstGeom>
          <a:solidFill>
            <a:srgbClr val="EAF6FB"/>
          </a:solidFill>
          <a:ln w="12700">
            <a:solidFill>
              <a:srgbClr val="C4DD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71500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auditor's question — </a:t>
            </a:r>
            <a:pPr indent="0" marL="0">
              <a:buNone/>
            </a:pPr>
            <a:r>
              <a:rPr lang="en-US" sz="135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did this warehouse column come from?”</a:t>
            </a:r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answered by one query.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regulated migrations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20824"/>
            <a:ext cx="512064" cy="512064"/>
          </a:xfrm>
          <a:prstGeom prst="ellipse">
            <a:avLst/>
          </a:prstGeom>
          <a:solidFill>
            <a:srgbClr val="E2F6F2"/>
          </a:solidFill>
          <a:ln/>
        </p:spPr>
      </p:sp>
      <p:pic>
        <p:nvPicPr>
          <p:cNvPr id="6" name="Image 0" descr="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1396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98424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metadata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26791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registry, drift and lineage IDs — reruns dedupe on ID, history is never overwritten.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44568" y="17830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2020824"/>
            <a:ext cx="512064" cy="512064"/>
          </a:xfrm>
          <a:prstGeom prst="ellipse">
            <a:avLst/>
          </a:prstGeom>
          <a:solidFill>
            <a:srgbClr val="E2F6F2"/>
          </a:solidFill>
          <a:ln/>
        </p:spPr>
      </p:sp>
      <p:pic>
        <p:nvPicPr>
          <p:cNvPr id="11" name="Image 1" descr="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13969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98424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execution log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818888" y="26791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run, phase and procedure: status, row counts, duration. The complete “what ran, and when.”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449056" y="17830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05088" y="2020824"/>
            <a:ext cx="512064" cy="512064"/>
          </a:xfrm>
          <a:prstGeom prst="ellipse">
            <a:avLst/>
          </a:prstGeom>
          <a:solidFill>
            <a:srgbClr val="E2F6F2"/>
          </a:solidFill>
          <a:ln/>
        </p:spPr>
      </p:sp>
      <p:pic>
        <p:nvPicPr>
          <p:cNvPr id="16" name="Image 2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13969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45168" y="198424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prompt/response audit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723376" y="26791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call logged to JSONL — a Delta audit table in production. Nothing the model did is hidden.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112" y="4261104"/>
            <a:ext cx="512064" cy="512064"/>
          </a:xfrm>
          <a:prstGeom prst="ellipse">
            <a:avLst/>
          </a:prstGeom>
          <a:solidFill>
            <a:srgbClr val="E2F6F2"/>
          </a:solidFill>
          <a:ln/>
        </p:spPr>
      </p:sp>
      <p:pic>
        <p:nvPicPr>
          <p:cNvPr id="21" name="Image 3" descr="icons/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37997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36192" y="422452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4400" y="491947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constructs (dynamic SQL, cursors) get a review packet — never a silent mistranslation.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44568" y="40233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800600" y="4261104"/>
            <a:ext cx="512064" cy="512064"/>
          </a:xfrm>
          <a:prstGeom prst="ellipse">
            <a:avLst/>
          </a:prstGeom>
          <a:solidFill>
            <a:srgbClr val="E2F6F2"/>
          </a:solidFill>
          <a:ln/>
        </p:spPr>
      </p:sp>
      <p:pic>
        <p:nvPicPr>
          <p:cNvPr id="26" name="Image 4" descr="icons/wifio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437997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422452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&amp; inspectable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818888" y="491947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with no warehouse; every artifact mirrors to CSV, so the whole pipeline is reviewable locally.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449056" y="40233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705088" y="4261104"/>
            <a:ext cx="512064" cy="512064"/>
          </a:xfrm>
          <a:prstGeom prst="ellipse">
            <a:avLst/>
          </a:prstGeom>
          <a:solidFill>
            <a:srgbClr val="E2F6F2"/>
          </a:solidFill>
          <a:ln/>
        </p:spPr>
      </p:sp>
      <p:pic>
        <p:nvPicPr>
          <p:cNvPr id="31" name="Image 5" descr="icons/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437997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45168" y="422452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by default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723376" y="491947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 on every call; the risky, must-be-right detections are rules, not prompts.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rewrite  vs.  LLM-only  vs.  this accelerator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4114800"/>
          </a:xfrm>
          <a:prstGeom prst="roundRect">
            <a:avLst>
              <a:gd name="adj" fmla="val 3544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20824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rewrite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26334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engineer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325526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between people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387705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 in SCD2 / joins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49884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Thin, after-the-fact audit trail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51206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target-schema check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44568" y="1783080"/>
            <a:ext cx="3611880" cy="4114800"/>
          </a:xfrm>
          <a:prstGeom prst="roundRect">
            <a:avLst>
              <a:gd name="adj" fmla="val 3544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7176" y="2020824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LLM-only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37176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84648" y="26334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to draft, but…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37176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84648" y="325526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Hallucinates column names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37176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84648" y="387705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answer each run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37176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84648" y="449884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drift awareness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37176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84648" y="51206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— hard to audit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49056" y="1783080"/>
            <a:ext cx="3611880" cy="4114800"/>
          </a:xfrm>
          <a:prstGeom prst="roundRect">
            <a:avLst>
              <a:gd name="adj" fmla="val 3544"/>
            </a:avLst>
          </a:prstGeom>
          <a:solidFill>
            <a:srgbClr val="E2F6F2"/>
          </a:solidFill>
          <a:ln w="22225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41664" y="2020824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accelerator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741664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89136" y="26334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reproducible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41664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89136" y="325526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come from lineage, not guesses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41664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89136" y="387705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core · temperature 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41664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89136" y="449884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Drift-gated before codegen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741664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89136" y="51206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logged · human-in-the-loop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60350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keep the speed of generation </a:t>
            </a:r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add</a:t>
            </a:r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reproducibility, drift-awareness and audit trail the other two lack.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&amp; 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by construction — and it shows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pic>
        <p:nvPicPr>
          <p:cNvPr id="5" name="Image 0" descr="icons/tren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56032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→ hours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319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wave of stored procedures, with a consistent house pattern for every notebook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410712" y="178308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pic>
        <p:nvPicPr>
          <p:cNvPr id="9" name="Image 1" descr="icons/rep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2057400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85032" y="256032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input,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output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685032" y="3319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+ temperature 0: regeneration is byte-identical where it must be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181344" y="178308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pic>
        <p:nvPicPr>
          <p:cNvPr id="13" name="Image 2" descr="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05740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55664" y="256032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 tests pass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455664" y="3319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naming, all four drift types, severity, lineage — with no credentials and no warehouse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8951976" y="178308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pic>
        <p:nvPicPr>
          <p:cNvPr id="17" name="Image 3" descr="icons/aw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96" y="2057400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26296" y="256032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9226296" y="3319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registry, drift, lineage and execution log written on every run, mirrored to CSV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40080" y="443484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0B1524"/>
          </a:solidFill>
          <a:ln w="15875">
            <a:solidFill>
              <a:srgbClr val="27395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14400" y="4544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NAME DERIVATION — REAL OUTPUT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914400" y="4892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cust_nm</a:t>
            </a:r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520440" y="4892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pol_start_dt</a:t>
            </a:r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policy_start_date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126480" y="4892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claim_amt</a:t>
            </a:r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claim_amount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732520" y="4892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prem_amt</a:t>
            </a:r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premium_amount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914400" y="5257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 -q   </a:t>
            </a:r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............   12 passed in 1.29s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0080" y="58978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procedures + same rules → the same registry, lineage and code on every run.  That is the auditability claim — tested.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5420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source dialects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3255264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PL/SQL, Snowflake and more, through the dialect stub already in the parser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43784" y="182880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044952" y="25420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Smarter, safe naming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44952" y="3255264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GenAI-assisted expansions recorded at lower confidence for human sign-off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47488" y="182880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48656" y="25420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→ resolution workflow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48656" y="3255264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drift, auto-adopt EXTRA columns, re-drive codegen from the reviewed registry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51192" y="182880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52360" y="25420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&amp; upload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2360" y="3255264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generated notebooks to the workspace and wire into Jobs / DLT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54896" y="182880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56064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56064" y="25420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drift gate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56064" y="3255264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the build when a new BLOCKER drift appears — migration stays honest over 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10908792" cy="1508760"/>
          </a:xfrm>
          <a:prstGeom prst="roundRect">
            <a:avLst>
              <a:gd name="adj" fmla="val 8485"/>
            </a:avLst>
          </a:prstGeom>
          <a:solidFill>
            <a:srgbClr val="EAF6FB"/>
          </a:solidFill>
          <a:ln w="15875">
            <a:solidFill>
              <a:srgbClr val="C4DD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773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fast. </a:t>
            </a:r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it's right.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60120" y="53949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a pilot on one real workload — 20 production procedures through the accelerator, with the drift report and audit trail on the table.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2026-07-31T08:35:44Z</dcterms:created>
  <dcterms:modified xsi:type="dcterms:W3CDTF">2026-07-31T08:35:44Z</dcterms:modified>
</cp:coreProperties>
</file>