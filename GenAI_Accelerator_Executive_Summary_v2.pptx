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14747408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4E0B"/>
    <a:srgbClr val="004EFF"/>
    <a:srgbClr val="E5EDFF"/>
    <a:srgbClr val="C0D2FF"/>
    <a:srgbClr val="83A8FF"/>
    <a:srgbClr val="407AFF"/>
    <a:srgbClr val="000000"/>
    <a:srgbClr val="424242"/>
    <a:srgbClr val="FF40FF"/>
    <a:srgbClr val="FFB3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3792" autoAdjust="0"/>
  </p:normalViewPr>
  <p:slideViewPr>
    <p:cSldViewPr snapToGrid="0" snapToObjects="1">
      <p:cViewPr varScale="1">
        <p:scale>
          <a:sx n="63" d="100"/>
          <a:sy n="63" d="100"/>
        </p:scale>
        <p:origin x="804" y="56"/>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0" d="100"/>
          <a:sy n="80" d="100"/>
        </p:scale>
        <p:origin x="306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modSld">
      <pc:chgData name="Vinayak Chopra" userId="ae75b830-3825-4053-b001-31c1e484de6e" providerId="ADAL" clId="{07E23E91-0C82-4FE9-B4F0-00D6CE322762}" dt="2026-08-12T13:42:36.324" v="19" actId="20577"/>
      <pc:docMkLst>
        <pc:docMk/>
      </pc:docMkLst>
      <pc:sldChg chg="modSp mod">
        <pc:chgData name="Vinayak Chopra" userId="ae75b830-3825-4053-b001-31c1e484de6e" providerId="ADAL" clId="{07E23E91-0C82-4FE9-B4F0-00D6CE322762}" dt="2026-08-12T13:42:36.324" v="19" actId="20577"/>
        <pc:sldMkLst>
          <pc:docMk/>
          <pc:sldMk cId="2900283342" sldId="2147474087"/>
        </pc:sldMkLst>
        <pc:spChg chg="mod">
          <ac:chgData name="Vinayak Chopra" userId="ae75b830-3825-4053-b001-31c1e484de6e" providerId="ADAL" clId="{07E23E91-0C82-4FE9-B4F0-00D6CE322762}" dt="2026-08-12T13:42:36.324" v="19" actId="20577"/>
          <ac:spMkLst>
            <pc:docMk/>
            <pc:sldMk cId="2900283342" sldId="2147474087"/>
            <ac:spMk id="4" creationId="{55A20902-D558-3616-7D89-C7810B01F283}"/>
          </ac:spMkLst>
        </pc:spChg>
      </pc:sldChg>
    </pc:docChg>
  </pc:docChgLst>
  <pc:docChgLst>
    <pc:chgData name="Gupta, Prayas" userId="0381c3a3-988c-4c8e-834e-0fecad48b0e9" providerId="ADAL" clId="{09993E4F-437A-44E5-8869-589648A97328}"/>
    <pc:docChg chg="mod modSld">
      <pc:chgData name="Gupta, Prayas" userId="0381c3a3-988c-4c8e-834e-0fecad48b0e9" providerId="ADAL" clId="{09993E4F-437A-44E5-8869-589648A97328}" dt="2026-08-13T11:11:36.772" v="7" actId="20577"/>
      <pc:docMkLst>
        <pc:docMk/>
      </pc:docMkLst>
      <pc:sldChg chg="modSp mod">
        <pc:chgData name="Gupta, Prayas" userId="0381c3a3-988c-4c8e-834e-0fecad48b0e9" providerId="ADAL" clId="{09993E4F-437A-44E5-8869-589648A97328}" dt="2026-08-13T11:11:36.772" v="7" actId="20577"/>
        <pc:sldMkLst>
          <pc:docMk/>
          <pc:sldMk cId="2900283342" sldId="2147474087"/>
        </pc:sldMkLst>
        <pc:spChg chg="mod">
          <ac:chgData name="Gupta, Prayas" userId="0381c3a3-988c-4c8e-834e-0fecad48b0e9" providerId="ADAL" clId="{09993E4F-437A-44E5-8869-589648A97328}" dt="2026-08-13T11:09:34.874" v="2" actId="6549"/>
          <ac:spMkLst>
            <pc:docMk/>
            <pc:sldMk cId="2900283342" sldId="2147474087"/>
            <ac:spMk id="20" creationId="{1D2916F6-A4BF-2416-AF79-0554EA5D6206}"/>
          </ac:spMkLst>
        </pc:spChg>
        <pc:spChg chg="mod">
          <ac:chgData name="Gupta, Prayas" userId="0381c3a3-988c-4c8e-834e-0fecad48b0e9" providerId="ADAL" clId="{09993E4F-437A-44E5-8869-589648A97328}" dt="2026-08-13T11:11:36.772" v="7" actId="20577"/>
          <ac:spMkLst>
            <pc:docMk/>
            <pc:sldMk cId="2900283342" sldId="2147474087"/>
            <ac:spMk id="22" creationId="{B45C384A-1D7A-A3D4-2B36-CF15B9DFAD3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561233-45DC-0946-2455-02C93F71AD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8A0130-1F16-3354-5317-EAAD29FFB5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D917C0-D42B-47D1-A861-215602EF8B73}" type="datetimeFigureOut">
              <a:rPr lang="en-US" smtClean="0"/>
              <a:t>8/13/2026</a:t>
            </a:fld>
            <a:endParaRPr lang="en-US"/>
          </a:p>
        </p:txBody>
      </p:sp>
      <p:sp>
        <p:nvSpPr>
          <p:cNvPr id="4" name="Footer Placeholder 3">
            <a:extLst>
              <a:ext uri="{FF2B5EF4-FFF2-40B4-BE49-F238E27FC236}">
                <a16:creationId xmlns:a16="http://schemas.microsoft.com/office/drawing/2014/main" id="{EA8E4F27-4BF2-3909-3638-05880831A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B71824-2436-611A-E077-B0450E3664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1FE844-F6AC-4291-8AAC-EA332323428F}" type="slidenum">
              <a:rPr lang="en-US" smtClean="0"/>
              <a:t>‹#›</a:t>
            </a:fld>
            <a:endParaRPr lang="en-US"/>
          </a:p>
        </p:txBody>
      </p:sp>
    </p:spTree>
    <p:extLst>
      <p:ext uri="{BB962C8B-B14F-4D97-AF65-F5344CB8AC3E}">
        <p14:creationId xmlns:p14="http://schemas.microsoft.com/office/powerpoint/2010/main" val="611082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dirty="0"/>
              <a:t>Insert Picture</a:t>
            </a:r>
            <a:br>
              <a:rPr lang="en-US" dirty="0"/>
            </a:br>
            <a:r>
              <a:rPr lang="en-US" dirty="0"/>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dirty="0"/>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96665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endParaRPr lang="en-US" dirty="0"/>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10293410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019095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br>
              <a:rPr lang="en-US" dirty="0"/>
            </a:br>
            <a:r>
              <a:rPr lang="en-US" dirty="0"/>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endParaRPr lang="en-US" dirty="0"/>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94414109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67714359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4199200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944467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930045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692357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67759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071229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dirty="0"/>
              <a:t>Insert photo here</a:t>
            </a:r>
            <a:br>
              <a:rPr lang="en-US" dirty="0"/>
            </a:br>
            <a:r>
              <a:rPr lang="en-US" dirty="0"/>
              <a:t>4.85”w x 7.5” h </a:t>
            </a:r>
          </a:p>
        </p:txBody>
      </p:sp>
    </p:spTree>
    <p:extLst>
      <p:ext uri="{BB962C8B-B14F-4D97-AF65-F5344CB8AC3E}">
        <p14:creationId xmlns:p14="http://schemas.microsoft.com/office/powerpoint/2010/main" val="288497173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dirty="0"/>
              <a:t>Insert  photo</a:t>
            </a:r>
            <a:br>
              <a:rPr lang="en-US" dirty="0"/>
            </a:br>
            <a:r>
              <a:rPr lang="en-US" dirty="0"/>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dirty="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dirty="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dirty="0"/>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dirty="0"/>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dirty="0"/>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dirty="0"/>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dirty="0"/>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dirty="0"/>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75159669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3797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122976719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8/13/2026</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©2024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727" r:id="rId6"/>
    <p:sldLayoutId id="2147483678" r:id="rId7"/>
    <p:sldLayoutId id="2147483681" r:id="rId8"/>
    <p:sldLayoutId id="2147483728" r:id="rId9"/>
    <p:sldLayoutId id="2147483685" r:id="rId10"/>
    <p:sldLayoutId id="2147483729" r:id="rId11"/>
    <p:sldLayoutId id="2147483717" r:id="rId12"/>
    <p:sldLayoutId id="2147483731" r:id="rId13"/>
    <p:sldLayoutId id="2147483719" r:id="rId14"/>
    <p:sldLayoutId id="2147483733" r:id="rId15"/>
    <p:sldLayoutId id="2147483734" r:id="rId16"/>
    <p:sldLayoutId id="2147483735" r:id="rId17"/>
    <p:sldLayoutId id="2147483689" r:id="rId18"/>
    <p:sldLayoutId id="2147483736" r:id="rId19"/>
    <p:sldLayoutId id="2147483737" r:id="rId20"/>
    <p:sldLayoutId id="2147483738" r:id="rId21"/>
    <p:sldLayoutId id="2147483739" r:id="rId22"/>
    <p:sldLayoutId id="2147483701" r:id="rId23"/>
    <p:sldLayoutId id="2147483699" r:id="rId24"/>
    <p:sldLayoutId id="2147483741" r:id="rId25"/>
    <p:sldLayoutId id="2147483705" r:id="rId26"/>
    <p:sldLayoutId id="2147483708" r:id="rId27"/>
    <p:sldLayoutId id="2147483709" r:id="rId28"/>
    <p:sldLayoutId id="2147483710" r:id="rId29"/>
    <p:sldLayoutId id="2147483742"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BFE8-6D58-5590-A1E7-A2795581D3C7}"/>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117B1F9E-08E9-7B40-0BA7-4C99689B9AFB}"/>
              </a:ext>
            </a:extLst>
          </p:cNvPr>
          <p:cNvSpPr/>
          <p:nvPr/>
        </p:nvSpPr>
        <p:spPr>
          <a:xfrm>
            <a:off x="396240" y="708024"/>
            <a:ext cx="11490960" cy="5621655"/>
          </a:xfrm>
          <a:prstGeom prst="roundRect">
            <a:avLst>
              <a:gd name="adj" fmla="val 2714"/>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600" dirty="0">
              <a:solidFill>
                <a:schemeClr val="tx1"/>
              </a:solidFill>
            </a:endParaRPr>
          </a:p>
        </p:txBody>
      </p:sp>
      <p:sp>
        <p:nvSpPr>
          <p:cNvPr id="4" name="Title 1">
            <a:extLst>
              <a:ext uri="{FF2B5EF4-FFF2-40B4-BE49-F238E27FC236}">
                <a16:creationId xmlns:a16="http://schemas.microsoft.com/office/drawing/2014/main" id="{55A20902-D558-3616-7D89-C7810B01F283}"/>
              </a:ext>
            </a:extLst>
          </p:cNvPr>
          <p:cNvSpPr>
            <a:spLocks noGrp="1"/>
          </p:cNvSpPr>
          <p:nvPr>
            <p:ph type="ctrTitle"/>
          </p:nvPr>
        </p:nvSpPr>
        <p:spPr>
          <a:xfrm>
            <a:off x="457200" y="34925"/>
            <a:ext cx="11277600" cy="673100"/>
          </a:xfrm>
        </p:spPr>
        <p:txBody>
          <a:bodyPr anchor="ctr">
            <a:normAutofit/>
          </a:bodyPr>
          <a:lstStyle/>
          <a:p>
            <a:pPr>
              <a:buClr>
                <a:schemeClr val="tx2"/>
              </a:buClr>
            </a:pPr>
            <a:r>
              <a:rPr lang="en-US" sz="3200" dirty="0"/>
              <a:t>GenAI SQL → Databricks Migration Accelerator</a:t>
            </a:r>
            <a:endParaRPr lang="en-US" sz="3200" dirty="0">
              <a:solidFill>
                <a:schemeClr val="tx2"/>
              </a:solidFill>
            </a:endParaRPr>
          </a:p>
        </p:txBody>
      </p:sp>
      <p:sp>
        <p:nvSpPr>
          <p:cNvPr id="6" name="Rectangle 5">
            <a:extLst>
              <a:ext uri="{FF2B5EF4-FFF2-40B4-BE49-F238E27FC236}">
                <a16:creationId xmlns:a16="http://schemas.microsoft.com/office/drawing/2014/main" id="{C8568F24-1340-890B-283C-18D9094E11AA}"/>
              </a:ext>
            </a:extLst>
          </p:cNvPr>
          <p:cNvSpPr/>
          <p:nvPr/>
        </p:nvSpPr>
        <p:spPr>
          <a:xfrm>
            <a:off x="457200" y="1412241"/>
            <a:ext cx="2054506"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row: Pentagon 4">
            <a:extLst>
              <a:ext uri="{FF2B5EF4-FFF2-40B4-BE49-F238E27FC236}">
                <a16:creationId xmlns:a16="http://schemas.microsoft.com/office/drawing/2014/main" id="{FE90E587-E904-18F9-76DC-B7FEDB0143D7}"/>
              </a:ext>
            </a:extLst>
          </p:cNvPr>
          <p:cNvSpPr/>
          <p:nvPr/>
        </p:nvSpPr>
        <p:spPr>
          <a:xfrm>
            <a:off x="457200" y="1307465"/>
            <a:ext cx="2158678" cy="26416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Industry Context </a:t>
            </a:r>
          </a:p>
        </p:txBody>
      </p:sp>
      <p:sp>
        <p:nvSpPr>
          <p:cNvPr id="12" name="Rectangle 11">
            <a:extLst>
              <a:ext uri="{FF2B5EF4-FFF2-40B4-BE49-F238E27FC236}">
                <a16:creationId xmlns:a16="http://schemas.microsoft.com/office/drawing/2014/main" id="{4040DAD7-71FF-D89E-C436-22B727959023}"/>
              </a:ext>
            </a:extLst>
          </p:cNvPr>
          <p:cNvSpPr/>
          <p:nvPr/>
        </p:nvSpPr>
        <p:spPr>
          <a:xfrm>
            <a:off x="5171441" y="1412240"/>
            <a:ext cx="6664956"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Pentagon 12">
            <a:extLst>
              <a:ext uri="{FF2B5EF4-FFF2-40B4-BE49-F238E27FC236}">
                <a16:creationId xmlns:a16="http://schemas.microsoft.com/office/drawing/2014/main" id="{2FE74FDC-8658-AAF2-AF77-E20A1D6844FE}"/>
              </a:ext>
            </a:extLst>
          </p:cNvPr>
          <p:cNvSpPr/>
          <p:nvPr/>
        </p:nvSpPr>
        <p:spPr>
          <a:xfrm>
            <a:off x="5171441" y="1297305"/>
            <a:ext cx="6664956"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Functional Overview</a:t>
            </a:r>
          </a:p>
        </p:txBody>
      </p:sp>
      <p:sp>
        <p:nvSpPr>
          <p:cNvPr id="14" name="Rectangle 13">
            <a:extLst>
              <a:ext uri="{FF2B5EF4-FFF2-40B4-BE49-F238E27FC236}">
                <a16:creationId xmlns:a16="http://schemas.microsoft.com/office/drawing/2014/main" id="{817D2455-202B-5BC9-D097-90CE3CD4E61D}"/>
              </a:ext>
            </a:extLst>
          </p:cNvPr>
          <p:cNvSpPr/>
          <p:nvPr/>
        </p:nvSpPr>
        <p:spPr>
          <a:xfrm>
            <a:off x="45720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Pentagon 14">
            <a:extLst>
              <a:ext uri="{FF2B5EF4-FFF2-40B4-BE49-F238E27FC236}">
                <a16:creationId xmlns:a16="http://schemas.microsoft.com/office/drawing/2014/main" id="{BFC4D114-2BF9-7924-89C0-1CC7A9C148CE}"/>
              </a:ext>
            </a:extLst>
          </p:cNvPr>
          <p:cNvSpPr/>
          <p:nvPr/>
        </p:nvSpPr>
        <p:spPr>
          <a:xfrm>
            <a:off x="45720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Technological Highlights</a:t>
            </a:r>
          </a:p>
        </p:txBody>
      </p:sp>
      <p:sp>
        <p:nvSpPr>
          <p:cNvPr id="16" name="Rectangle 15">
            <a:extLst>
              <a:ext uri="{FF2B5EF4-FFF2-40B4-BE49-F238E27FC236}">
                <a16:creationId xmlns:a16="http://schemas.microsoft.com/office/drawing/2014/main" id="{63171A88-D920-B434-5E26-372F07F2B9BC}"/>
              </a:ext>
            </a:extLst>
          </p:cNvPr>
          <p:cNvSpPr/>
          <p:nvPr/>
        </p:nvSpPr>
        <p:spPr>
          <a:xfrm>
            <a:off x="618744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3DC75C66-12C8-AFD3-EDE1-0F23F1D280D0}"/>
              </a:ext>
            </a:extLst>
          </p:cNvPr>
          <p:cNvSpPr/>
          <p:nvPr/>
        </p:nvSpPr>
        <p:spPr>
          <a:xfrm>
            <a:off x="618744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Business Impact</a:t>
            </a:r>
          </a:p>
        </p:txBody>
      </p:sp>
      <p:sp>
        <p:nvSpPr>
          <p:cNvPr id="18" name="TextBox 17">
            <a:extLst>
              <a:ext uri="{FF2B5EF4-FFF2-40B4-BE49-F238E27FC236}">
                <a16:creationId xmlns:a16="http://schemas.microsoft.com/office/drawing/2014/main" id="{F29F0FD8-FB77-46DF-CFA2-83ED823E713E}"/>
              </a:ext>
            </a:extLst>
          </p:cNvPr>
          <p:cNvSpPr txBox="1"/>
          <p:nvPr/>
        </p:nvSpPr>
        <p:spPr>
          <a:xfrm>
            <a:off x="457200" y="1584960"/>
            <a:ext cx="2054506" cy="1200329"/>
          </a:xfrm>
          <a:prstGeom prst="rect">
            <a:avLst/>
          </a:prstGeom>
          <a:noFill/>
        </p:spPr>
        <p:txBody>
          <a:bodyPr wrap="square" rtlCol="0">
            <a:spAutoFit/>
          </a:bodyPr>
          <a:lstStyle/>
          <a:p>
            <a:r>
              <a:rPr kumimoji="0" lang="en-IN"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Insurers, banks and healthcare firms are moving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legacy SQL Server / Oracle / Teradata ETL onto Databricks. Migration effort, not licensing, is the barrier.</a:t>
            </a:r>
          </a:p>
          <a:p>
            <a:endParaRPr lang="en-US" sz="1200" dirty="0">
              <a:solidFill>
                <a:srgbClr val="000000"/>
              </a:solidFill>
              <a:ea typeface="Calibri" panose="020F0502020204030204" pitchFamily="34" charset="0"/>
              <a:cs typeface="Calibri" panose="020F0502020204030204" pitchFamily="34" charset="0"/>
            </a:endParaRPr>
          </a:p>
          <a:p>
            <a:r>
              <a:rPr lang="en-US" sz="1200" b="1" dirty="0"/>
              <a:t>Insurance, BFSI, Healthcare, Utilities.</a:t>
            </a:r>
            <a:endParaRPr kumimoji="0" lang="en-IN"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441A7B6D-0398-0FE8-CDD1-599D469B52B2}"/>
              </a:ext>
            </a:extLst>
          </p:cNvPr>
          <p:cNvSpPr/>
          <p:nvPr/>
        </p:nvSpPr>
        <p:spPr>
          <a:xfrm>
            <a:off x="2814320" y="1412240"/>
            <a:ext cx="2306320" cy="2086809"/>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Pentagon 9">
            <a:extLst>
              <a:ext uri="{FF2B5EF4-FFF2-40B4-BE49-F238E27FC236}">
                <a16:creationId xmlns:a16="http://schemas.microsoft.com/office/drawing/2014/main" id="{6D2A01FF-BF42-9E31-AAC9-F28CD4D6A924}"/>
              </a:ext>
            </a:extLst>
          </p:cNvPr>
          <p:cNvSpPr/>
          <p:nvPr/>
        </p:nvSpPr>
        <p:spPr>
          <a:xfrm>
            <a:off x="2814320" y="1307465"/>
            <a:ext cx="230632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Client’s business problems</a:t>
            </a:r>
          </a:p>
        </p:txBody>
      </p:sp>
      <p:sp>
        <p:nvSpPr>
          <p:cNvPr id="19" name="TextBox 18">
            <a:extLst>
              <a:ext uri="{FF2B5EF4-FFF2-40B4-BE49-F238E27FC236}">
                <a16:creationId xmlns:a16="http://schemas.microsoft.com/office/drawing/2014/main" id="{3290F0C8-F93E-B121-BC3F-E8A586A3B1F6}"/>
              </a:ext>
            </a:extLst>
          </p:cNvPr>
          <p:cNvSpPr txBox="1"/>
          <p:nvPr/>
        </p:nvSpPr>
        <p:spPr>
          <a:xfrm>
            <a:off x="2824480" y="1624975"/>
            <a:ext cx="2221942" cy="646331"/>
          </a:xfrm>
          <a:prstGeom prst="rect">
            <a:avLst/>
          </a:prstGeom>
          <a:noFill/>
        </p:spPr>
        <p:txBody>
          <a:bodyPr wrap="square" rtlCol="0">
            <a:spAutoFit/>
          </a:bodyPr>
          <a:lstStyle/>
          <a:p>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Thousands of procedures rewritten to PySpark by hand — weeks each, inconsistent SCD logic. Names and types differ between source and lakehouse, so defects surface in UAT. Often the target raw layer has already drifted, and nobody knows until the pipeline fails. Lineage is undocumented.</a:t>
            </a:r>
          </a:p>
        </p:txBody>
      </p:sp>
      <p:sp>
        <p:nvSpPr>
          <p:cNvPr id="20" name="TextBox 19">
            <a:extLst>
              <a:ext uri="{FF2B5EF4-FFF2-40B4-BE49-F238E27FC236}">
                <a16:creationId xmlns:a16="http://schemas.microsoft.com/office/drawing/2014/main" id="{1D2916F6-A4BF-2416-AF79-0554EA5D6206}"/>
              </a:ext>
            </a:extLst>
          </p:cNvPr>
          <p:cNvSpPr txBox="1"/>
          <p:nvPr/>
        </p:nvSpPr>
        <p:spPr>
          <a:xfrm>
            <a:off x="5182989" y="1624975"/>
            <a:ext cx="6654106" cy="2092881"/>
          </a:xfrm>
          <a:prstGeom prst="rect">
            <a:avLst/>
          </a:prstGeom>
          <a:noFill/>
        </p:spPr>
        <p:txBody>
          <a:bodyPr wrap="square" rtlCol="0">
            <a:spAutoFit/>
          </a:bodyPr>
          <a:lstStyle/>
          <a:p>
            <a:r>
              <a:rPr kumimoji="0" lang="en-US"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The Solution: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A metadata-driven, multi-agent GenAI accelerator converting stored procedures into a governed Databricks medallion pipeline (raw → std → dwh). Uniquely, it validates the target lakehouse BEFORE generating code, refusing anything the platform cannot support.</a:t>
            </a:r>
            <a:endParaRPr kumimoji="0" lang="en-US" sz="10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r>
              <a:rPr kumimoji="0" lang="en-US"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How it works: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Five phases: parse procedures into a typed representation; generate the schema registry from them; detect drift against the live raw schema (blockers stop generation); build a column lineage table; generate and upload PySpark notebooks with SCD2 merges. </a:t>
            </a:r>
          </a:p>
          <a:p>
            <a:endParaRPr lang="en-US" sz="1200" dirty="0">
              <a:solidFill>
                <a:srgbClr val="000000"/>
              </a:solidFill>
              <a:ea typeface="Calibri" panose="020F0502020204030204" pitchFamily="34" charset="0"/>
              <a:cs typeface="Calibri" panose="020F0502020204030204" pitchFamily="34" charset="0"/>
            </a:endParaRPr>
          </a:p>
          <a:p>
            <a:r>
              <a:rPr lang="en-US" sz="1200" b="1" dirty="0"/>
              <a:t>A demonstrable differentiator in lakehouse-modernisation pursuits: shortens discovery, de-risks fixed-price bids, and pulls through downstream data-engineering work.</a:t>
            </a:r>
          </a:p>
          <a:p>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endParaRPr kumimoji="0" lang="en-US" sz="10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7A0D16CA-572C-744B-8AAF-DBDEF574D554}"/>
              </a:ext>
            </a:extLst>
          </p:cNvPr>
          <p:cNvSpPr txBox="1"/>
          <p:nvPr/>
        </p:nvSpPr>
        <p:spPr>
          <a:xfrm>
            <a:off x="477521" y="3957321"/>
            <a:ext cx="5638799" cy="1384995"/>
          </a:xfrm>
          <a:prstGeom prst="rect">
            <a:avLst/>
          </a:prstGeom>
          <a:noFill/>
        </p:spPr>
        <p:txBody>
          <a:bodyPr wrap="square" rtlCol="0">
            <a:spAutoFit/>
          </a:bodyPr>
          <a:lstStyle/>
          <a:p>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Core technologies – </a:t>
            </a:r>
            <a:r>
              <a:rPr kumimoji="0" lang="en-US" sz="1200" b="0" i="0" u="none" strike="noStrike" kern="1200" cap="none" spc="0" normalizeH="0" baseline="0" noProof="0" dirty="0" err="1">
                <a:ln>
                  <a:noFill/>
                </a:ln>
                <a:solidFill>
                  <a:srgbClr val="000000"/>
                </a:solidFill>
                <a:effectLst/>
                <a:uLnTx/>
                <a:uFillTx/>
                <a:ea typeface="Calibri" panose="020F0502020204030204" pitchFamily="34" charset="0"/>
                <a:cs typeface="Calibri" panose="020F0502020204030204" pitchFamily="34" charset="0"/>
              </a:rPr>
              <a:t>Databricks</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 (Unity Catalog, Delta, SDK), Anthropic Claude, Python, sqlglot, PySpark.</a:t>
            </a:r>
          </a:p>
          <a:p>
            <a:pPr marL="171450" indent="-171450">
              <a:buFont typeface="Arial" panose="020B0604020202020204" pitchFamily="34" charset="0"/>
              <a:buChar char="•"/>
            </a:pPr>
            <a:r>
              <a:rPr lang="en-US" sz="1200" dirty="0">
                <a:solidFill>
                  <a:srgbClr val="000000"/>
                </a:solidFill>
                <a:ea typeface="Calibri" panose="020F0502020204030204" pitchFamily="34" charset="0"/>
                <a:cs typeface="Calibri" panose="020F0502020204030204" pitchFamily="34" charset="0"/>
              </a:rPr>
              <a:t>Innovation – drift detection gates code generation; registry and lineage are generated from the procedures and become the contract the code obeys.</a:t>
            </a: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S</a:t>
            </a:r>
            <a:r>
              <a:rPr lang="en-US" sz="1200" dirty="0" err="1">
                <a:solidFill>
                  <a:srgbClr val="000000"/>
                </a:solidFill>
                <a:ea typeface="Calibri" panose="020F0502020204030204" pitchFamily="34" charset="0"/>
                <a:cs typeface="Calibri" panose="020F0502020204030204" pitchFamily="34" charset="0"/>
              </a:rPr>
              <a:t>calability</a:t>
            </a:r>
            <a:r>
              <a:rPr lang="en-US" sz="1200" dirty="0">
                <a:solidFill>
                  <a:srgbClr val="000000"/>
                </a:solidFill>
                <a:ea typeface="Calibri" panose="020F0502020204030204" pitchFamily="34" charset="0"/>
                <a:cs typeface="Calibri" panose="020F0502020204030204" pitchFamily="34" charset="0"/>
              </a:rPr>
              <a:t> – procedures processed from a folder, registry appends per procedure; hundreds scale like five. Dialect layer adds Oracle/Teradata.</a:t>
            </a: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Integration – runs on the client's own Databricks; writes registry, drift, lineage and log tables to Unity Catalog and publishes notebooks to the workspace.</a:t>
            </a:r>
          </a:p>
        </p:txBody>
      </p:sp>
      <p:sp>
        <p:nvSpPr>
          <p:cNvPr id="22" name="TextBox 21">
            <a:extLst>
              <a:ext uri="{FF2B5EF4-FFF2-40B4-BE49-F238E27FC236}">
                <a16:creationId xmlns:a16="http://schemas.microsoft.com/office/drawing/2014/main" id="{B45C384A-1D7A-A3D4-2B36-CF15B9DFAD37}"/>
              </a:ext>
            </a:extLst>
          </p:cNvPr>
          <p:cNvSpPr txBox="1"/>
          <p:nvPr/>
        </p:nvSpPr>
        <p:spPr>
          <a:xfrm>
            <a:off x="6197598" y="3964503"/>
            <a:ext cx="5638799" cy="2308324"/>
          </a:xfrm>
          <a:prstGeom prst="rect">
            <a:avLst/>
          </a:prstGeom>
          <a:noFill/>
        </p:spPr>
        <p:txBody>
          <a:bodyPr wrap="square" rtlCol="0">
            <a:spAutoFit/>
          </a:bodyPr>
          <a:lstStyle/>
          <a:p>
            <a:r>
              <a:rPr lang="en-US" sz="1200" b="1" dirty="0">
                <a:solidFill>
                  <a:srgbClr val="000000"/>
                </a:solidFill>
                <a:ea typeface="Calibri" panose="020F0502020204030204" pitchFamily="34" charset="0"/>
                <a:cs typeface="Calibri" panose="020F0502020204030204" pitchFamily="34" charset="0"/>
              </a:rPr>
              <a:t>Revenue Streams :</a:t>
            </a:r>
            <a:r>
              <a:rPr lang="en-US" sz="1200" dirty="0">
                <a:solidFill>
                  <a:srgbClr val="000000"/>
                </a:solidFill>
                <a:ea typeface="Calibri" panose="020F0502020204030204" pitchFamily="34" charset="0"/>
                <a:cs typeface="Calibri" panose="020F0502020204030204" pitchFamily="34" charset="0"/>
              </a:rPr>
              <a:t>Migration engagements priced per procedure or workload, plus follow-on managed services. Reusable IP, not bespoke effort.</a:t>
            </a:r>
          </a:p>
          <a:p>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r>
              <a:rPr lang="en-US" sz="1200" b="1" dirty="0">
                <a:solidFill>
                  <a:srgbClr val="000000"/>
                </a:solidFill>
                <a:ea typeface="Calibri" panose="020F0502020204030204" pitchFamily="34" charset="0"/>
                <a:cs typeface="Calibri" panose="020F0502020204030204" pitchFamily="34" charset="0"/>
              </a:rPr>
              <a:t>Customer/Stakeholder Value: </a:t>
            </a:r>
            <a:r>
              <a:rPr lang="en-US" sz="1200" dirty="0">
                <a:solidFill>
                  <a:srgbClr val="000000"/>
                </a:solidFill>
                <a:ea typeface="Calibri" panose="020F0502020204030204" pitchFamily="34" charset="0"/>
                <a:cs typeface="Calibri" panose="020F0502020204030204" pitchFamily="34" charset="0"/>
              </a:rPr>
              <a:t>Reliability and auditability, not just speed — deterministic output, a full audit trail, and a system that refuses unsafe conversions rather than silently emitting broken code.</a:t>
            </a:r>
          </a:p>
          <a:p>
            <a:endParaRPr lang="en-US" sz="1200" dirty="0">
              <a:solidFill>
                <a:srgbClr val="000000"/>
              </a:solidFill>
              <a:ea typeface="Calibri" panose="020F0502020204030204" pitchFamily="34" charset="0"/>
              <a:cs typeface="Calibri" panose="020F0502020204030204" pitchFamily="34" charset="0"/>
            </a:endParaRPr>
          </a:p>
          <a:p>
            <a:r>
              <a:rPr lang="en-US" sz="1200" b="1" dirty="0">
                <a:solidFill>
                  <a:srgbClr val="000000"/>
                </a:solidFill>
                <a:ea typeface="Calibri" panose="020F0502020204030204" pitchFamily="34" charset="0"/>
                <a:cs typeface="Calibri" panose="020F0502020204030204" pitchFamily="34" charset="0"/>
              </a:rPr>
              <a:t>Potential Impact: </a:t>
            </a:r>
            <a:r>
              <a:rPr lang="en-US" sz="1200" dirty="0">
                <a:solidFill>
                  <a:srgbClr val="000000"/>
                </a:solidFill>
                <a:ea typeface="Calibri" panose="020F0502020204030204" pitchFamily="34" charset="0"/>
                <a:cs typeface="Calibri" panose="020F0502020204030204" pitchFamily="34" charset="0"/>
              </a:rPr>
              <a:t>80–90% reduction in manual conversion effort; ~95% faster per-procedure turnaround. A 100-procedure workload compresses from 6–9 months to 4–6 weeks, with 100% automated lineage coverage. Proven on live Azure Databricks.</a:t>
            </a:r>
          </a:p>
          <a:p>
            <a:r>
              <a:rPr lang="en-US" sz="1200" b="1" dirty="0">
                <a:solidFill>
                  <a:srgbClr val="000000"/>
                </a:solidFill>
                <a:ea typeface="Calibri" panose="020F0502020204030204" pitchFamily="34" charset="0"/>
                <a:cs typeface="Calibri" panose="020F0502020204030204" pitchFamily="34" charset="0"/>
              </a:rPr>
              <a:t>Cost Structure</a:t>
            </a:r>
            <a:r>
              <a:rPr lang="en-US" sz="1200" b="1">
                <a:solidFill>
                  <a:srgbClr val="000000"/>
                </a:solidFill>
                <a:ea typeface="Calibri" panose="020F0502020204030204" pitchFamily="34" charset="0"/>
                <a:cs typeface="Calibri" panose="020F0502020204030204" pitchFamily="34" charset="0"/>
              </a:rPr>
              <a:t>: </a:t>
            </a:r>
            <a:r>
              <a:rPr lang="en-US" sz="1200">
                <a:solidFill>
                  <a:srgbClr val="000000"/>
                </a:solidFill>
                <a:ea typeface="Calibri" panose="020F0502020204030204" pitchFamily="34" charset="0"/>
                <a:cs typeface="Calibri" panose="020F0502020204030204" pitchFamily="34" charset="0"/>
              </a:rPr>
              <a:t>Low </a:t>
            </a:r>
            <a:r>
              <a:rPr lang="en-US" sz="1200" dirty="0">
                <a:solidFill>
                  <a:srgbClr val="000000"/>
                </a:solidFill>
                <a:ea typeface="Calibri" panose="020F0502020204030204" pitchFamily="34" charset="0"/>
                <a:cs typeface="Calibri" panose="020F0502020204030204" pitchFamily="34" charset="0"/>
              </a:rPr>
              <a:t>marginal cost — only two of five phases call a model. Reuses the client's existing Databricks estate.</a:t>
            </a:r>
          </a:p>
        </p:txBody>
      </p:sp>
    </p:spTree>
    <p:extLst>
      <p:ext uri="{BB962C8B-B14F-4D97-AF65-F5344CB8AC3E}">
        <p14:creationId xmlns:p14="http://schemas.microsoft.com/office/powerpoint/2010/main" val="2900283342"/>
      </p:ext>
    </p:extLst>
  </p:cSld>
  <p:clrMapOvr>
    <a:masterClrMapping/>
  </p:clrMapOvr>
</p:sld>
</file>

<file path=ppt/theme/theme1.xml><?xml version="1.0" encoding="utf-8"?>
<a:theme xmlns:a="http://schemas.openxmlformats.org/drawingml/2006/main" name="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emplate>
  <TotalTime>1713</TotalTime>
  <Words>428</Words>
  <Application>Microsoft Office PowerPoint</Application>
  <PresentationFormat>Widescreen</PresentationFormat>
  <Paragraphs>25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System Font Regular</vt:lpstr>
      <vt:lpstr>Office Theme</vt:lpstr>
      <vt:lpstr>GenAI SQL → Databricks Migration Accelerator</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Sprint</dc:title>
  <dc:creator>Grace Singh</dc:creator>
  <cp:lastModifiedBy>Gupta, Prayas</cp:lastModifiedBy>
  <cp:revision>31</cp:revision>
  <dcterms:created xsi:type="dcterms:W3CDTF">2024-06-06T10:38:18Z</dcterms:created>
  <dcterms:modified xsi:type="dcterms:W3CDTF">2026-08-13T11:11:41Z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32c2-122e-4c56-85a9-bc2fa83b9933_Enabled">
    <vt:lpwstr>true</vt:lpwstr>
  </property>
  <property fmtid="{D5CDD505-2E9C-101B-9397-08002B2CF9AE}" pid="3" name="MSIP_Label_5b5832c2-122e-4c56-85a9-bc2fa83b9933_SetDate">
    <vt:lpwstr>2026-08-13T09:03:26Z</vt:lpwstr>
  </property>
  <property fmtid="{D5CDD505-2E9C-101B-9397-08002B2CF9AE}" pid="4" name="MSIP_Label_5b5832c2-122e-4c56-85a9-bc2fa83b9933_Method">
    <vt:lpwstr>Privileged</vt:lpwstr>
  </property>
  <property fmtid="{D5CDD505-2E9C-101B-9397-08002B2CF9AE}" pid="5" name="MSIP_Label_5b5832c2-122e-4c56-85a9-bc2fa83b9933_Name">
    <vt:lpwstr>General</vt:lpwstr>
  </property>
  <property fmtid="{D5CDD505-2E9C-101B-9397-08002B2CF9AE}" pid="6" name="MSIP_Label_5b5832c2-122e-4c56-85a9-bc2fa83b9933_SiteId">
    <vt:lpwstr>89a64c04-5070-4bae-a1ed-e9639497e1b7</vt:lpwstr>
  </property>
  <property fmtid="{D5CDD505-2E9C-101B-9397-08002B2CF9AE}" pid="7" name="MSIP_Label_5b5832c2-122e-4c56-85a9-bc2fa83b9933_ActionId">
    <vt:lpwstr>93831c0f-8a48-434f-93e2-ff8debe50915</vt:lpwstr>
  </property>
  <property fmtid="{D5CDD505-2E9C-101B-9397-08002B2CF9AE}" pid="8" name="MSIP_Label_5b5832c2-122e-4c56-85a9-bc2fa83b9933_ContentBits">
    <vt:lpwstr>0</vt:lpwstr>
  </property>
  <property fmtid="{D5CDD505-2E9C-101B-9397-08002B2CF9AE}" pid="9" name="MSIP_Label_5b5832c2-122e-4c56-85a9-bc2fa83b9933_Tag">
    <vt:lpwstr>10, 0, 1, 1</vt:lpwstr>
  </property>
</Properties>
</file>