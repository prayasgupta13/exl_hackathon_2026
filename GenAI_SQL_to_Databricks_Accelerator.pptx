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the hardest part of a lakehouse migration isn't the data, it's the hundreds of stored procedures. We built a GenAI-powered accelerator that converts them and stays trustworthy enough for regulated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manual rewrite is slow and inconsistent; LLM-only is fast but hallucinates and isn't reproducible; and nobody checks that the target schema has already drifted from what the procedures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three bets: determinism where correctness matters, metadata as the single source of truth, and drift detection as a gate before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phases left to right. Drift (amber) is the gate. Every phase writes an execution_log row; everything mirrors to CSV; offline mode runs everything except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GenAI only touches std-&gt;dwh, and even there it's handed exact names from lineage. raw-&gt;std is a pure template, so the output is byte-identical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is the differentiator. Four types, severity drives the pipeline. The terminal panel shows REAL findings from this run: two blockers and one warning, produced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in one slide. Five procedures engineered to hit five realistic outcomes: a clean convert, two blockers, a recoverable type warning, and a dynamic-SQL human-review packet.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Lineage is the contract. Codegen resolves names through it, so code and lineage can't disagree. These are real rows for the customer dimension, with business-key and SCD2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 enterprise can trust it: append-only metadata with deterministic IDs, a full execution log, GenAI prompt/response audit, human-in-the-loop, offline inspectability, temperature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against the alternatives. We keep the speed of generation and add the reproducibility, drift-awareness and audit trail the other two 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and impact for management: weeks to hours, byte-identical regeneration, 12 tests passing with no credentials, and an audit-ready metadata trail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 and the ask: a pilot on 20 real production procedures, with the drift report and audit trail as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011680"/>
            <a:ext cx="6858000" cy="6858000"/>
          </a:xfrm>
          <a:prstGeom prst="ellipse">
            <a:avLst/>
          </a:prstGeom>
          <a:solidFill>
            <a:srgbClr val="13233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11203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 ·  DATA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
</a:t>
            </a:r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→ Databricks
</a:t>
            </a:r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 in.  Governed lakehouse pipelines out.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5257800"/>
            <a:ext cx="2382012" cy="475488"/>
          </a:xfrm>
          <a:prstGeom prst="roundRect">
            <a:avLst>
              <a:gd name="adj" fmla="val 500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5431536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257800"/>
            <a:ext cx="19705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5284" y="5257800"/>
            <a:ext cx="2171700" cy="475488"/>
          </a:xfrm>
          <a:prstGeom prst="roundRect">
            <a:avLst>
              <a:gd name="adj" fmla="val 500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8164" y="5431536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3781044" y="5257800"/>
            <a:ext cx="1760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truth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43016" y="5257800"/>
            <a:ext cx="1540764" cy="475488"/>
          </a:xfrm>
          <a:prstGeom prst="roundRect">
            <a:avLst>
              <a:gd name="adj" fmla="val 500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5431536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5257800"/>
            <a:ext cx="11292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Drift-gated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81160" y="1600200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3A2A12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7282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09760" y="2103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landed as-is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22992" y="25694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3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898648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0F2E2C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0266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3401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cleansed · typed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22992" y="3867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3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81160" y="4197096"/>
            <a:ext cx="2240280" cy="960120"/>
          </a:xfrm>
          <a:prstGeom prst="roundRect">
            <a:avLst>
              <a:gd name="adj" fmla="val 13333"/>
            </a:avLst>
          </a:prstGeom>
          <a:solidFill>
            <a:srgbClr val="14263F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43251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DWH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509760" y="47000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· 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Migrations stall on the logic, not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2A1620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29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rewrite: weeks per wave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32688" y="2660904"/>
            <a:ext cx="4855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T-SQL procedures carry the real work — SCD2 merges, fact loads, aggregations. Rewriting them by hand is the slowest lane of the whole migration.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691640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965960"/>
            <a:ext cx="566928" cy="566928"/>
          </a:xfrm>
          <a:prstGeom prst="ellipse">
            <a:avLst/>
          </a:prstGeom>
          <a:solidFill>
            <a:srgbClr val="2A1620"/>
          </a:solidFill>
          <a:ln/>
        </p:spPr>
      </p:sp>
      <p:pic>
        <p:nvPicPr>
          <p:cNvPr id="11" name="Image 1" descr="icons/shuff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939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4928" y="19293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engineer converts differently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93408" y="2660904"/>
            <a:ext cx="4855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MERGE becomes five different notebooks in five hands. Inconsistent patterns, human error, and a thin audit trail at the end.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43400"/>
            <a:ext cx="566928" cy="566928"/>
          </a:xfrm>
          <a:prstGeom prst="ellipse">
            <a:avLst/>
          </a:prstGeom>
          <a:solidFill>
            <a:srgbClr val="2A1620"/>
          </a:solidFill>
          <a:ln/>
        </p:spPr>
      </p:sp>
      <p:pic>
        <p:nvPicPr>
          <p:cNvPr id="16" name="Image 2" descr="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4714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30682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ask an LLM” fails the trust test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32688" y="5038344"/>
            <a:ext cx="4855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GenAI hallucinates column names, invents transforms, and answers differently on every run — unacceptable for regulated insurance and finance data.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4069080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5120" y="4343400"/>
            <a:ext cx="566928" cy="566928"/>
          </a:xfrm>
          <a:prstGeom prst="ellipse">
            <a:avLst/>
          </a:prstGeom>
          <a:solidFill>
            <a:srgbClr val="2A1620"/>
          </a:solidFill>
          <a:ln/>
        </p:spPr>
      </p:sp>
      <p:pic>
        <p:nvPicPr>
          <p:cNvPr id="21" name="Image 3" descr="icons/eye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47141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430682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checks the target first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93408" y="5038344"/>
            <a:ext cx="4855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lakehouse raw layer has already drifted from what the procedures assume. Broken code is discovered only when it fails in production.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0167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senior teams actually ask:  </a:t>
            </a:r>
            <a:pPr indent="0" marL="0">
              <a:buNone/>
            </a:pPr>
            <a:r>
              <a:rPr lang="en-US" sz="1400" b="1" i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we go fast without losing the audit trail?”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the work by what has to be trustworthy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91840" y="2075688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7288" y="223113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Deterministic-first,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GenAI-second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and templates do the must-be-repeatable work — parsing, name derivation, type mapping, drift, lineage. The model only fills semantic gaps a rule can't.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44568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196328" y="2075688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23113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64608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is the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64608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schema registry is generated from the procedures; a lineage table records every column's journey. Generated code resolves names through lineage — never free text.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49056" y="1783080"/>
            <a:ext cx="3611880" cy="3566160"/>
          </a:xfrm>
          <a:prstGeom prst="roundRect">
            <a:avLst>
              <a:gd name="adj" fmla="val 359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769096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1100816" y="2075688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9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6264" y="223113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69096" y="28072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drift before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code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769096" y="3739896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procedures assume is compared against the live target schema. A blocker stops code generation instead of shipping code that breaks at runtime.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562356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1023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4400" y="56235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 </a:t>
            </a:r>
            <a:pPr indent="0" marL="0">
              <a:buNone/>
            </a:pPr>
            <a:r>
              <a:rPr lang="en-US" sz="14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speed of GenAI, with the reproducibility and audit trail a regulated migration demands.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 · five phases · every step logged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0744" y="2011680"/>
            <a:ext cx="603504" cy="60350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6" name="Image 0" descr="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1488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T-SQL → ProcedureIR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dynamic SQL, cursors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06624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3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072384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13048" y="2011680"/>
            <a:ext cx="603504" cy="60350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13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14884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63824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163824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182112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→ schema_registry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source→target, generated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138928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504688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2B2010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45352" y="2011680"/>
            <a:ext cx="603504" cy="603504"/>
          </a:xfrm>
          <a:prstGeom prst="ellipse">
            <a:avLst/>
          </a:prstGeom>
          <a:solidFill>
            <a:srgbClr val="3A2A12"/>
          </a:solidFill>
          <a:ln/>
        </p:spPr>
      </p:sp>
      <p:pic>
        <p:nvPicPr>
          <p:cNvPr id="20" name="Image 2" descr="icons/alerto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1488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96128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596128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614416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vs LIVE raw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stop codegen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571232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3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936992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77656" y="2011680"/>
            <a:ext cx="603504" cy="60350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27" name="Image 3" descr="icon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6" y="214884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28432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028432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046720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raw→std→dwh recorded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column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10003536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3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369296" y="178308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1109960" y="2011680"/>
            <a:ext cx="603504" cy="60350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34" name="Image 4" descr="icons/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2148840"/>
            <a:ext cx="329184" cy="32918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460736" y="269748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0460736" y="293522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10479024" y="3319272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raw→std deterministic</a:t>
            </a:r>
            <a:endParaRPr lang="en-US" sz="950" dirty="0"/>
          </a:p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std→dwh GenAI, grounded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40080" y="44348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F1B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14400" y="45262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METADATA — written every run · deterministic IDs · mirrored to CSV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914400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914400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metadata.schema_registry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3593592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593592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metadata.schema_drift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272784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272784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metadata.lineage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951976" y="4846320"/>
            <a:ext cx="2514600" cy="402336"/>
          </a:xfrm>
          <a:prstGeom prst="roundRect">
            <a:avLst>
              <a:gd name="adj" fmla="val 18182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8951976" y="48463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metadata.execution_log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mode </a:t>
            </a:r>
            <a:pPr indent="0" marL="0">
              <a:buNone/>
            </a:pPr>
            <a:r>
              <a:rPr lang="en-US" sz="12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Parse → Registry → Lineage → Codegen with no warehouse.  Every phase writes an execution-log row — the answer to </a:t>
            </a:r>
            <a:pPr indent="0" marL="0">
              <a:buNone/>
            </a:pPr>
            <a:r>
              <a:rPr lang="en-US" sz="1250" i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did it do, and when?”</a:t>
            </a:r>
            <a:endParaRPr lang="en-US" sz="1250" dirty="0"/>
          </a:p>
        </p:txBody>
      </p:sp>
      <p:sp>
        <p:nvSpPr>
          <p:cNvPr id="49" name="Text 4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DESIGN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touches exactly one layer — and it's grounded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126480" cy="3794760"/>
          </a:xfrm>
          <a:prstGeom prst="roundRect">
            <a:avLst>
              <a:gd name="adj" fmla="val 337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pic>
        <p:nvPicPr>
          <p:cNvPr id="5" name="Image 0" descr="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 ·  RULES &amp; TEMPLATES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25603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parse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pattern, business keys, transform intent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98448" y="312724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derivation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cust_nm → customer_name, from a rule dictionary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98448" y="36941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mapping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→ Spark, table-driven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98448" y="4261104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Schema-drift detection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types, severity drives the pipeline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012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98448" y="4828032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assembly + raw→std code  —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Python template — byte-identical every run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59168" y="1737360"/>
            <a:ext cx="4480560" cy="3794760"/>
          </a:xfrm>
          <a:prstGeom prst="roundRect">
            <a:avLst>
              <a:gd name="adj" fmla="val 3373"/>
            </a:avLst>
          </a:prstGeom>
          <a:solidFill>
            <a:srgbClr val="2B2010"/>
          </a:solidFill>
          <a:ln w="19050">
            <a:solidFill>
              <a:srgbClr val="FFB020"/>
            </a:solidFill>
            <a:prstDash val="solid"/>
          </a:ln>
        </p:spPr>
      </p:sp>
      <p:pic>
        <p:nvPicPr>
          <p:cNvPr id="18" name="Image 1" descr="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76" y="20116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82128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 ·  GROUNDED ON LINEAGE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379208" y="26060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→ dwh business logic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merges, joins, aggregations, derived columns — the one layer that genuinely needs judgment.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379208" y="393192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1A1408"/>
          </a:solidFill>
          <a:ln w="12700">
            <a:solidFill>
              <a:srgbClr val="4A3A1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62088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carries the exact std &amp; dwh column names from lineage.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= 0  ·  every call logged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raw → std is a template, regenerating produces </a:t>
            </a:r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byte-identical output</a:t>
            </a:r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same input, same code, every run.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drift is caught before a line of code is generated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DRIFT TYPES — SEVERITY DRIVES THE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MISSING_TABLE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reads a table raw doesn't have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30368" y="2020824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5875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0368" y="202082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62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MISSING_COLUMN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31912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used but absent from the raw 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30368" y="2990088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5875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990088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4160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landed a different type than implied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30368" y="3959352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3959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690872"/>
            <a:ext cx="5852160" cy="841248"/>
          </a:xfrm>
          <a:prstGeom prst="roundRect">
            <a:avLst>
              <a:gd name="adj" fmla="val 1087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00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EXTRA_COLUMN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5129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has a column no procedure uses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30368" y="4928616"/>
            <a:ext cx="1060704" cy="36576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492861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AUTO-ADOPT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12280" y="1481328"/>
            <a:ext cx="4736592" cy="4160520"/>
          </a:xfrm>
          <a:prstGeom prst="roundRect">
            <a:avLst>
              <a:gd name="adj" fmla="val 2637"/>
            </a:avLst>
          </a:prstGeom>
          <a:solidFill>
            <a:srgbClr val="060B14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68312" y="1719072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9480" y="1719072"/>
            <a:ext cx="118872" cy="1188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0648" y="1719072"/>
            <a:ext cx="118872" cy="118872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627632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FINDINGS — THIS RUN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68312" y="2139696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0C152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2258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MISSING_COLUMN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31552" y="225856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31552" y="22585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69480" y="2596896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raw.stg_claims has no deductible_amt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68312" y="3218688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0C152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MISSING_TABLE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31552" y="33375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31552" y="33375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69480" y="367588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raw.stg_premium_txn does not exist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68312" y="4297680"/>
            <a:ext cx="4224528" cy="914400"/>
          </a:xfrm>
          <a:prstGeom prst="roundRect">
            <a:avLst>
              <a:gd name="adj" fmla="val 8000"/>
            </a:avLst>
          </a:prstGeom>
          <a:solidFill>
            <a:srgbClr val="0C152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131552" y="44165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31552" y="44165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269480" y="4754880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prem_amt implies decimal(18,2) · raw has string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procedures blocked</a:t>
            </a:r>
            <a:pPr indent="0" marL="0"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fully deterministic  ·  every finding reproducible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real procedures — five outcomes it handles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21608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convert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66944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34456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drift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78624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47304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warning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91472" y="1572768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62763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360152" y="1627632"/>
            <a:ext cx="1170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ACCELERATOR DID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0412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090672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141F36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9067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usp_Load_Dim_Customer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3090672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dimension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309067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baseline — converts end to end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04120" y="319125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31912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40080" y="3712464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0E1729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712464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usp_Load_Fact_Claims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7124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· temp table · joins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37124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deductible_amt missing from raw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04120" y="38130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38130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40080" y="4334256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141F36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334256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usp_Load_Dim_Policy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334256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 dimension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33425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prem_amt is STRING in raw — recoverable cast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104120" y="44348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44348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40080" y="4956048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0E1729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4956048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usp_Load_Fact_Premium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956048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/ GROUP BY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49560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stg_premium_txn not landed in raw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04120" y="505663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04120" y="50566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0080" y="5577840"/>
            <a:ext cx="10908792" cy="530352"/>
          </a:xfrm>
          <a:prstGeom prst="roundRect">
            <a:avLst>
              <a:gd name="adj" fmla="val 12069"/>
            </a:avLst>
          </a:prstGeom>
          <a:solidFill>
            <a:srgbClr val="141F36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57784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usp_Purge_Old_Partitions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5577840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SQL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557784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unknowable — review packet written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104120" y="567842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04120" y="56784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is the contract codegen can't break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column's journey is recorded once — raw → std (transform) → dwh. Codegen resolves names through this table, so generated code and recorded lineage can never disagree.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COLUMN  (TRANSFORM)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8388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DWH COLUMN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60904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141F36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609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stg_customer.cust_id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22192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609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 </a:t>
            </a:r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TRIM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89520" y="26609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3880" y="26609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dim_customer.customer_id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744200" y="2825496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44200" y="282549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0E1729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42900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stg_customer.cust_nm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22192" y="34290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4290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  </a:t>
            </a:r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INITCAP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589520" y="34290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34290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dim_customer.customer_name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744200" y="3593592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44200" y="359359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" y="4197096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141F36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19709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stg_customer.cust_addr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22192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19709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customer_address  </a:t>
            </a:r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TRIM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83880" y="41970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dim_customer.customer_address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744200" y="4361688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44200" y="436168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4965192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0E1729"/>
          </a:solidFill>
          <a:ln w="9525">
            <a:solidFill>
              <a:srgbClr val="2433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9651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stg_customer.cust_seg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22192" y="49651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49651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customer_segment  </a:t>
            </a:r>
            <a:pPr indent="0" marL="0">
              <a:buNone/>
            </a:pPr>
            <a:r>
              <a:rPr lang="en-US" sz="10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UPPER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89520" y="49651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83880" y="496519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dim_customer.customer_segment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744200" y="5129784"/>
            <a:ext cx="658368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512978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0080" y="5715000"/>
            <a:ext cx="10908792" cy="621792"/>
          </a:xfrm>
          <a:prstGeom prst="roundRect">
            <a:avLst>
              <a:gd name="adj" fmla="val 14706"/>
            </a:avLst>
          </a:prstGeom>
          <a:solidFill>
            <a:srgbClr val="1023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71500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auditor's question — </a:t>
            </a:r>
            <a:pPr indent="0" marL="0">
              <a:buNone/>
            </a:pPr>
            <a:r>
              <a:rPr lang="en-US" sz="1350" i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did this warehouse column come from?”</a:t>
            </a:r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answered by one query.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regulated migrations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2082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396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metadata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registry, drift and lineage IDs — reruns dedupe on ID, history is never overwritten.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44568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202082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11" name="Image 1" descr="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13969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execution log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18888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run, phase and procedure: status, row counts, duration. The complete “what ran, and when.”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449056" y="178308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05088" y="202082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16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139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45168" y="198424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prompt/response audit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723376" y="26791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call logged to JSONL — a Delta audit table in production. Nothing the model did is hidden.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96112" y="426110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21" name="Image 3" descr="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3799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36192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4400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constructs (dynamic SQL, cursors) get a review packet — never a silent mistranslation.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44568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800600" y="426110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26" name="Image 4" descr="icons/wifio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37997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&amp; inspectable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818888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with no warehouse; every artifact mirrors to CSV, so the whole pipeline is reviewable locally.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449056" y="402336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705088" y="4261104"/>
            <a:ext cx="512064" cy="512064"/>
          </a:xfrm>
          <a:prstGeom prst="ellipse">
            <a:avLst/>
          </a:prstGeom>
          <a:solidFill>
            <a:srgbClr val="0F2E2C"/>
          </a:solidFill>
          <a:ln/>
        </p:spPr>
      </p:sp>
      <p:pic>
        <p:nvPicPr>
          <p:cNvPr id="31" name="Image 5" descr="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437997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45168" y="422452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by default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723376" y="49194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 on every call; the risky, must-be-right detections are rules, not prompts.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  vs.  LLM-only  vs.  this accelerator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rewrite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engineer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between people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in SCD2 / joins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Thin, after-the-fact audit trail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target-schema check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4568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LLM-only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37176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84648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draft, but…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7176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84648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Hallucinates column names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37176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answer each 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7176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84648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awareness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37176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84648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— hard to audit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49056" y="1783080"/>
            <a:ext cx="3611880" cy="4114800"/>
          </a:xfrm>
          <a:prstGeom prst="roundRect">
            <a:avLst>
              <a:gd name="adj" fmla="val 3544"/>
            </a:avLst>
          </a:prstGeom>
          <a:solidFill>
            <a:srgbClr val="0F2A28"/>
          </a:solidFill>
          <a:ln w="22225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202082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accelerator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41664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89136" y="26334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reproducible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41664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89136" y="3255264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come from lineage, not guesses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41664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89136" y="3877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 · temperature 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41664" y="4517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089136" y="449884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Drift-gated before codegen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41664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089136" y="512064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logged · human-in-the-loop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the speed of generation </a:t>
            </a:r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add</a:t>
            </a:r>
            <a:pPr indent="0" marL="0"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reproducibility, drift-awareness and audit trail the other two lack.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&amp; 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construction — and it shows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pic>
        <p:nvPicPr>
          <p:cNvPr id="5" name="Image 0" descr="icons/tren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hours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wave of stored procedures, with a consistent house pattern for every notebook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410712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pic>
        <p:nvPicPr>
          <p:cNvPr id="9" name="Image 1" descr="icons/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05740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85032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output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685032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+ temperature 0: regeneration is byte-identical where it must be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81344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pic>
        <p:nvPicPr>
          <p:cNvPr id="13" name="Image 2" descr="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5740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5664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 tests pass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55664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naming, all four drift types, severity, lineage — with no credentials and no warehouse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951976" y="178308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pic>
        <p:nvPicPr>
          <p:cNvPr id="17" name="Image 3" descr="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05740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26296" y="2560320"/>
            <a:ext cx="2057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226296" y="331927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registry, drift, lineage and execution log written on every run, mirrored to CSV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060B14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1440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NAME DERIVATION — REAL OUTPUT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1440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cust_nm</a:t>
            </a:r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52044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pol_start_dt</a:t>
            </a:r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policy_start_date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12648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claim_amt</a:t>
            </a:r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claim_amount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732520" y="4892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prem_amt</a:t>
            </a:r>
            <a:pPr indent="0" marL="0">
              <a:buNone/>
            </a:pPr>
            <a:r>
              <a:rPr lang="en-US" sz="105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premium_amount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14400" y="5257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-q   </a:t>
            </a:r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............   12 passed in 1.29s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5897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procedures + same rules → the same registry, lineage and code on every run.  That is the auditability claim — tested.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source dialects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PL/SQL, Snowflake and more, through the dialect stub already in the parser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43784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44952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Smarter, safe naming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44952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GenAI-assisted expansions recorded at lower confidence for human sign-off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47488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48656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→ resolution workflow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48656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drift, auto-adopt EXTRA columns, re-drive codegen from the reviewed registry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51192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52360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&amp; upload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generated notebooks to the workspace and wire into Jobs / DLT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54896" y="1828800"/>
            <a:ext cx="2084832" cy="2331720"/>
          </a:xfrm>
          <a:prstGeom prst="roundRect">
            <a:avLst>
              <a:gd name="adj" fmla="val 5263"/>
            </a:avLst>
          </a:prstGeom>
          <a:solidFill>
            <a:srgbClr val="141F36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56064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56064" y="2542032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drift 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56064" y="3255264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the build when a new BLOCKER drift appears — migration stays honest over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908792" cy="1508760"/>
          </a:xfrm>
          <a:prstGeom prst="roundRect">
            <a:avLst>
              <a:gd name="adj" fmla="val 8485"/>
            </a:avLst>
          </a:prstGeom>
          <a:solidFill>
            <a:srgbClr val="10233B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773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fast. </a:t>
            </a:r>
            <a:pPr indent="0" marL="0">
              <a:buNone/>
            </a:pPr>
            <a:r>
              <a:rPr lang="en-US" sz="2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it's right.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0120" y="5394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F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a pilot on one real workload — 20 production procedures through the accelerator, with the drift report and audit trail on the table.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GenAI-Powered SQL → Databricks Accelerator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07040" y="64556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2026-07-31T08:28:03Z</dcterms:created>
  <dcterms:modified xsi:type="dcterms:W3CDTF">2026-07-31T08:28:03Z</dcterms:modified>
</cp:coreProperties>
</file>