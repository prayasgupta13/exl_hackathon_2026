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81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1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ak Chopra" userId="ae75b830-3825-4053-b001-31c1e484de6e" providerId="ADAL" clId="{07E23E91-0C82-4FE9-B4F0-00D6CE322762}"/>
    <pc:docChg chg="custSel addSld delSld modSld modMainMaster">
      <pc:chgData name="Vinayak Chopra" userId="ae75b830-3825-4053-b001-31c1e484de6e" providerId="ADAL" clId="{07E23E91-0C82-4FE9-B4F0-00D6CE322762}" dt="2026-08-12T13:29:21.713" v="104" actId="20577"/>
      <pc:docMkLst>
        <pc:docMk/>
      </pc:docMkLst>
      <pc:sldChg chg="del">
        <pc:chgData name="Vinayak Chopra" userId="ae75b830-3825-4053-b001-31c1e484de6e" providerId="ADAL" clId="{07E23E91-0C82-4FE9-B4F0-00D6CE322762}" dt="2026-08-12T10:06:43.806" v="30" actId="47"/>
        <pc:sldMkLst>
          <pc:docMk/>
          <pc:sldMk cId="2226253077" sldId="256"/>
        </pc:sldMkLst>
      </pc:sldChg>
      <pc:sldChg chg="delSp modSp mod">
        <pc:chgData name="Vinayak Chopra" userId="ae75b830-3825-4053-b001-31c1e484de6e" providerId="ADAL" clId="{07E23E91-0C82-4FE9-B4F0-00D6CE322762}" dt="2026-08-12T13:29:21.713" v="104" actId="20577"/>
        <pc:sldMkLst>
          <pc:docMk/>
          <pc:sldMk cId="0" sldId="257"/>
        </pc:sldMkLst>
        <pc:spChg chg="mod">
          <ac:chgData name="Vinayak Chopra" userId="ae75b830-3825-4053-b001-31c1e484de6e" providerId="ADAL" clId="{07E23E91-0C82-4FE9-B4F0-00D6CE322762}" dt="2026-08-12T13:29:21.713" v="104" actId="20577"/>
          <ac:spMkLst>
            <pc:docMk/>
            <pc:sldMk cId="0" sldId="257"/>
            <ac:spMk id="9" creationId="{00000000-0000-0000-0000-000000000000}"/>
          </ac:spMkLst>
        </pc:spChg>
      </pc:sldChg>
      <pc:sldChg chg="delSp del mod modShow">
        <pc:chgData name="Vinayak Chopra" userId="ae75b830-3825-4053-b001-31c1e484de6e" providerId="ADAL" clId="{07E23E91-0C82-4FE9-B4F0-00D6CE322762}" dt="2026-08-12T11:27:30.020" v="69" actId="2696"/>
        <pc:sldMkLst>
          <pc:docMk/>
          <pc:sldMk cId="0" sldId="258"/>
        </pc:sldMkLst>
        <pc:spChg chg="del">
          <ac:chgData name="Vinayak Chopra" userId="ae75b830-3825-4053-b001-31c1e484de6e" providerId="ADAL" clId="{07E23E91-0C82-4FE9-B4F0-00D6CE322762}" dt="2026-08-12T10:07:53.507" v="56" actId="478"/>
          <ac:spMkLst>
            <pc:docMk/>
            <pc:sldMk cId="0" sldId="258"/>
            <ac:spMk id="16" creationId="{00000000-0000-0000-0000-000000000000}"/>
          </ac:spMkLst>
        </pc:spChg>
      </pc:sldChg>
      <pc:sldChg chg="delSp modSp mod">
        <pc:chgData name="Vinayak Chopra" userId="ae75b830-3825-4053-b001-31c1e484de6e" providerId="ADAL" clId="{07E23E91-0C82-4FE9-B4F0-00D6CE322762}" dt="2026-08-12T11:27:35.882" v="71" actId="20577"/>
        <pc:sldMkLst>
          <pc:docMk/>
          <pc:sldMk cId="0" sldId="259"/>
        </pc:sldMkLst>
        <pc:spChg chg="mod">
          <ac:chgData name="Vinayak Chopra" userId="ae75b830-3825-4053-b001-31c1e484de6e" providerId="ADAL" clId="{07E23E91-0C82-4FE9-B4F0-00D6CE322762}" dt="2026-08-12T11:27:35.882" v="71" actId="20577"/>
          <ac:spMkLst>
            <pc:docMk/>
            <pc:sldMk cId="0" sldId="259"/>
            <ac:spMk id="2" creationId="{00000000-0000-0000-0000-000000000000}"/>
          </ac:spMkLst>
        </pc:spChg>
      </pc:sldChg>
      <pc:sldChg chg="delSp modSp mod">
        <pc:chgData name="Vinayak Chopra" userId="ae75b830-3825-4053-b001-31c1e484de6e" providerId="ADAL" clId="{07E23E91-0C82-4FE9-B4F0-00D6CE322762}" dt="2026-08-12T11:27:39.431" v="73" actId="20577"/>
        <pc:sldMkLst>
          <pc:docMk/>
          <pc:sldMk cId="0" sldId="260"/>
        </pc:sldMkLst>
      </pc:sldChg>
      <pc:sldChg chg="delSp del mod modShow">
        <pc:chgData name="Vinayak Chopra" userId="ae75b830-3825-4053-b001-31c1e484de6e" providerId="ADAL" clId="{07E23E91-0C82-4FE9-B4F0-00D6CE322762}" dt="2026-08-12T11:27:26.448" v="68" actId="2696"/>
        <pc:sldMkLst>
          <pc:docMk/>
          <pc:sldMk cId="0" sldId="261"/>
        </pc:sldMkLst>
      </pc:sldChg>
      <pc:sldChg chg="delSp modSp mod">
        <pc:chgData name="Vinayak Chopra" userId="ae75b830-3825-4053-b001-31c1e484de6e" providerId="ADAL" clId="{07E23E91-0C82-4FE9-B4F0-00D6CE322762}" dt="2026-08-12T11:27:57.023" v="90" actId="20577"/>
        <pc:sldMkLst>
          <pc:docMk/>
          <pc:sldMk cId="0" sldId="262"/>
        </pc:sldMkLst>
      </pc:sldChg>
      <pc:sldChg chg="delSp modSp mod">
        <pc:chgData name="Vinayak Chopra" userId="ae75b830-3825-4053-b001-31c1e484de6e" providerId="ADAL" clId="{07E23E91-0C82-4FE9-B4F0-00D6CE322762}" dt="2026-08-12T11:28:19.805" v="96" actId="20577"/>
        <pc:sldMkLst>
          <pc:docMk/>
          <pc:sldMk cId="0" sldId="263"/>
        </pc:sldMkLst>
      </pc:sldChg>
      <pc:sldChg chg="delSp modSp mod">
        <pc:chgData name="Vinayak Chopra" userId="ae75b830-3825-4053-b001-31c1e484de6e" providerId="ADAL" clId="{07E23E91-0C82-4FE9-B4F0-00D6CE322762}" dt="2026-08-12T11:28:23.952" v="98" actId="20577"/>
        <pc:sldMkLst>
          <pc:docMk/>
          <pc:sldMk cId="0" sldId="264"/>
        </pc:sldMkLst>
        <pc:spChg chg="mod">
          <ac:chgData name="Vinayak Chopra" userId="ae75b830-3825-4053-b001-31c1e484de6e" providerId="ADAL" clId="{07E23E91-0C82-4FE9-B4F0-00D6CE322762}" dt="2026-08-12T11:28:23.952" v="98" actId="20577"/>
          <ac:spMkLst>
            <pc:docMk/>
            <pc:sldMk cId="0" sldId="264"/>
            <ac:spMk id="2" creationId="{00000000-0000-0000-0000-000000000000}"/>
          </ac:spMkLst>
        </pc:spChg>
        <pc:spChg chg="del">
          <ac:chgData name="Vinayak Chopra" userId="ae75b830-3825-4053-b001-31c1e484de6e" providerId="ADAL" clId="{07E23E91-0C82-4FE9-B4F0-00D6CE322762}" dt="2026-08-12T10:08:31.210" v="61" actId="478"/>
          <ac:spMkLst>
            <pc:docMk/>
            <pc:sldMk cId="0" sldId="264"/>
            <ac:spMk id="17" creationId="{00000000-0000-0000-0000-000000000000}"/>
          </ac:spMkLst>
        </pc:spChg>
      </pc:sldChg>
      <pc:sldChg chg="delSp del mod modShow">
        <pc:chgData name="Vinayak Chopra" userId="ae75b830-3825-4053-b001-31c1e484de6e" providerId="ADAL" clId="{07E23E91-0C82-4FE9-B4F0-00D6CE322762}" dt="2026-08-12T11:27:21.849" v="67" actId="2696"/>
        <pc:sldMkLst>
          <pc:docMk/>
          <pc:sldMk cId="0" sldId="265"/>
        </pc:sldMkLst>
      </pc:sldChg>
      <pc:sldMasterChg chg="modSldLayout">
        <pc:chgData name="Vinayak Chopra" userId="ae75b830-3825-4053-b001-31c1e484de6e" providerId="ADAL" clId="{07E23E91-0C82-4FE9-B4F0-00D6CE322762}" dt="2026-08-12T10:07:24.603" v="53" actId="22"/>
        <pc:sldMasterMkLst>
          <pc:docMk/>
          <pc:sldMasterMk cId="4062608439" sldId="2147483681"/>
        </pc:sldMasterMkLst>
        <pc:sldLayoutChg chg="addSp mod">
          <pc:chgData name="Vinayak Chopra" userId="ae75b830-3825-4053-b001-31c1e484de6e" providerId="ADAL" clId="{07E23E91-0C82-4FE9-B4F0-00D6CE322762}" dt="2026-08-12T10:07:24.603" v="53" actId="22"/>
          <pc:sldLayoutMkLst>
            <pc:docMk/>
            <pc:sldMasterMk cId="4062608439" sldId="2147483681"/>
            <pc:sldLayoutMk cId="4043130791" sldId="2147483712"/>
          </pc:sldLayoutMkLst>
          <pc:spChg chg="add">
            <ac:chgData name="Vinayak Chopra" userId="ae75b830-3825-4053-b001-31c1e484de6e" providerId="ADAL" clId="{07E23E91-0C82-4FE9-B4F0-00D6CE322762}" dt="2026-08-12T10:07:24.603" v="53" actId="22"/>
            <ac:spMkLst>
              <pc:docMk/>
              <pc:sldMasterMk cId="4062608439" sldId="2147483681"/>
              <pc:sldLayoutMk cId="4043130791" sldId="2147483712"/>
              <ac:spMk id="5" creationId="{C4170704-99A4-6D39-B6D4-ACC22B80E6A6}"/>
            </ac:spMkLst>
          </pc:spChg>
          <pc:spChg chg="add">
            <ac:chgData name="Vinayak Chopra" userId="ae75b830-3825-4053-b001-31c1e484de6e" providerId="ADAL" clId="{07E23E91-0C82-4FE9-B4F0-00D6CE322762}" dt="2026-08-12T10:07:24.603" v="53" actId="22"/>
            <ac:spMkLst>
              <pc:docMk/>
              <pc:sldMasterMk cId="4062608439" sldId="2147483681"/>
              <pc:sldLayoutMk cId="4043130791" sldId="2147483712"/>
              <ac:spMk id="7" creationId="{0B89C1DE-9F44-FEE0-CEC9-2F039E22727D}"/>
            </ac:spMkLst>
          </pc:spChg>
          <pc:picChg chg="add">
            <ac:chgData name="Vinayak Chopra" userId="ae75b830-3825-4053-b001-31c1e484de6e" providerId="ADAL" clId="{07E23E91-0C82-4FE9-B4F0-00D6CE322762}" dt="2026-08-12T10:07:24.603" v="53" actId="22"/>
            <ac:picMkLst>
              <pc:docMk/>
              <pc:sldMasterMk cId="4062608439" sldId="2147483681"/>
              <pc:sldLayoutMk cId="4043130791" sldId="2147483712"/>
              <ac:picMk id="3" creationId="{E0AC088D-5C3F-38FC-2F05-0274CDA25FF8}"/>
            </ac:picMkLst>
          </pc:picChg>
        </pc:sldLayoutChg>
      </pc:sldMasterChg>
    </pc:docChg>
  </pc:docChgLst>
  <pc:docChgLst>
    <pc:chgData name="Gupta, Prayas" userId="0381c3a3-988c-4c8e-834e-0fecad48b0e9" providerId="ADAL" clId="{09993E4F-437A-44E5-8869-589648A97328}"/>
    <pc:docChg chg="undo custSel mod modSld">
      <pc:chgData name="Gupta, Prayas" userId="0381c3a3-988c-4c8e-834e-0fecad48b0e9" providerId="ADAL" clId="{09993E4F-437A-44E5-8869-589648A97328}" dt="2026-08-13T11:24:37.984" v="72" actId="108"/>
      <pc:docMkLst>
        <pc:docMk/>
      </pc:docMkLst>
      <pc:sldChg chg="modSp mod">
        <pc:chgData name="Gupta, Prayas" userId="0381c3a3-988c-4c8e-834e-0fecad48b0e9" providerId="ADAL" clId="{09993E4F-437A-44E5-8869-589648A97328}" dt="2026-08-13T11:19:40.111" v="44" actId="20577"/>
        <pc:sldMkLst>
          <pc:docMk/>
          <pc:sldMk cId="0" sldId="257"/>
        </pc:sldMkLst>
        <pc:spChg chg="mod">
          <ac:chgData name="Gupta, Prayas" userId="0381c3a3-988c-4c8e-834e-0fecad48b0e9" providerId="ADAL" clId="{09993E4F-437A-44E5-8869-589648A97328}" dt="2026-08-13T11:19:40.111" v="44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Gupta, Prayas" userId="0381c3a3-988c-4c8e-834e-0fecad48b0e9" providerId="ADAL" clId="{09993E4F-437A-44E5-8869-589648A97328}" dt="2026-08-13T11:18:23.852" v="1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Gupta, Prayas" userId="0381c3a3-988c-4c8e-834e-0fecad48b0e9" providerId="ADAL" clId="{09993E4F-437A-44E5-8869-589648A97328}" dt="2026-08-13T11:18:30.979" v="7" actId="20577"/>
          <ac:spMkLst>
            <pc:docMk/>
            <pc:sldMk cId="0" sldId="257"/>
            <ac:spMk id="12" creationId="{00000000-0000-0000-0000-000000000000}"/>
          </ac:spMkLst>
        </pc:spChg>
      </pc:sldChg>
      <pc:sldChg chg="addSp modSp mod">
        <pc:chgData name="Gupta, Prayas" userId="0381c3a3-988c-4c8e-834e-0fecad48b0e9" providerId="ADAL" clId="{09993E4F-437A-44E5-8869-589648A97328}" dt="2026-08-13T11:24:37.984" v="72" actId="108"/>
        <pc:sldMkLst>
          <pc:docMk/>
          <pc:sldMk cId="0" sldId="263"/>
        </pc:sldMkLst>
      </pc:sldChg>
    </pc:docChg>
  </pc:docChgLst>
  <pc:docChgLst>
    <pc:chgData name="Prayas Gupta" userId="58e914b7-7a18-4266-b42b-5eca9f87175c" providerId="ADAL" clId="{8C93D414-64EF-48C3-8DEE-F822A3CFD685}"/>
    <pc:docChg chg="undo custSel modSld">
      <pc:chgData name="Prayas Gupta" userId="58e914b7-7a18-4266-b42b-5eca9f87175c" providerId="ADAL" clId="{8C93D414-64EF-48C3-8DEE-F822A3CFD685}" dt="2026-08-17T06:37:09.415" v="8" actId="20577"/>
      <pc:docMkLst>
        <pc:docMk/>
      </pc:docMkLst>
      <pc:sldChg chg="modSp mod">
        <pc:chgData name="Prayas Gupta" userId="58e914b7-7a18-4266-b42b-5eca9f87175c" providerId="ADAL" clId="{8C93D414-64EF-48C3-8DEE-F822A3CFD685}" dt="2026-08-17T06:36:53.147" v="4" actId="20577"/>
        <pc:sldMkLst>
          <pc:docMk/>
          <pc:sldMk cId="0" sldId="261"/>
        </pc:sldMkLst>
        <pc:spChg chg="mod">
          <ac:chgData name="Prayas Gupta" userId="58e914b7-7a18-4266-b42b-5eca9f87175c" providerId="ADAL" clId="{8C93D414-64EF-48C3-8DEE-F822A3CFD685}" dt="2026-08-17T06:36:53.147" v="4" actId="20577"/>
          <ac:spMkLst>
            <pc:docMk/>
            <pc:sldMk cId="0" sldId="261"/>
            <ac:spMk id="71" creationId="{00000000-0000-0000-0000-000000000000}"/>
          </ac:spMkLst>
        </pc:spChg>
      </pc:sldChg>
      <pc:sldChg chg="modSp mod">
        <pc:chgData name="Prayas Gupta" userId="58e914b7-7a18-4266-b42b-5eca9f87175c" providerId="ADAL" clId="{8C93D414-64EF-48C3-8DEE-F822A3CFD685}" dt="2026-08-17T06:37:04.334" v="6" actId="20577"/>
        <pc:sldMkLst>
          <pc:docMk/>
          <pc:sldMk cId="0" sldId="262"/>
        </pc:sldMkLst>
        <pc:spChg chg="mod">
          <ac:chgData name="Prayas Gupta" userId="58e914b7-7a18-4266-b42b-5eca9f87175c" providerId="ADAL" clId="{8C93D414-64EF-48C3-8DEE-F822A3CFD685}" dt="2026-08-17T06:37:04.334" v="6" actId="20577"/>
          <ac:spMkLst>
            <pc:docMk/>
            <pc:sldMk cId="0" sldId="262"/>
            <ac:spMk id="103" creationId="{00000000-0000-0000-0000-000000000000}"/>
          </ac:spMkLst>
        </pc:spChg>
      </pc:sldChg>
      <pc:sldChg chg="modSp mod">
        <pc:chgData name="Prayas Gupta" userId="58e914b7-7a18-4266-b42b-5eca9f87175c" providerId="ADAL" clId="{8C93D414-64EF-48C3-8DEE-F822A3CFD685}" dt="2026-08-17T06:37:09.415" v="8" actId="20577"/>
        <pc:sldMkLst>
          <pc:docMk/>
          <pc:sldMk cId="0" sldId="263"/>
        </pc:sldMkLst>
        <pc:spChg chg="mod">
          <ac:chgData name="Prayas Gupta" userId="58e914b7-7a18-4266-b42b-5eca9f87175c" providerId="ADAL" clId="{8C93D414-64EF-48C3-8DEE-F822A3CFD685}" dt="2026-08-17T06:37:09.415" v="8" actId="20577"/>
          <ac:spMkLst>
            <pc:docMk/>
            <pc:sldMk cId="0" sldId="263"/>
            <ac:spMk id="13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345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09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0209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883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  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40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936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1647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6245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3284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3595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36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4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6571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07714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453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9244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4702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1361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509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5858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5196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1530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1934879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267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843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 userDrawn="1"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4692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399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82936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003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381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405915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639860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9860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10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23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855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04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4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18554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80031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16188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4198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6523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6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92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/>
              <a:t>Insert Picture</a:t>
            </a:r>
            <a:br>
              <a:rPr lang="en-US"/>
            </a:br>
            <a:r>
              <a:rPr lang="en-US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82982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2113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444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899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5122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32287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1731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3713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6503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9985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photo here</a:t>
            </a:r>
            <a:br>
              <a:rPr lang="en-US"/>
            </a:br>
            <a:r>
              <a:rPr lang="en-US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2641418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Insert  photo</a:t>
            </a:r>
            <a:br>
              <a:rPr lang="en-US"/>
            </a:br>
            <a:r>
              <a:rPr lang="en-US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573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814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5503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950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0904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56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3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66B39-7429-FECB-C856-10FBD328E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45EA5A-4D9B-B37D-0C28-EF9CEDFB4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BD9EA-7C74-6F64-4C57-6A986327C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D5B2-7168-4F15-A039-2A61F3B5166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96A33-4108-EAE0-DD74-E71ECDA5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CF3A5-A999-88AE-5B87-B6481FA3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A1BE7-A8B1-4AA5-8C20-D4EAC50DE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559668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AC088D-5C3F-38FC-2F05-0274CDA25F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170704-99A4-6D39-B6D4-ACC22B80E6A6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©2026 ExlService Holdings, Inc. All rights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9C1DE-9F44-FEE0-CEC9-2F039E22727D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13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29" Type="http://schemas.openxmlformats.org/officeDocument/2006/relationships/slideLayout" Target="../slideLayouts/slideLayout59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slideLayout" Target="../slideLayouts/slideLayout61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©2026 ExlService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0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2761D5B2-7168-4F15-A039-2A61F3B5166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0DA1BE7-A8B1-4AA5-8C20-D4EAC50DE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60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705" r:id="rId24"/>
    <p:sldLayoutId id="2147483706" r:id="rId25"/>
    <p:sldLayoutId id="2147483707" r:id="rId26"/>
    <p:sldLayoutId id="2147483708" r:id="rId27"/>
    <p:sldLayoutId id="2147483709" r:id="rId28"/>
    <p:sldLayoutId id="2147483710" r:id="rId29"/>
    <p:sldLayoutId id="2147483711" r:id="rId30"/>
    <p:sldLayoutId id="2147483712" r:id="rId3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B619-41E6-3EC5-BED3-4E431A370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GenAI SQL → Databricks Migration Accelerator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88A95-265D-6486-662A-193FF82B05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Idea Title: GenAI-powered SQL Procedure to Databricks Accelerator with Schema Drift Handling</a:t>
            </a:r>
          </a:p>
          <a:p>
            <a:r>
              <a:rPr lang="en-IN"/>
              <a:t>Team: Data Engineering — Prayas Gupta</a:t>
            </a:r>
          </a:p>
          <a:p>
            <a:r>
              <a:rPr lang="en-IN"/>
              <a:t>EXL GenAI Hackathon 2026  ·  Working prototype on live Azure Databricks</a:t>
            </a:r>
          </a:p>
        </p:txBody>
      </p:sp>
    </p:spTree>
    <p:extLst>
      <p:ext uri="{BB962C8B-B14F-4D97-AF65-F5344CB8AC3E}">
        <p14:creationId xmlns:p14="http://schemas.microsoft.com/office/powerpoint/2010/main" val="2226253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OPPORTUNITY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Opportunity, Champions &amp; Core Team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83112" cy="1417320"/>
          </a:xfrm>
          <a:prstGeom prst="roundRect">
            <a:avLst>
              <a:gd name="adj" fmla="val 387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Opportunity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685800" y="1993392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modernising to Databricks must rewrite thousands of legacy SQL stored procedures by hand — weeks per procedure, with schema drift in the target lakehouse discovered only when pipelines fail in production. This accelerator converts procedures into a governed medallion pipeline automatically and, uniquely, validates the target platform before generating any code — turning a multi-month manual programme into a governed, auditable, largely automated one.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5486400" cy="2971800"/>
          </a:xfrm>
          <a:prstGeom prst="roundRect">
            <a:avLst>
              <a:gd name="adj" fmla="val 184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273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Champions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Gourav Girdhar — Data &amp; Analytics leadership sponsor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Bracchi— Cloud / Lakehouse Modernisation practice lead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3136392"/>
            <a:ext cx="5486400" cy="2971800"/>
          </a:xfrm>
          <a:prstGeom prst="roundRect">
            <a:avLst>
              <a:gd name="adj" fmla="val 184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82512" y="32735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Team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6428232" y="36576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Prayas Gupta — Program Manager, Data Engineering (inventor / lead)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01B  ·  IMPACT</a:t>
            </a:r>
          </a:p>
        </p:txBody>
      </p:sp>
      <p:sp>
        <p:nvSpPr>
          <p:cNvPr id="12" name="T12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at a Glance — Before &amp; After</a:t>
            </a:r>
          </a:p>
        </p:txBody>
      </p:sp>
      <p:sp>
        <p:nvSpPr>
          <p:cNvPr id="13" name="T13"/>
          <p:cNvSpPr/>
          <p:nvPr/>
        </p:nvSpPr>
        <p:spPr>
          <a:xfrm>
            <a:off x="502920" y="1310000"/>
            <a:ext cx="1115568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0" i="1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effect: conversion effort collapses, and defects that used to surface in production are caught before code is written.</a:t>
            </a:r>
          </a:p>
        </p:txBody>
      </p:sp>
      <p:sp>
        <p:nvSpPr>
          <p:cNvPr id="14" name="B14"/>
          <p:cNvSpPr/>
          <p:nvPr/>
        </p:nvSpPr>
        <p:spPr>
          <a:xfrm>
            <a:off x="502920" y="1700000"/>
            <a:ext cx="2645778" cy="118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15"/>
          <p:cNvSpPr/>
          <p:nvPr/>
        </p:nvSpPr>
        <p:spPr>
          <a:xfrm>
            <a:off x="582920" y="1780000"/>
            <a:ext cx="2485778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80–90%</a:t>
            </a:r>
          </a:p>
        </p:txBody>
      </p:sp>
      <p:sp>
        <p:nvSpPr>
          <p:cNvPr id="16" name="T16"/>
          <p:cNvSpPr/>
          <p:nvPr/>
        </p:nvSpPr>
        <p:spPr>
          <a:xfrm>
            <a:off x="582920" y="2320000"/>
            <a:ext cx="2485778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</a:t>
            </a:r>
          </a:p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effort</a:t>
            </a:r>
          </a:p>
        </p:txBody>
      </p:sp>
      <p:sp>
        <p:nvSpPr>
          <p:cNvPr id="17" name="B17"/>
          <p:cNvSpPr/>
          <p:nvPr/>
        </p:nvSpPr>
        <p:spPr>
          <a:xfrm>
            <a:off x="3348698" y="1700000"/>
            <a:ext cx="2645778" cy="118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18"/>
          <p:cNvSpPr/>
          <p:nvPr/>
        </p:nvSpPr>
        <p:spPr>
          <a:xfrm>
            <a:off x="3428698" y="1780000"/>
            <a:ext cx="2485778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</a:p>
        </p:txBody>
      </p:sp>
      <p:sp>
        <p:nvSpPr>
          <p:cNvPr id="19" name="T19"/>
          <p:cNvSpPr/>
          <p:nvPr/>
        </p:nvSpPr>
        <p:spPr>
          <a:xfrm>
            <a:off x="3428698" y="2320000"/>
            <a:ext cx="2485778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per-procedure</a:t>
            </a:r>
          </a:p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</a:t>
            </a:r>
          </a:p>
        </p:txBody>
      </p:sp>
      <p:sp>
        <p:nvSpPr>
          <p:cNvPr id="20" name="B20"/>
          <p:cNvSpPr/>
          <p:nvPr/>
        </p:nvSpPr>
        <p:spPr>
          <a:xfrm>
            <a:off x="6194476" y="1700000"/>
            <a:ext cx="2645778" cy="118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21"/>
          <p:cNvSpPr/>
          <p:nvPr/>
        </p:nvSpPr>
        <p:spPr>
          <a:xfrm>
            <a:off x="6274476" y="1780000"/>
            <a:ext cx="2485778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</a:p>
        </p:txBody>
      </p:sp>
      <p:sp>
        <p:nvSpPr>
          <p:cNvPr id="22" name="T22"/>
          <p:cNvSpPr/>
          <p:nvPr/>
        </p:nvSpPr>
        <p:spPr>
          <a:xfrm>
            <a:off x="6274476" y="2320000"/>
            <a:ext cx="2485778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lineage</a:t>
            </a:r>
          </a:p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automated</a:t>
            </a:r>
          </a:p>
        </p:txBody>
      </p:sp>
      <p:sp>
        <p:nvSpPr>
          <p:cNvPr id="23" name="B23"/>
          <p:cNvSpPr/>
          <p:nvPr/>
        </p:nvSpPr>
        <p:spPr>
          <a:xfrm>
            <a:off x="9040254" y="1700000"/>
            <a:ext cx="2645778" cy="118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24"/>
          <p:cNvSpPr/>
          <p:nvPr/>
        </p:nvSpPr>
        <p:spPr>
          <a:xfrm>
            <a:off x="9120254" y="1780000"/>
            <a:ext cx="2485778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</a:p>
        </p:txBody>
      </p:sp>
      <p:sp>
        <p:nvSpPr>
          <p:cNvPr id="25" name="T25"/>
          <p:cNvSpPr/>
          <p:nvPr/>
        </p:nvSpPr>
        <p:spPr>
          <a:xfrm>
            <a:off x="9120254" y="2320000"/>
            <a:ext cx="2485778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pipelines from</a:t>
            </a:r>
          </a:p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drift</a:t>
            </a:r>
          </a:p>
        </p:txBody>
      </p:sp>
      <p:sp>
        <p:nvSpPr>
          <p:cNvPr id="26" name="B26"/>
          <p:cNvSpPr/>
          <p:nvPr/>
        </p:nvSpPr>
        <p:spPr>
          <a:xfrm>
            <a:off x="502920" y="3030000"/>
            <a:ext cx="11183112" cy="2180000"/>
          </a:xfrm>
          <a:prstGeom prst="roundRect">
            <a:avLst>
              <a:gd name="adj" fmla="val 5172"/>
            </a:avLst>
          </a:prstGeom>
          <a:solidFill>
            <a:srgbClr val="F2F7F9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27"/>
          <p:cNvSpPr/>
          <p:nvPr/>
        </p:nvSpPr>
        <p:spPr>
          <a:xfrm>
            <a:off x="731520" y="3110000"/>
            <a:ext cx="35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spc="10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</a:p>
        </p:txBody>
      </p:sp>
      <p:sp>
        <p:nvSpPr>
          <p:cNvPr id="28" name="T28"/>
          <p:cNvSpPr/>
          <p:nvPr/>
        </p:nvSpPr>
        <p:spPr>
          <a:xfrm>
            <a:off x="4400000" y="3110000"/>
            <a:ext cx="3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spc="100" dirty="0">
                <a:solidFill>
                  <a:srgbClr val="B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MANUAL MIGRATION</a:t>
            </a:r>
          </a:p>
        </p:txBody>
      </p:sp>
      <p:sp>
        <p:nvSpPr>
          <p:cNvPr id="29" name="T29"/>
          <p:cNvSpPr/>
          <p:nvPr/>
        </p:nvSpPr>
        <p:spPr>
          <a:xfrm>
            <a:off x="8100000" y="3110000"/>
            <a:ext cx="34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spc="1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WITH THE ACCELERATOR</a:t>
            </a:r>
          </a:p>
        </p:txBody>
      </p:sp>
      <p:sp>
        <p:nvSpPr>
          <p:cNvPr id="30" name="T30"/>
          <p:cNvSpPr/>
          <p:nvPr/>
        </p:nvSpPr>
        <p:spPr>
          <a:xfrm>
            <a:off x="731520" y="3480000"/>
            <a:ext cx="35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per procedure</a:t>
            </a:r>
          </a:p>
        </p:txBody>
      </p:sp>
      <p:sp>
        <p:nvSpPr>
          <p:cNvPr id="31" name="T31"/>
          <p:cNvSpPr/>
          <p:nvPr/>
        </p:nvSpPr>
        <p:spPr>
          <a:xfrm>
            <a:off x="4400000" y="3480000"/>
            <a:ext cx="355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days of engineer time</a:t>
            </a:r>
          </a:p>
        </p:txBody>
      </p:sp>
      <p:sp>
        <p:nvSpPr>
          <p:cNvPr id="32" name="T32"/>
          <p:cNvSpPr/>
          <p:nvPr/>
        </p:nvSpPr>
        <p:spPr>
          <a:xfrm>
            <a:off x="8100000" y="3480000"/>
            <a:ext cx="34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— generated and validated</a:t>
            </a:r>
          </a:p>
        </p:txBody>
      </p:sp>
      <p:sp>
        <p:nvSpPr>
          <p:cNvPr id="33" name="T33"/>
          <p:cNvSpPr/>
          <p:nvPr/>
        </p:nvSpPr>
        <p:spPr>
          <a:xfrm>
            <a:off x="731520" y="3810000"/>
            <a:ext cx="35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100-procedure workload</a:t>
            </a:r>
          </a:p>
        </p:txBody>
      </p:sp>
      <p:sp>
        <p:nvSpPr>
          <p:cNvPr id="34" name="T34"/>
          <p:cNvSpPr/>
          <p:nvPr/>
        </p:nvSpPr>
        <p:spPr>
          <a:xfrm>
            <a:off x="4400000" y="3810000"/>
            <a:ext cx="355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~6–9 months elapsed</a:t>
            </a:r>
          </a:p>
        </p:txBody>
      </p:sp>
      <p:sp>
        <p:nvSpPr>
          <p:cNvPr id="35" name="T35"/>
          <p:cNvSpPr/>
          <p:nvPr/>
        </p:nvSpPr>
        <p:spPr>
          <a:xfrm>
            <a:off x="8100000" y="3810000"/>
            <a:ext cx="34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~4–6 weeks, incl. review cycles</a:t>
            </a:r>
          </a:p>
        </p:txBody>
      </p:sp>
      <p:sp>
        <p:nvSpPr>
          <p:cNvPr id="36" name="T36"/>
          <p:cNvSpPr/>
          <p:nvPr/>
        </p:nvSpPr>
        <p:spPr>
          <a:xfrm>
            <a:off x="731520" y="4140000"/>
            <a:ext cx="35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</a:t>
            </a:r>
          </a:p>
        </p:txBody>
      </p:sp>
      <p:sp>
        <p:nvSpPr>
          <p:cNvPr id="37" name="T37"/>
          <p:cNvSpPr/>
          <p:nvPr/>
        </p:nvSpPr>
        <p:spPr>
          <a:xfrm>
            <a:off x="4400000" y="4140000"/>
            <a:ext cx="355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UAT or production</a:t>
            </a:r>
          </a:p>
        </p:txBody>
      </p:sp>
      <p:sp>
        <p:nvSpPr>
          <p:cNvPr id="38" name="T38"/>
          <p:cNvSpPr/>
          <p:nvPr/>
        </p:nvSpPr>
        <p:spPr>
          <a:xfrm>
            <a:off x="8100000" y="4140000"/>
            <a:ext cx="34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before code is generated</a:t>
            </a:r>
          </a:p>
        </p:txBody>
      </p:sp>
      <p:sp>
        <p:nvSpPr>
          <p:cNvPr id="39" name="T39"/>
          <p:cNvSpPr/>
          <p:nvPr/>
        </p:nvSpPr>
        <p:spPr>
          <a:xfrm>
            <a:off x="731520" y="4470000"/>
            <a:ext cx="35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lineage</a:t>
            </a:r>
          </a:p>
        </p:txBody>
      </p:sp>
      <p:sp>
        <p:nvSpPr>
          <p:cNvPr id="40" name="T40"/>
          <p:cNvSpPr/>
          <p:nvPr/>
        </p:nvSpPr>
        <p:spPr>
          <a:xfrm>
            <a:off x="4400000" y="4470000"/>
            <a:ext cx="355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partial, often stale</a:t>
            </a:r>
          </a:p>
        </p:txBody>
      </p:sp>
      <p:sp>
        <p:nvSpPr>
          <p:cNvPr id="41" name="T41"/>
          <p:cNvSpPr/>
          <p:nvPr/>
        </p:nvSpPr>
        <p:spPr>
          <a:xfrm>
            <a:off x="8100000" y="4470000"/>
            <a:ext cx="34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automatically, 100% covered</a:t>
            </a:r>
          </a:p>
        </p:txBody>
      </p:sp>
      <p:sp>
        <p:nvSpPr>
          <p:cNvPr id="42" name="T42"/>
          <p:cNvSpPr/>
          <p:nvPr/>
        </p:nvSpPr>
        <p:spPr>
          <a:xfrm>
            <a:off x="731520" y="4800000"/>
            <a:ext cx="35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consistency</a:t>
            </a:r>
          </a:p>
        </p:txBody>
      </p:sp>
      <p:sp>
        <p:nvSpPr>
          <p:cNvPr id="43" name="T43"/>
          <p:cNvSpPr/>
          <p:nvPr/>
        </p:nvSpPr>
        <p:spPr>
          <a:xfrm>
            <a:off x="4400000" y="4800000"/>
            <a:ext cx="355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by developer</a:t>
            </a:r>
          </a:p>
        </p:txBody>
      </p:sp>
      <p:sp>
        <p:nvSpPr>
          <p:cNvPr id="44" name="T44"/>
          <p:cNvSpPr/>
          <p:nvPr/>
        </p:nvSpPr>
        <p:spPr>
          <a:xfrm>
            <a:off x="8100000" y="4800000"/>
            <a:ext cx="34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tested pattern, applied uniformly</a:t>
            </a:r>
          </a:p>
        </p:txBody>
      </p:sp>
      <p:sp>
        <p:nvSpPr>
          <p:cNvPr id="45" name="B45"/>
          <p:cNvSpPr/>
          <p:nvPr/>
        </p:nvSpPr>
        <p:spPr>
          <a:xfrm>
            <a:off x="502920" y="5330000"/>
            <a:ext cx="11183112" cy="70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46"/>
          <p:cNvSpPr/>
          <p:nvPr/>
        </p:nvSpPr>
        <p:spPr>
          <a:xfrm>
            <a:off x="731520" y="5390000"/>
            <a:ext cx="30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spc="1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</a:p>
        </p:txBody>
      </p:sp>
      <p:sp>
        <p:nvSpPr>
          <p:cNvPr id="47" name="T47"/>
          <p:cNvSpPr/>
          <p:nvPr/>
        </p:nvSpPr>
        <p:spPr>
          <a:xfrm>
            <a:off x="731520" y="5650000"/>
            <a:ext cx="1070000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cost falls with effort; fixed-price bids de-risked by drift assessment up front; audit and reconciliation effort cut by automated lineage.</a:t>
            </a:r>
          </a:p>
        </p:txBody>
      </p:sp>
      <p:sp>
        <p:nvSpPr>
          <p:cNvPr id="48" name="T48"/>
          <p:cNvSpPr/>
          <p:nvPr/>
        </p:nvSpPr>
        <p:spPr>
          <a:xfrm>
            <a:off x="502920" y="6120000"/>
            <a:ext cx="11183112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0" i="1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and timeline figures are modelled from the prototype's measured per-procedure conversion time against typical manual baselines; to be validated per client estate.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Solution — How It Works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hand-rewriting of legacy stored procedures — producing governed, runnable Databricks pipelines with drift detection, column lineage and a full audit trail.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27048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2704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Procedures In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of SQL stored procedures (T-SQL today; Oracle / Teradata pluggable), plus read-only access to the target Databricks raw layer.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3364992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3502152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Parse &amp; Map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3547872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parses each procedure into a typed representation; deterministic rules derive the schema registry — target names, types and transforms — from the procedures themselves.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6227064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51192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51192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364224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Drift Gate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6409944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is compared against the live raw schema. Missing tables or columns block generation; type mismatches warn. Dynamic SQL is routed to human review with a packet.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9089136" y="2240280"/>
            <a:ext cx="2688336" cy="3108960"/>
          </a:xfrm>
          <a:prstGeom prst="roundRect">
            <a:avLst>
              <a:gd name="adj" fmla="val 204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113264" y="2468880"/>
            <a:ext cx="640080" cy="640080"/>
          </a:xfrm>
          <a:prstGeom prst="ellipse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113264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9226296" y="3246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Governed Pipeline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9272016" y="37490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lineage is recorded, PySpark notebooks (incl. SCD Type 2) are generated and uploaded to the workspace, and every run is logged to metadata tables.</a:t>
            </a:r>
            <a:endParaRPr lang="en-US" sz="1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ARCHITECTURE</a:t>
            </a:r>
          </a:p>
        </p:txBody>
      </p:sp>
      <p:sp>
        <p:nvSpPr>
          <p:cNvPr id="102" name="T102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</a:p>
        </p:txBody>
      </p:sp>
      <p:sp>
        <p:nvSpPr>
          <p:cNvPr id="103" name="B103"/>
          <p:cNvSpPr/>
          <p:nvPr/>
        </p:nvSpPr>
        <p:spPr>
          <a:xfrm>
            <a:off x="502920" y="1420000"/>
            <a:ext cx="1750000" cy="1450000"/>
          </a:xfrm>
          <a:prstGeom prst="roundRect">
            <a:avLst>
              <a:gd name="adj" fmla="val 5172"/>
            </a:avLst>
          </a:prstGeom>
          <a:solidFill>
            <a:srgbClr val="F2F7F9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4" name="I1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000" y="1520000"/>
            <a:ext cx="300000" cy="300000"/>
          </a:xfrm>
          <a:prstGeom prst="rect">
            <a:avLst/>
          </a:prstGeom>
        </p:spPr>
      </p:pic>
      <p:sp>
        <p:nvSpPr>
          <p:cNvPr id="105" name="T105"/>
          <p:cNvSpPr/>
          <p:nvPr/>
        </p:nvSpPr>
        <p:spPr>
          <a:xfrm>
            <a:off x="560000" y="1860000"/>
            <a:ext cx="16400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i="0" kern="0" spc="1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</a:p>
        </p:txBody>
      </p:sp>
      <p:sp>
        <p:nvSpPr>
          <p:cNvPr id="106" name="T106"/>
          <p:cNvSpPr/>
          <p:nvPr/>
        </p:nvSpPr>
        <p:spPr>
          <a:xfrm>
            <a:off x="560000" y="2100000"/>
            <a:ext cx="164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</a:p>
          <a:p>
            <a:pPr marL="0" indent="0" algn="ctr">
              <a:buNone/>
            </a:pPr>
            <a:r>
              <a:rPr lang="en-US" sz="9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(.sql files)</a:t>
            </a:r>
          </a:p>
          <a:p>
            <a:pPr marL="0" indent="0" algn="ctr">
              <a:buNone/>
            </a:pPr>
            <a:r>
              <a:rPr lang="en-US" sz="9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· PL/SQL · Teradata</a:t>
            </a:r>
          </a:p>
        </p:txBody>
      </p:sp>
      <p:sp>
        <p:nvSpPr>
          <p:cNvPr id="107" name="A107"/>
          <p:cNvSpPr/>
          <p:nvPr/>
        </p:nvSpPr>
        <p:spPr>
          <a:xfrm>
            <a:off x="2320000" y="2050000"/>
            <a:ext cx="190000" cy="200000"/>
          </a:xfrm>
          <a:prstGeom prst="rightArrow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B108"/>
          <p:cNvSpPr/>
          <p:nvPr/>
        </p:nvSpPr>
        <p:spPr>
          <a:xfrm>
            <a:off x="2600000" y="1420000"/>
            <a:ext cx="6100000" cy="14500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FB4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109"/>
          <p:cNvSpPr/>
          <p:nvPr/>
        </p:nvSpPr>
        <p:spPr>
          <a:xfrm>
            <a:off x="2680000" y="1470000"/>
            <a:ext cx="59400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i="0" kern="0" spc="1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ENGINE  ·  5 PHASES</a:t>
            </a:r>
          </a:p>
        </p:txBody>
      </p:sp>
      <p:sp>
        <p:nvSpPr>
          <p:cNvPr id="110" name="B110"/>
          <p:cNvSpPr/>
          <p:nvPr/>
        </p:nvSpPr>
        <p:spPr>
          <a:xfrm>
            <a:off x="2690000" y="1760000"/>
            <a:ext cx="1130000" cy="103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1" name="I1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000" y="1820000"/>
            <a:ext cx="240000" cy="240000"/>
          </a:xfrm>
          <a:prstGeom prst="rect">
            <a:avLst/>
          </a:prstGeom>
        </p:spPr>
      </p:pic>
      <p:sp>
        <p:nvSpPr>
          <p:cNvPr id="112" name="T112"/>
          <p:cNvSpPr/>
          <p:nvPr/>
        </p:nvSpPr>
        <p:spPr>
          <a:xfrm>
            <a:off x="2730000" y="2090000"/>
            <a:ext cx="105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</a:p>
        </p:txBody>
      </p:sp>
      <p:sp>
        <p:nvSpPr>
          <p:cNvPr id="113" name="T113"/>
          <p:cNvSpPr/>
          <p:nvPr/>
        </p:nvSpPr>
        <p:spPr>
          <a:xfrm>
            <a:off x="2730000" y="2320000"/>
            <a:ext cx="105000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IR</a:t>
            </a:r>
          </a:p>
        </p:txBody>
      </p:sp>
      <p:sp>
        <p:nvSpPr>
          <p:cNvPr id="114" name="B114"/>
          <p:cNvSpPr/>
          <p:nvPr/>
        </p:nvSpPr>
        <p:spPr>
          <a:xfrm>
            <a:off x="3880000" y="1760000"/>
            <a:ext cx="1130000" cy="103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5" name="I1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000" y="1820000"/>
            <a:ext cx="240000" cy="240000"/>
          </a:xfrm>
          <a:prstGeom prst="rect">
            <a:avLst/>
          </a:prstGeom>
        </p:spPr>
      </p:pic>
      <p:sp>
        <p:nvSpPr>
          <p:cNvPr id="116" name="T116"/>
          <p:cNvSpPr/>
          <p:nvPr/>
        </p:nvSpPr>
        <p:spPr>
          <a:xfrm>
            <a:off x="3920000" y="2090000"/>
            <a:ext cx="105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</a:p>
        </p:txBody>
      </p:sp>
      <p:sp>
        <p:nvSpPr>
          <p:cNvPr id="117" name="T117"/>
          <p:cNvSpPr/>
          <p:nvPr/>
        </p:nvSpPr>
        <p:spPr>
          <a:xfrm>
            <a:off x="3920000" y="2320000"/>
            <a:ext cx="105000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auto-derived</a:t>
            </a:r>
          </a:p>
        </p:txBody>
      </p:sp>
      <p:sp>
        <p:nvSpPr>
          <p:cNvPr id="118" name="B118"/>
          <p:cNvSpPr/>
          <p:nvPr/>
        </p:nvSpPr>
        <p:spPr>
          <a:xfrm>
            <a:off x="5070000" y="1760000"/>
            <a:ext cx="1130000" cy="103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9" name="I1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5000" y="1820000"/>
            <a:ext cx="240000" cy="240000"/>
          </a:xfrm>
          <a:prstGeom prst="rect">
            <a:avLst/>
          </a:prstGeom>
        </p:spPr>
      </p:pic>
      <p:sp>
        <p:nvSpPr>
          <p:cNvPr id="120" name="T120"/>
          <p:cNvSpPr/>
          <p:nvPr/>
        </p:nvSpPr>
        <p:spPr>
          <a:xfrm>
            <a:off x="5110000" y="2090000"/>
            <a:ext cx="105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Gate</a:t>
            </a:r>
          </a:p>
        </p:txBody>
      </p:sp>
      <p:sp>
        <p:nvSpPr>
          <p:cNvPr id="121" name="T121"/>
          <p:cNvSpPr/>
          <p:nvPr/>
        </p:nvSpPr>
        <p:spPr>
          <a:xfrm>
            <a:off x="5110000" y="2320000"/>
            <a:ext cx="105000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WARN</a:t>
            </a:r>
          </a:p>
        </p:txBody>
      </p:sp>
      <p:sp>
        <p:nvSpPr>
          <p:cNvPr id="122" name="B122"/>
          <p:cNvSpPr/>
          <p:nvPr/>
        </p:nvSpPr>
        <p:spPr>
          <a:xfrm>
            <a:off x="6260000" y="1760000"/>
            <a:ext cx="1130000" cy="103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3" name="I1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000" y="1820000"/>
            <a:ext cx="240000" cy="240000"/>
          </a:xfrm>
          <a:prstGeom prst="rect">
            <a:avLst/>
          </a:prstGeom>
        </p:spPr>
      </p:pic>
      <p:sp>
        <p:nvSpPr>
          <p:cNvPr id="124" name="T124"/>
          <p:cNvSpPr/>
          <p:nvPr/>
        </p:nvSpPr>
        <p:spPr>
          <a:xfrm>
            <a:off x="6300000" y="2090000"/>
            <a:ext cx="105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</a:p>
        </p:txBody>
      </p:sp>
      <p:sp>
        <p:nvSpPr>
          <p:cNvPr id="125" name="T125"/>
          <p:cNvSpPr/>
          <p:nvPr/>
        </p:nvSpPr>
        <p:spPr>
          <a:xfrm>
            <a:off x="6300000" y="2320000"/>
            <a:ext cx="105000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+ dwh</a:t>
            </a:r>
          </a:p>
        </p:txBody>
      </p:sp>
      <p:sp>
        <p:nvSpPr>
          <p:cNvPr id="126" name="B126"/>
          <p:cNvSpPr/>
          <p:nvPr/>
        </p:nvSpPr>
        <p:spPr>
          <a:xfrm>
            <a:off x="7450000" y="1760000"/>
            <a:ext cx="1130000" cy="103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7" name="I1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5000" y="1820000"/>
            <a:ext cx="240000" cy="240000"/>
          </a:xfrm>
          <a:prstGeom prst="rect">
            <a:avLst/>
          </a:prstGeom>
        </p:spPr>
      </p:pic>
      <p:sp>
        <p:nvSpPr>
          <p:cNvPr id="128" name="T128"/>
          <p:cNvSpPr/>
          <p:nvPr/>
        </p:nvSpPr>
        <p:spPr>
          <a:xfrm>
            <a:off x="7490000" y="2090000"/>
            <a:ext cx="105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</a:p>
        </p:txBody>
      </p:sp>
      <p:sp>
        <p:nvSpPr>
          <p:cNvPr id="129" name="T129"/>
          <p:cNvSpPr/>
          <p:nvPr/>
        </p:nvSpPr>
        <p:spPr>
          <a:xfrm>
            <a:off x="7490000" y="2320000"/>
            <a:ext cx="105000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workspace</a:t>
            </a:r>
          </a:p>
        </p:txBody>
      </p:sp>
      <p:sp>
        <p:nvSpPr>
          <p:cNvPr id="130" name="A130"/>
          <p:cNvSpPr/>
          <p:nvPr/>
        </p:nvSpPr>
        <p:spPr>
          <a:xfrm>
            <a:off x="8760000" y="2050000"/>
            <a:ext cx="190000" cy="200000"/>
          </a:xfrm>
          <a:prstGeom prst="rightArrow">
            <a:avLst/>
          </a:prstGeom>
          <a:solidFill>
            <a:srgbClr val="FB4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B131"/>
          <p:cNvSpPr/>
          <p:nvPr/>
        </p:nvSpPr>
        <p:spPr>
          <a:xfrm>
            <a:off x="9010000" y="1420000"/>
            <a:ext cx="2680000" cy="1450000"/>
          </a:xfrm>
          <a:prstGeom prst="roundRect">
            <a:avLst>
              <a:gd name="adj" fmla="val 5172"/>
            </a:avLst>
          </a:prstGeom>
          <a:solidFill>
            <a:srgbClr val="F2F7F9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2" name="I1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0000" y="1500000"/>
            <a:ext cx="300000" cy="300000"/>
          </a:xfrm>
          <a:prstGeom prst="rect">
            <a:avLst/>
          </a:prstGeom>
        </p:spPr>
      </p:pic>
      <p:sp>
        <p:nvSpPr>
          <p:cNvPr id="133" name="T133"/>
          <p:cNvSpPr/>
          <p:nvPr/>
        </p:nvSpPr>
        <p:spPr>
          <a:xfrm>
            <a:off x="9050000" y="1840000"/>
            <a:ext cx="26000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0" kern="0" spc="8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LAKEHOUSE</a:t>
            </a:r>
          </a:p>
        </p:txBody>
      </p:sp>
      <p:sp>
        <p:nvSpPr>
          <p:cNvPr id="134" name="T134"/>
          <p:cNvSpPr/>
          <p:nvPr/>
        </p:nvSpPr>
        <p:spPr>
          <a:xfrm>
            <a:off x="9130000" y="2110000"/>
            <a:ext cx="50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</a:p>
        </p:txBody>
      </p:sp>
      <p:sp>
        <p:nvSpPr>
          <p:cNvPr id="135" name="T135"/>
          <p:cNvSpPr/>
          <p:nvPr/>
        </p:nvSpPr>
        <p:spPr>
          <a:xfrm>
            <a:off x="9630000" y="2110000"/>
            <a:ext cx="195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source-named landing</a:t>
            </a:r>
          </a:p>
        </p:txBody>
      </p:sp>
      <p:sp>
        <p:nvSpPr>
          <p:cNvPr id="136" name="T136"/>
          <p:cNvSpPr/>
          <p:nvPr/>
        </p:nvSpPr>
        <p:spPr>
          <a:xfrm>
            <a:off x="9130000" y="2360000"/>
            <a:ext cx="50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</a:p>
        </p:txBody>
      </p:sp>
      <p:sp>
        <p:nvSpPr>
          <p:cNvPr id="137" name="T137"/>
          <p:cNvSpPr/>
          <p:nvPr/>
        </p:nvSpPr>
        <p:spPr>
          <a:xfrm>
            <a:off x="9630000" y="2360000"/>
            <a:ext cx="195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 &amp; standardised</a:t>
            </a:r>
          </a:p>
        </p:txBody>
      </p:sp>
      <p:sp>
        <p:nvSpPr>
          <p:cNvPr id="138" name="T138"/>
          <p:cNvSpPr/>
          <p:nvPr/>
        </p:nvSpPr>
        <p:spPr>
          <a:xfrm>
            <a:off x="9130000" y="2610000"/>
            <a:ext cx="50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</a:t>
            </a:r>
          </a:p>
        </p:txBody>
      </p:sp>
      <p:sp>
        <p:nvSpPr>
          <p:cNvPr id="139" name="T139"/>
          <p:cNvSpPr/>
          <p:nvPr/>
        </p:nvSpPr>
        <p:spPr>
          <a:xfrm>
            <a:off x="9630000" y="2610000"/>
            <a:ext cx="195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+ SCD Type 2</a:t>
            </a:r>
          </a:p>
        </p:txBody>
      </p:sp>
      <p:sp>
        <p:nvSpPr>
          <p:cNvPr id="140" name="B140"/>
          <p:cNvSpPr/>
          <p:nvPr/>
        </p:nvSpPr>
        <p:spPr>
          <a:xfrm>
            <a:off x="2600000" y="2980000"/>
            <a:ext cx="6100000" cy="470000"/>
          </a:xfrm>
          <a:prstGeom prst="roundRect">
            <a:avLst>
              <a:gd name="adj" fmla="val 5172"/>
            </a:avLst>
          </a:prstGeom>
          <a:solidFill>
            <a:srgbClr val="FFF4EF"/>
          </a:solidFill>
          <a:ln w="12700">
            <a:solidFill>
              <a:srgbClr val="FB4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141"/>
          <p:cNvSpPr/>
          <p:nvPr/>
        </p:nvSpPr>
        <p:spPr>
          <a:xfrm>
            <a:off x="2680000" y="3040000"/>
            <a:ext cx="594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0" kern="0" spc="6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DRIFT GATE READS THE LIVE RAW SCHEMA (DESCRIBE) BEFORE ANY CODE IS GENERATED</a:t>
            </a:r>
          </a:p>
        </p:txBody>
      </p:sp>
      <p:sp>
        <p:nvSpPr>
          <p:cNvPr id="142" name="B142"/>
          <p:cNvSpPr/>
          <p:nvPr/>
        </p:nvSpPr>
        <p:spPr>
          <a:xfrm>
            <a:off x="9010000" y="2980000"/>
            <a:ext cx="2680000" cy="470000"/>
          </a:xfrm>
          <a:prstGeom prst="roundRect">
            <a:avLst>
              <a:gd name="adj" fmla="val 5172"/>
            </a:avLst>
          </a:prstGeom>
          <a:solidFill>
            <a:srgbClr val="FFF9F0"/>
          </a:solidFill>
          <a:ln w="12700">
            <a:solidFill>
              <a:srgbClr val="B4700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43" name="I1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0000" y="3070000"/>
            <a:ext cx="270000" cy="270000"/>
          </a:xfrm>
          <a:prstGeom prst="rect">
            <a:avLst/>
          </a:prstGeom>
        </p:spPr>
      </p:pic>
      <p:sp>
        <p:nvSpPr>
          <p:cNvPr id="144" name="T144"/>
          <p:cNvSpPr/>
          <p:nvPr/>
        </p:nvSpPr>
        <p:spPr>
          <a:xfrm>
            <a:off x="9450000" y="3030000"/>
            <a:ext cx="2170000" cy="37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i="0" kern="0" dirty="0">
                <a:solidFill>
                  <a:srgbClr val="B47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/ unsupported → human review packet</a:t>
            </a:r>
          </a:p>
        </p:txBody>
      </p:sp>
      <p:sp>
        <p:nvSpPr>
          <p:cNvPr id="145" name="D145"/>
          <p:cNvSpPr/>
          <p:nvPr/>
        </p:nvSpPr>
        <p:spPr>
          <a:xfrm>
            <a:off x="5900000" y="3500000"/>
            <a:ext cx="180000" cy="180000"/>
          </a:xfrm>
          <a:prstGeom prst="downArrow">
            <a:avLst/>
          </a:prstGeom>
          <a:solidFill>
            <a:srgbClr val="ACB6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B146"/>
          <p:cNvSpPr/>
          <p:nvPr/>
        </p:nvSpPr>
        <p:spPr>
          <a:xfrm>
            <a:off x="502920" y="3730000"/>
            <a:ext cx="11183112" cy="900000"/>
          </a:xfrm>
          <a:prstGeom prst="roundRect">
            <a:avLst>
              <a:gd name="adj" fmla="val 5172"/>
            </a:avLst>
          </a:prstGeom>
          <a:solidFill>
            <a:srgbClr val="F2F7F9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7" name="I14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3830000"/>
            <a:ext cx="300000" cy="300000"/>
          </a:xfrm>
          <a:prstGeom prst="rect">
            <a:avLst/>
          </a:prstGeom>
        </p:spPr>
      </p:pic>
      <p:sp>
        <p:nvSpPr>
          <p:cNvPr id="148" name="T148"/>
          <p:cNvSpPr/>
          <p:nvPr/>
        </p:nvSpPr>
        <p:spPr>
          <a:xfrm>
            <a:off x="1120000" y="3810000"/>
            <a:ext cx="40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i="0" kern="0" spc="8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&amp; GOVERNANCE  ·  UNITY CATALOG (DELTA)</a:t>
            </a:r>
          </a:p>
        </p:txBody>
      </p:sp>
      <p:sp>
        <p:nvSpPr>
          <p:cNvPr id="149" name="T149"/>
          <p:cNvSpPr/>
          <p:nvPr/>
        </p:nvSpPr>
        <p:spPr>
          <a:xfrm>
            <a:off x="731520" y="4140000"/>
            <a:ext cx="262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schema_registry</a:t>
            </a:r>
          </a:p>
        </p:txBody>
      </p:sp>
      <p:sp>
        <p:nvSpPr>
          <p:cNvPr id="150" name="T150"/>
          <p:cNvSpPr/>
          <p:nvPr/>
        </p:nvSpPr>
        <p:spPr>
          <a:xfrm>
            <a:off x="731520" y="4370000"/>
            <a:ext cx="262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column mapping</a:t>
            </a:r>
          </a:p>
        </p:txBody>
      </p:sp>
      <p:sp>
        <p:nvSpPr>
          <p:cNvPr id="151" name="T151"/>
          <p:cNvSpPr/>
          <p:nvPr/>
        </p:nvSpPr>
        <p:spPr>
          <a:xfrm>
            <a:off x="3471520" y="4140000"/>
            <a:ext cx="262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schema_drift</a:t>
            </a:r>
          </a:p>
        </p:txBody>
      </p:sp>
      <p:sp>
        <p:nvSpPr>
          <p:cNvPr id="152" name="T152"/>
          <p:cNvSpPr/>
          <p:nvPr/>
        </p:nvSpPr>
        <p:spPr>
          <a:xfrm>
            <a:off x="3471520" y="4370000"/>
            <a:ext cx="262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+ severity</a:t>
            </a:r>
          </a:p>
        </p:txBody>
      </p:sp>
      <p:sp>
        <p:nvSpPr>
          <p:cNvPr id="153" name="T153"/>
          <p:cNvSpPr/>
          <p:nvPr/>
        </p:nvSpPr>
        <p:spPr>
          <a:xfrm>
            <a:off x="6211520" y="4140000"/>
            <a:ext cx="262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</a:p>
        </p:txBody>
      </p:sp>
      <p:sp>
        <p:nvSpPr>
          <p:cNvPr id="154" name="T154"/>
          <p:cNvSpPr/>
          <p:nvPr/>
        </p:nvSpPr>
        <p:spPr>
          <a:xfrm>
            <a:off x="6211520" y="4370000"/>
            <a:ext cx="262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std → dwh per column</a:t>
            </a:r>
          </a:p>
        </p:txBody>
      </p:sp>
      <p:sp>
        <p:nvSpPr>
          <p:cNvPr id="155" name="T155"/>
          <p:cNvSpPr/>
          <p:nvPr/>
        </p:nvSpPr>
        <p:spPr>
          <a:xfrm>
            <a:off x="8951520" y="4140000"/>
            <a:ext cx="262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execution_log</a:t>
            </a:r>
          </a:p>
        </p:txBody>
      </p:sp>
      <p:sp>
        <p:nvSpPr>
          <p:cNvPr id="156" name="T156"/>
          <p:cNvSpPr/>
          <p:nvPr/>
        </p:nvSpPr>
        <p:spPr>
          <a:xfrm>
            <a:off x="8951520" y="4370000"/>
            <a:ext cx="262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run, phase, status, timing</a:t>
            </a:r>
          </a:p>
        </p:txBody>
      </p:sp>
      <p:sp>
        <p:nvSpPr>
          <p:cNvPr id="157" name="B157"/>
          <p:cNvSpPr/>
          <p:nvPr/>
        </p:nvSpPr>
        <p:spPr>
          <a:xfrm>
            <a:off x="502920" y="4700000"/>
            <a:ext cx="11183112" cy="62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158"/>
          <p:cNvSpPr/>
          <p:nvPr/>
        </p:nvSpPr>
        <p:spPr>
          <a:xfrm>
            <a:off x="731520" y="4740000"/>
            <a:ext cx="300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i="0" kern="0" spc="8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</a:p>
        </p:txBody>
      </p:sp>
      <p:sp>
        <p:nvSpPr>
          <p:cNvPr id="159" name="T159"/>
          <p:cNvSpPr/>
          <p:nvPr/>
        </p:nvSpPr>
        <p:spPr>
          <a:xfrm>
            <a:off x="731520" y="4970000"/>
            <a:ext cx="10700000" cy="3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sqlglot (AST) · Anthropic Claude (temperature 0) · databricks-sql-connector · Databricks SDK · PySpark / Spark SQL · Delta Lake · Unity Catalog · pytest</a:t>
            </a:r>
          </a:p>
        </p:txBody>
      </p:sp>
      <p:sp>
        <p:nvSpPr>
          <p:cNvPr id="162" name="T162"/>
          <p:cNvSpPr/>
          <p:nvPr/>
        </p:nvSpPr>
        <p:spPr>
          <a:xfrm>
            <a:off x="502920" y="6180000"/>
            <a:ext cx="11183112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0" i="1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the client's own cloud tenancy — only schema metadata and procedure code are processed; no business data or PII leaves the estate.</a:t>
            </a:r>
          </a:p>
        </p:txBody>
      </p:sp>
      <p:sp>
        <p:nvSpPr>
          <p:cNvPr id="501" name="Q501"/>
          <p:cNvSpPr/>
          <p:nvPr/>
        </p:nvSpPr>
        <p:spPr>
          <a:xfrm>
            <a:off x="502920" y="5420000"/>
            <a:ext cx="3594370" cy="70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2" name="P502"/>
          <p:cNvSpPr/>
          <p:nvPr/>
        </p:nvSpPr>
        <p:spPr>
          <a:xfrm>
            <a:off x="612920" y="5470000"/>
            <a:ext cx="337437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</a:t>
            </a:r>
          </a:p>
        </p:txBody>
      </p:sp>
      <p:sp>
        <p:nvSpPr>
          <p:cNvPr id="503" name="P503"/>
          <p:cNvSpPr/>
          <p:nvPr/>
        </p:nvSpPr>
        <p:spPr>
          <a:xfrm>
            <a:off x="612920" y="5700000"/>
            <a:ext cx="337437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type mapping, drift detection, lineage and the raw→std template are pure Python — identical output every run.</a:t>
            </a:r>
          </a:p>
        </p:txBody>
      </p:sp>
      <p:sp>
        <p:nvSpPr>
          <p:cNvPr id="504" name="Q504"/>
          <p:cNvSpPr/>
          <p:nvPr/>
        </p:nvSpPr>
        <p:spPr>
          <a:xfrm>
            <a:off x="4297290" y="5420000"/>
            <a:ext cx="3594370" cy="70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5" name="P505"/>
          <p:cNvSpPr/>
          <p:nvPr/>
        </p:nvSpPr>
        <p:spPr>
          <a:xfrm>
            <a:off x="4407290" y="5470000"/>
            <a:ext cx="337437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LLM, tightly scoped</a:t>
            </a:r>
          </a:p>
        </p:txBody>
      </p:sp>
      <p:sp>
        <p:nvSpPr>
          <p:cNvPr id="506" name="P506"/>
          <p:cNvSpPr/>
          <p:nvPr/>
        </p:nvSpPr>
        <p:spPr>
          <a:xfrm>
            <a:off x="4407290" y="5700000"/>
            <a:ext cx="337437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runs in only two of five phases, at temperature 0, always grounded on exact names from lineage.</a:t>
            </a:r>
          </a:p>
        </p:txBody>
      </p:sp>
      <p:sp>
        <p:nvSpPr>
          <p:cNvPr id="507" name="Q507"/>
          <p:cNvSpPr/>
          <p:nvPr/>
        </p:nvSpPr>
        <p:spPr>
          <a:xfrm>
            <a:off x="8091660" y="5420000"/>
            <a:ext cx="3594370" cy="70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8" name="P508"/>
          <p:cNvSpPr/>
          <p:nvPr/>
        </p:nvSpPr>
        <p:spPr>
          <a:xfrm>
            <a:off x="8201660" y="5470000"/>
            <a:ext cx="337437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construction</a:t>
            </a:r>
          </a:p>
        </p:txBody>
      </p:sp>
      <p:sp>
        <p:nvSpPr>
          <p:cNvPr id="509" name="P509"/>
          <p:cNvSpPr/>
          <p:nvPr/>
        </p:nvSpPr>
        <p:spPr>
          <a:xfrm>
            <a:off x="8201660" y="5700000"/>
            <a:ext cx="337437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drift and unsupported constructs stop generation — nothing broken is ever produced or published.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71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03B  ·  COMPONENTS</a:t>
            </a:r>
          </a:p>
        </p:txBody>
      </p:sp>
      <p:sp>
        <p:nvSpPr>
          <p:cNvPr id="72" name="T72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Accelerator — The Six Agents</a:t>
            </a:r>
          </a:p>
        </p:txBody>
      </p:sp>
      <p:sp>
        <p:nvSpPr>
          <p:cNvPr id="46" name="T46"/>
          <p:cNvSpPr/>
          <p:nvPr/>
        </p:nvSpPr>
        <p:spPr>
          <a:xfrm>
            <a:off x="502920" y="1330000"/>
            <a:ext cx="1115568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0" i="1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components, each with a single responsibility — and a deliberate split between what a rule must do and what a model may do.</a:t>
            </a:r>
          </a:p>
        </p:txBody>
      </p:sp>
      <p:sp>
        <p:nvSpPr>
          <p:cNvPr id="47" name="B47"/>
          <p:cNvSpPr/>
          <p:nvPr/>
        </p:nvSpPr>
        <p:spPr>
          <a:xfrm>
            <a:off x="502920" y="1750000"/>
            <a:ext cx="5491556" cy="132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48"/>
          <p:cNvSpPr/>
          <p:nvPr/>
        </p:nvSpPr>
        <p:spPr>
          <a:xfrm>
            <a:off x="622920" y="1830000"/>
            <a:ext cx="30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Parser</a:t>
            </a:r>
          </a:p>
        </p:txBody>
      </p:sp>
      <p:sp>
        <p:nvSpPr>
          <p:cNvPr id="49" name="T49"/>
          <p:cNvSpPr/>
          <p:nvPr/>
        </p:nvSpPr>
        <p:spPr>
          <a:xfrm>
            <a:off x="3702920" y="1830000"/>
            <a:ext cx="2171556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+ LLM</a:t>
            </a:r>
          </a:p>
        </p:txBody>
      </p:sp>
      <p:sp>
        <p:nvSpPr>
          <p:cNvPr id="50" name="T50"/>
          <p:cNvSpPr/>
          <p:nvPr/>
        </p:nvSpPr>
        <p:spPr>
          <a:xfrm>
            <a:off x="622920" y="2140000"/>
            <a:ext cx="5251556" cy="8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T-SQL, builds a typed intermediate representation. sqlglot does static table extraction and flags dynamic SQL and cursors; Claude adds semantics (load pattern, business keys).</a:t>
            </a:r>
          </a:p>
        </p:txBody>
      </p:sp>
      <p:sp>
        <p:nvSpPr>
          <p:cNvPr id="51" name="B51"/>
          <p:cNvSpPr/>
          <p:nvPr/>
        </p:nvSpPr>
        <p:spPr>
          <a:xfrm>
            <a:off x="6194476" y="1750000"/>
            <a:ext cx="5491556" cy="132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52"/>
          <p:cNvSpPr/>
          <p:nvPr/>
        </p:nvSpPr>
        <p:spPr>
          <a:xfrm>
            <a:off x="6314476" y="1830000"/>
            <a:ext cx="30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Builder</a:t>
            </a:r>
          </a:p>
        </p:txBody>
      </p:sp>
      <p:sp>
        <p:nvSpPr>
          <p:cNvPr id="53" name="T53"/>
          <p:cNvSpPr/>
          <p:nvPr/>
        </p:nvSpPr>
        <p:spPr>
          <a:xfrm>
            <a:off x="9394476" y="1830000"/>
            <a:ext cx="2171556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+ LLM</a:t>
            </a:r>
          </a:p>
        </p:txBody>
      </p:sp>
      <p:sp>
        <p:nvSpPr>
          <p:cNvPr id="54" name="T54"/>
          <p:cNvSpPr/>
          <p:nvPr/>
        </p:nvSpPr>
        <p:spPr>
          <a:xfrm>
            <a:off x="6314476" y="2140000"/>
            <a:ext cx="5251556" cy="8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extracts structure; a 70+ entry abbreviation dictionary and type map derive target names and types (cust_nm → customer_name) so naming never varies between runs.</a:t>
            </a:r>
          </a:p>
        </p:txBody>
      </p:sp>
      <p:sp>
        <p:nvSpPr>
          <p:cNvPr id="55" name="B55"/>
          <p:cNvSpPr/>
          <p:nvPr/>
        </p:nvSpPr>
        <p:spPr>
          <a:xfrm>
            <a:off x="502920" y="3170000"/>
            <a:ext cx="5491556" cy="132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56"/>
          <p:cNvSpPr/>
          <p:nvPr/>
        </p:nvSpPr>
        <p:spPr>
          <a:xfrm>
            <a:off x="622920" y="3250000"/>
            <a:ext cx="30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Detector</a:t>
            </a:r>
          </a:p>
        </p:txBody>
      </p:sp>
      <p:sp>
        <p:nvSpPr>
          <p:cNvPr id="57" name="T57"/>
          <p:cNvSpPr/>
          <p:nvPr/>
        </p:nvSpPr>
        <p:spPr>
          <a:xfrm>
            <a:off x="3702920" y="3250000"/>
            <a:ext cx="2171556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</a:t>
            </a:r>
          </a:p>
        </p:txBody>
      </p:sp>
      <p:sp>
        <p:nvSpPr>
          <p:cNvPr id="58" name="T58"/>
          <p:cNvSpPr/>
          <p:nvPr/>
        </p:nvSpPr>
        <p:spPr>
          <a:xfrm>
            <a:off x="622920" y="3560000"/>
            <a:ext cx="5251556" cy="8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live raw layer and classifies every mismatch: MISSING_TABLE, MISSING_COLUMN, TYPE_MISMATCH, EXTRA_COLUMN. Blockers stop codegen for that procedure.</a:t>
            </a:r>
          </a:p>
        </p:txBody>
      </p:sp>
      <p:sp>
        <p:nvSpPr>
          <p:cNvPr id="59" name="B59"/>
          <p:cNvSpPr/>
          <p:nvPr/>
        </p:nvSpPr>
        <p:spPr>
          <a:xfrm>
            <a:off x="6194476" y="3170000"/>
            <a:ext cx="5491556" cy="132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60"/>
          <p:cNvSpPr/>
          <p:nvPr/>
        </p:nvSpPr>
        <p:spPr>
          <a:xfrm>
            <a:off x="6314476" y="3250000"/>
            <a:ext cx="30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Builder</a:t>
            </a:r>
          </a:p>
        </p:txBody>
      </p:sp>
      <p:sp>
        <p:nvSpPr>
          <p:cNvPr id="61" name="T61"/>
          <p:cNvSpPr/>
          <p:nvPr/>
        </p:nvSpPr>
        <p:spPr>
          <a:xfrm>
            <a:off x="9394476" y="3250000"/>
            <a:ext cx="2171556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</a:t>
            </a:r>
          </a:p>
        </p:txBody>
      </p:sp>
      <p:sp>
        <p:nvSpPr>
          <p:cNvPr id="62" name="T62"/>
          <p:cNvSpPr/>
          <p:nvPr/>
        </p:nvSpPr>
        <p:spPr>
          <a:xfrm>
            <a:off x="6314476" y="3560000"/>
            <a:ext cx="5251556" cy="8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the registry into one row per column: raw → std → dwh with transforms, business keys and SCD2-tracked columns. This becomes the contract codegen must obey.</a:t>
            </a:r>
          </a:p>
        </p:txBody>
      </p:sp>
      <p:sp>
        <p:nvSpPr>
          <p:cNvPr id="63" name="B63"/>
          <p:cNvSpPr/>
          <p:nvPr/>
        </p:nvSpPr>
        <p:spPr>
          <a:xfrm>
            <a:off x="502920" y="4590000"/>
            <a:ext cx="5491556" cy="132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64"/>
          <p:cNvSpPr/>
          <p:nvPr/>
        </p:nvSpPr>
        <p:spPr>
          <a:xfrm>
            <a:off x="622920" y="4670000"/>
            <a:ext cx="30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Generator</a:t>
            </a:r>
          </a:p>
        </p:txBody>
      </p:sp>
      <p:sp>
        <p:nvSpPr>
          <p:cNvPr id="65" name="T65"/>
          <p:cNvSpPr/>
          <p:nvPr/>
        </p:nvSpPr>
        <p:spPr>
          <a:xfrm>
            <a:off x="3702920" y="4670000"/>
            <a:ext cx="2171556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+ grounded LLM</a:t>
            </a:r>
          </a:p>
        </p:txBody>
      </p:sp>
      <p:sp>
        <p:nvSpPr>
          <p:cNvPr id="66" name="T66"/>
          <p:cNvSpPr/>
          <p:nvPr/>
        </p:nvSpPr>
        <p:spPr>
          <a:xfrm>
            <a:off x="622920" y="4980000"/>
            <a:ext cx="5251556" cy="8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raw→std is a deterministic template (byte-identical every run). std→dwh uses Claude for SCD2 merges and joins, then post-processing corrects column names and strips artefacts.</a:t>
            </a:r>
          </a:p>
        </p:txBody>
      </p:sp>
      <p:sp>
        <p:nvSpPr>
          <p:cNvPr id="67" name="B67"/>
          <p:cNvSpPr/>
          <p:nvPr/>
        </p:nvSpPr>
        <p:spPr>
          <a:xfrm>
            <a:off x="6194476" y="4590000"/>
            <a:ext cx="5491556" cy="132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68"/>
          <p:cNvSpPr/>
          <p:nvPr/>
        </p:nvSpPr>
        <p:spPr>
          <a:xfrm>
            <a:off x="6314476" y="4670000"/>
            <a:ext cx="30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Uploader</a:t>
            </a:r>
          </a:p>
        </p:txBody>
      </p:sp>
      <p:sp>
        <p:nvSpPr>
          <p:cNvPr id="69" name="T69"/>
          <p:cNvSpPr/>
          <p:nvPr/>
        </p:nvSpPr>
        <p:spPr>
          <a:xfrm>
            <a:off x="9394476" y="4670000"/>
            <a:ext cx="2171556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SDK</a:t>
            </a:r>
          </a:p>
        </p:txBody>
      </p:sp>
      <p:sp>
        <p:nvSpPr>
          <p:cNvPr id="70" name="T70"/>
          <p:cNvSpPr/>
          <p:nvPr/>
        </p:nvSpPr>
        <p:spPr>
          <a:xfrm>
            <a:off x="6314476" y="4980000"/>
            <a:ext cx="5251556" cy="8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the generated notebooks into the client's Databricks workspace via the SDK, overwriting cleanly on re-run so the loop is generate → upload →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103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03C  ·  DIFFERENTIATOR</a:t>
            </a:r>
          </a:p>
        </p:txBody>
      </p:sp>
      <p:sp>
        <p:nvSpPr>
          <p:cNvPr id="104" name="T104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Drift Detection — Before Code Is Written</a:t>
            </a:r>
          </a:p>
        </p:txBody>
      </p:sp>
      <p:sp>
        <p:nvSpPr>
          <p:cNvPr id="73" name="T73"/>
          <p:cNvSpPr/>
          <p:nvPr/>
        </p:nvSpPr>
        <p:spPr>
          <a:xfrm>
            <a:off x="502920" y="1330000"/>
            <a:ext cx="1115568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0" i="1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differentiator: the target platform is validated before a single line of code is generated.</a:t>
            </a:r>
          </a:p>
        </p:txBody>
      </p:sp>
      <p:sp>
        <p:nvSpPr>
          <p:cNvPr id="74" name="B74"/>
          <p:cNvSpPr/>
          <p:nvPr/>
        </p:nvSpPr>
        <p:spPr>
          <a:xfrm>
            <a:off x="502920" y="1750000"/>
            <a:ext cx="5491556" cy="305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75"/>
          <p:cNvSpPr/>
          <p:nvPr/>
        </p:nvSpPr>
        <p:spPr>
          <a:xfrm>
            <a:off x="622920" y="1830000"/>
            <a:ext cx="525155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kinds of drift, detected automatically</a:t>
            </a:r>
          </a:p>
        </p:txBody>
      </p:sp>
      <p:sp>
        <p:nvSpPr>
          <p:cNvPr id="76" name="T76"/>
          <p:cNvSpPr/>
          <p:nvPr/>
        </p:nvSpPr>
        <p:spPr>
          <a:xfrm>
            <a:off x="622920" y="2200000"/>
            <a:ext cx="34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MISSING_TABLE</a:t>
            </a:r>
          </a:p>
        </p:txBody>
      </p:sp>
      <p:sp>
        <p:nvSpPr>
          <p:cNvPr id="77" name="T77"/>
          <p:cNvSpPr/>
          <p:nvPr/>
        </p:nvSpPr>
        <p:spPr>
          <a:xfrm>
            <a:off x="4100000" y="2200000"/>
            <a:ext cx="18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</a:p>
        </p:txBody>
      </p:sp>
      <p:sp>
        <p:nvSpPr>
          <p:cNvPr id="78" name="T78"/>
          <p:cNvSpPr/>
          <p:nvPr/>
        </p:nvSpPr>
        <p:spPr>
          <a:xfrm>
            <a:off x="622920" y="2470000"/>
            <a:ext cx="525155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procedure reads a table the raw layer does not have</a:t>
            </a:r>
          </a:p>
        </p:txBody>
      </p:sp>
      <p:sp>
        <p:nvSpPr>
          <p:cNvPr id="79" name="T79"/>
          <p:cNvSpPr/>
          <p:nvPr/>
        </p:nvSpPr>
        <p:spPr>
          <a:xfrm>
            <a:off x="622920" y="2820000"/>
            <a:ext cx="34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MISSING_COLUMN</a:t>
            </a:r>
          </a:p>
        </p:txBody>
      </p:sp>
      <p:sp>
        <p:nvSpPr>
          <p:cNvPr id="80" name="T80"/>
          <p:cNvSpPr/>
          <p:nvPr/>
        </p:nvSpPr>
        <p:spPr>
          <a:xfrm>
            <a:off x="4100000" y="2820000"/>
            <a:ext cx="18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</a:p>
        </p:txBody>
      </p:sp>
      <p:sp>
        <p:nvSpPr>
          <p:cNvPr id="81" name="T81"/>
          <p:cNvSpPr/>
          <p:nvPr/>
        </p:nvSpPr>
        <p:spPr>
          <a:xfrm>
            <a:off x="622920" y="3090000"/>
            <a:ext cx="525155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the procedure uses is absent from raw</a:t>
            </a:r>
          </a:p>
        </p:txBody>
      </p:sp>
      <p:sp>
        <p:nvSpPr>
          <p:cNvPr id="82" name="T82"/>
          <p:cNvSpPr/>
          <p:nvPr/>
        </p:nvSpPr>
        <p:spPr>
          <a:xfrm>
            <a:off x="622920" y="3440000"/>
            <a:ext cx="34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TYPE_MISMATCH</a:t>
            </a:r>
          </a:p>
        </p:txBody>
      </p:sp>
      <p:sp>
        <p:nvSpPr>
          <p:cNvPr id="83" name="T83"/>
          <p:cNvSpPr/>
          <p:nvPr/>
        </p:nvSpPr>
        <p:spPr>
          <a:xfrm>
            <a:off x="4100000" y="3440000"/>
            <a:ext cx="18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B47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</a:p>
        </p:txBody>
      </p:sp>
      <p:sp>
        <p:nvSpPr>
          <p:cNvPr id="84" name="T84"/>
          <p:cNvSpPr/>
          <p:nvPr/>
        </p:nvSpPr>
        <p:spPr>
          <a:xfrm>
            <a:off x="622920" y="3710000"/>
            <a:ext cx="525155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landed a different type than the procedure implies</a:t>
            </a:r>
          </a:p>
        </p:txBody>
      </p:sp>
      <p:sp>
        <p:nvSpPr>
          <p:cNvPr id="85" name="T85"/>
          <p:cNvSpPr/>
          <p:nvPr/>
        </p:nvSpPr>
        <p:spPr>
          <a:xfrm>
            <a:off x="622920" y="4060000"/>
            <a:ext cx="34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EXTRA_COLUMN</a:t>
            </a:r>
          </a:p>
        </p:txBody>
      </p:sp>
      <p:sp>
        <p:nvSpPr>
          <p:cNvPr id="86" name="T86"/>
          <p:cNvSpPr/>
          <p:nvPr/>
        </p:nvSpPr>
        <p:spPr>
          <a:xfrm>
            <a:off x="4100000" y="4060000"/>
            <a:ext cx="180000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</a:p>
        </p:txBody>
      </p:sp>
      <p:sp>
        <p:nvSpPr>
          <p:cNvPr id="87" name="T87"/>
          <p:cNvSpPr/>
          <p:nvPr/>
        </p:nvSpPr>
        <p:spPr>
          <a:xfrm>
            <a:off x="622920" y="4330000"/>
            <a:ext cx="525155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has a column no procedure references</a:t>
            </a:r>
          </a:p>
        </p:txBody>
      </p:sp>
      <p:sp>
        <p:nvSpPr>
          <p:cNvPr id="88" name="B88"/>
          <p:cNvSpPr/>
          <p:nvPr/>
        </p:nvSpPr>
        <p:spPr>
          <a:xfrm>
            <a:off x="6194476" y="1750000"/>
            <a:ext cx="5491556" cy="305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89"/>
          <p:cNvSpPr/>
          <p:nvPr/>
        </p:nvSpPr>
        <p:spPr>
          <a:xfrm>
            <a:off x="6314476" y="1830000"/>
            <a:ext cx="525155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gate works</a:t>
            </a:r>
          </a:p>
        </p:txBody>
      </p:sp>
      <p:sp>
        <p:nvSpPr>
          <p:cNvPr id="90" name="T90"/>
          <p:cNvSpPr/>
          <p:nvPr/>
        </p:nvSpPr>
        <p:spPr>
          <a:xfrm>
            <a:off x="6314476" y="2200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</a:p>
        </p:txBody>
      </p:sp>
      <p:sp>
        <p:nvSpPr>
          <p:cNvPr id="91" name="T91"/>
          <p:cNvSpPr/>
          <p:nvPr/>
        </p:nvSpPr>
        <p:spPr>
          <a:xfrm>
            <a:off x="6614476" y="2200000"/>
            <a:ext cx="4951556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registry states what each procedure expects from the raw layer.</a:t>
            </a:r>
          </a:p>
        </p:txBody>
      </p:sp>
      <p:sp>
        <p:nvSpPr>
          <p:cNvPr id="92" name="T92"/>
          <p:cNvSpPr/>
          <p:nvPr/>
        </p:nvSpPr>
        <p:spPr>
          <a:xfrm>
            <a:off x="6314476" y="2730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</a:p>
        </p:txBody>
      </p:sp>
      <p:sp>
        <p:nvSpPr>
          <p:cNvPr id="93" name="T93"/>
          <p:cNvSpPr/>
          <p:nvPr/>
        </p:nvSpPr>
        <p:spPr>
          <a:xfrm>
            <a:off x="6614476" y="2730000"/>
            <a:ext cx="4951556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detector runs DESCRIBE against the live Databricks tables and compares.</a:t>
            </a:r>
          </a:p>
        </p:txBody>
      </p:sp>
      <p:sp>
        <p:nvSpPr>
          <p:cNvPr id="94" name="T94"/>
          <p:cNvSpPr/>
          <p:nvPr/>
        </p:nvSpPr>
        <p:spPr>
          <a:xfrm>
            <a:off x="6314476" y="3260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</a:p>
        </p:txBody>
      </p:sp>
      <p:sp>
        <p:nvSpPr>
          <p:cNvPr id="95" name="T95"/>
          <p:cNvSpPr/>
          <p:nvPr/>
        </p:nvSpPr>
        <p:spPr>
          <a:xfrm>
            <a:off x="6614476" y="3260000"/>
            <a:ext cx="4951556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stop code generation for that procedure; warnings pass with a logged finding.</a:t>
            </a:r>
          </a:p>
        </p:txBody>
      </p:sp>
      <p:sp>
        <p:nvSpPr>
          <p:cNvPr id="96" name="T96"/>
          <p:cNvSpPr/>
          <p:nvPr/>
        </p:nvSpPr>
        <p:spPr>
          <a:xfrm>
            <a:off x="6314476" y="3790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</a:p>
        </p:txBody>
      </p:sp>
      <p:sp>
        <p:nvSpPr>
          <p:cNvPr id="97" name="T97"/>
          <p:cNvSpPr/>
          <p:nvPr/>
        </p:nvSpPr>
        <p:spPr>
          <a:xfrm>
            <a:off x="6614476" y="3790000"/>
            <a:ext cx="4951556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is written to metadata.schema_drift with severity and resolution mode.</a:t>
            </a:r>
          </a:p>
        </p:txBody>
      </p:sp>
      <p:sp>
        <p:nvSpPr>
          <p:cNvPr id="98" name="T98"/>
          <p:cNvSpPr/>
          <p:nvPr/>
        </p:nvSpPr>
        <p:spPr>
          <a:xfrm>
            <a:off x="6314476" y="4320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</a:p>
        </p:txBody>
      </p:sp>
      <p:sp>
        <p:nvSpPr>
          <p:cNvPr id="99" name="T99"/>
          <p:cNvSpPr/>
          <p:nvPr/>
        </p:nvSpPr>
        <p:spPr>
          <a:xfrm>
            <a:off x="6614476" y="4320000"/>
            <a:ext cx="4951556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stays a human decision — the accelerator never alters client schema.</a:t>
            </a:r>
          </a:p>
        </p:txBody>
      </p:sp>
      <p:sp>
        <p:nvSpPr>
          <p:cNvPr id="100" name="B100"/>
          <p:cNvSpPr/>
          <p:nvPr/>
        </p:nvSpPr>
        <p:spPr>
          <a:xfrm>
            <a:off x="502920" y="4930000"/>
            <a:ext cx="11183112" cy="880000"/>
          </a:xfrm>
          <a:prstGeom prst="roundRect">
            <a:avLst>
              <a:gd name="adj" fmla="val 5172"/>
            </a:avLst>
          </a:prstGeom>
          <a:solidFill>
            <a:srgbClr val="F2F7F9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101"/>
          <p:cNvSpPr/>
          <p:nvPr/>
        </p:nvSpPr>
        <p:spPr>
          <a:xfrm>
            <a:off x="731520" y="5000000"/>
            <a:ext cx="32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i="0" kern="0" spc="1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— SAMPLE ESTATE</a:t>
            </a:r>
          </a:p>
        </p:txBody>
      </p:sp>
      <p:sp>
        <p:nvSpPr>
          <p:cNvPr id="102" name="T102"/>
          <p:cNvSpPr/>
          <p:nvPr/>
        </p:nvSpPr>
        <p:spPr>
          <a:xfrm>
            <a:off x="731520" y="5290000"/>
            <a:ext cx="10700000" cy="4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deductible_amt missing from raw.stg_claims (BLOCKER)  ·  stg_premium_txn not landed (BLOCKER)  ·  prem_amt is STRING, procedure implies DECIMAL (WARNING)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139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03D  ·  PROVEN</a:t>
            </a:r>
          </a:p>
        </p:txBody>
      </p:sp>
      <p:sp>
        <p:nvSpPr>
          <p:cNvPr id="140" name="T140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— Live Results</a:t>
            </a:r>
          </a:p>
        </p:txBody>
      </p:sp>
      <p:sp>
        <p:nvSpPr>
          <p:cNvPr id="105" name="T105"/>
          <p:cNvSpPr/>
          <p:nvPr/>
        </p:nvSpPr>
        <p:spPr>
          <a:xfrm>
            <a:off x="502920" y="1330000"/>
            <a:ext cx="1115568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0" i="1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 — a working prototype executed end to end against a live Azure Databricks workspace.</a:t>
            </a:r>
          </a:p>
        </p:txBody>
      </p:sp>
      <p:sp>
        <p:nvSpPr>
          <p:cNvPr id="106" name="B106"/>
          <p:cNvSpPr/>
          <p:nvPr/>
        </p:nvSpPr>
        <p:spPr>
          <a:xfrm>
            <a:off x="502920" y="1750000"/>
            <a:ext cx="2645778" cy="115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107"/>
          <p:cNvSpPr/>
          <p:nvPr/>
        </p:nvSpPr>
        <p:spPr>
          <a:xfrm>
            <a:off x="582920" y="1830000"/>
            <a:ext cx="2485778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08" name="T108"/>
          <p:cNvSpPr/>
          <p:nvPr/>
        </p:nvSpPr>
        <p:spPr>
          <a:xfrm>
            <a:off x="582920" y="2350000"/>
            <a:ext cx="2485778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converted,</a:t>
            </a:r>
          </a:p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and run</a:t>
            </a:r>
          </a:p>
        </p:txBody>
      </p:sp>
      <p:sp>
        <p:nvSpPr>
          <p:cNvPr id="109" name="B109"/>
          <p:cNvSpPr/>
          <p:nvPr/>
        </p:nvSpPr>
        <p:spPr>
          <a:xfrm>
            <a:off x="3348698" y="1750000"/>
            <a:ext cx="2645778" cy="115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110"/>
          <p:cNvSpPr/>
          <p:nvPr/>
        </p:nvSpPr>
        <p:spPr>
          <a:xfrm>
            <a:off x="3428698" y="1830000"/>
            <a:ext cx="2485778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11" name="T111"/>
          <p:cNvSpPr/>
          <p:nvPr/>
        </p:nvSpPr>
        <p:spPr>
          <a:xfrm>
            <a:off x="3428698" y="2350000"/>
            <a:ext cx="2485778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blocked</a:t>
            </a:r>
          </a:p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real schema drift</a:t>
            </a:r>
          </a:p>
        </p:txBody>
      </p:sp>
      <p:sp>
        <p:nvSpPr>
          <p:cNvPr id="112" name="B112"/>
          <p:cNvSpPr/>
          <p:nvPr/>
        </p:nvSpPr>
        <p:spPr>
          <a:xfrm>
            <a:off x="6194476" y="1750000"/>
            <a:ext cx="2645778" cy="115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113"/>
          <p:cNvSpPr/>
          <p:nvPr/>
        </p:nvSpPr>
        <p:spPr>
          <a:xfrm>
            <a:off x="6274476" y="1830000"/>
            <a:ext cx="2485778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14" name="T114"/>
          <p:cNvSpPr/>
          <p:nvPr/>
        </p:nvSpPr>
        <p:spPr>
          <a:xfrm>
            <a:off x="6274476" y="2350000"/>
            <a:ext cx="2485778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human review</a:t>
            </a:r>
          </a:p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(dynamic SQL)</a:t>
            </a:r>
          </a:p>
        </p:txBody>
      </p:sp>
      <p:sp>
        <p:nvSpPr>
          <p:cNvPr id="115" name="B115"/>
          <p:cNvSpPr/>
          <p:nvPr/>
        </p:nvSpPr>
        <p:spPr>
          <a:xfrm>
            <a:off x="9040254" y="1750000"/>
            <a:ext cx="2645778" cy="115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116"/>
          <p:cNvSpPr/>
          <p:nvPr/>
        </p:nvSpPr>
        <p:spPr>
          <a:xfrm>
            <a:off x="9120254" y="1830000"/>
            <a:ext cx="2485778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17" name="T117"/>
          <p:cNvSpPr/>
          <p:nvPr/>
        </p:nvSpPr>
        <p:spPr>
          <a:xfrm>
            <a:off x="9120254" y="2350000"/>
            <a:ext cx="2485778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findings raised</a:t>
            </a:r>
          </a:p>
          <a:p>
            <a:pPr marL="0" indent="0" algn="ctr">
              <a:buNone/>
            </a:pPr>
            <a:r>
              <a:rPr lang="en-US" sz="1000" b="0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live estate</a:t>
            </a:r>
          </a:p>
        </p:txBody>
      </p:sp>
      <p:sp>
        <p:nvSpPr>
          <p:cNvPr id="118" name="B118"/>
          <p:cNvSpPr/>
          <p:nvPr/>
        </p:nvSpPr>
        <p:spPr>
          <a:xfrm>
            <a:off x="502920" y="3040000"/>
            <a:ext cx="5491556" cy="228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119"/>
          <p:cNvSpPr/>
          <p:nvPr/>
        </p:nvSpPr>
        <p:spPr>
          <a:xfrm>
            <a:off x="622920" y="3120000"/>
            <a:ext cx="525155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demo proves</a:t>
            </a:r>
          </a:p>
        </p:txBody>
      </p:sp>
      <p:sp>
        <p:nvSpPr>
          <p:cNvPr id="120" name="T120"/>
          <p:cNvSpPr/>
          <p:nvPr/>
        </p:nvSpPr>
        <p:spPr>
          <a:xfrm>
            <a:off x="622920" y="3480000"/>
            <a:ext cx="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121" name="T121"/>
          <p:cNvSpPr/>
          <p:nvPr/>
        </p:nvSpPr>
        <p:spPr>
          <a:xfrm>
            <a:off x="822920" y="3480000"/>
            <a:ext cx="5051556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 works: a changed customer record is expired and a new current version inserted — visible as two rows in the dimension.</a:t>
            </a:r>
          </a:p>
        </p:txBody>
      </p:sp>
      <p:sp>
        <p:nvSpPr>
          <p:cNvPr id="122" name="T122"/>
          <p:cNvSpPr/>
          <p:nvPr/>
        </p:nvSpPr>
        <p:spPr>
          <a:xfrm>
            <a:off x="622920" y="3920000"/>
            <a:ext cx="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123" name="T123"/>
          <p:cNvSpPr/>
          <p:nvPr/>
        </p:nvSpPr>
        <p:spPr>
          <a:xfrm>
            <a:off x="822920" y="3920000"/>
            <a:ext cx="5051556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procedures produce no code at all — no broken notebook is ever generated or published.</a:t>
            </a:r>
          </a:p>
        </p:txBody>
      </p:sp>
      <p:sp>
        <p:nvSpPr>
          <p:cNvPr id="124" name="T124"/>
          <p:cNvSpPr/>
          <p:nvPr/>
        </p:nvSpPr>
        <p:spPr>
          <a:xfrm>
            <a:off x="622920" y="4360000"/>
            <a:ext cx="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125" name="T125"/>
          <p:cNvSpPr/>
          <p:nvPr/>
        </p:nvSpPr>
        <p:spPr>
          <a:xfrm>
            <a:off x="822920" y="4360000"/>
            <a:ext cx="5051556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dynamic-SQL procedure is refused and handed over with a review packet explaining why and what to do.</a:t>
            </a:r>
          </a:p>
        </p:txBody>
      </p:sp>
      <p:sp>
        <p:nvSpPr>
          <p:cNvPr id="126" name="T126"/>
          <p:cNvSpPr/>
          <p:nvPr/>
        </p:nvSpPr>
        <p:spPr>
          <a:xfrm>
            <a:off x="622920" y="4800000"/>
            <a:ext cx="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127" name="T127"/>
          <p:cNvSpPr/>
          <p:nvPr/>
        </p:nvSpPr>
        <p:spPr>
          <a:xfrm>
            <a:off x="822920" y="4800000"/>
            <a:ext cx="5051556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Registry, drift, lineage and execution log are populated automatically on every run.</a:t>
            </a:r>
          </a:p>
        </p:txBody>
      </p:sp>
      <p:sp>
        <p:nvSpPr>
          <p:cNvPr id="128" name="B128"/>
          <p:cNvSpPr/>
          <p:nvPr/>
        </p:nvSpPr>
        <p:spPr>
          <a:xfrm>
            <a:off x="6194476" y="3040000"/>
            <a:ext cx="5491556" cy="2280000"/>
          </a:xfrm>
          <a:prstGeom prst="roundRect">
            <a:avLst>
              <a:gd name="adj" fmla="val 5172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129"/>
          <p:cNvSpPr/>
          <p:nvPr/>
        </p:nvSpPr>
        <p:spPr>
          <a:xfrm>
            <a:off x="6314476" y="3120000"/>
            <a:ext cx="525155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repeatability</a:t>
            </a:r>
          </a:p>
        </p:txBody>
      </p:sp>
      <p:sp>
        <p:nvSpPr>
          <p:cNvPr id="130" name="T130"/>
          <p:cNvSpPr/>
          <p:nvPr/>
        </p:nvSpPr>
        <p:spPr>
          <a:xfrm>
            <a:off x="6314476" y="3480000"/>
            <a:ext cx="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131" name="T131"/>
          <p:cNvSpPr/>
          <p:nvPr/>
        </p:nvSpPr>
        <p:spPr>
          <a:xfrm>
            <a:off x="6514476" y="3480000"/>
            <a:ext cx="5051556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test suite pins naming derivation, all four drift types, severity rules and lineage assembly.</a:t>
            </a:r>
          </a:p>
        </p:txBody>
      </p:sp>
      <p:sp>
        <p:nvSpPr>
          <p:cNvPr id="132" name="T132"/>
          <p:cNvSpPr/>
          <p:nvPr/>
        </p:nvSpPr>
        <p:spPr>
          <a:xfrm>
            <a:off x="6314476" y="3920000"/>
            <a:ext cx="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133" name="T133"/>
          <p:cNvSpPr/>
          <p:nvPr/>
        </p:nvSpPr>
        <p:spPr>
          <a:xfrm>
            <a:off x="6514476" y="3920000"/>
            <a:ext cx="5051556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on an unchanged estate reproduces identical findings — essential for audit and for CI/CD.</a:t>
            </a:r>
          </a:p>
        </p:txBody>
      </p:sp>
      <p:sp>
        <p:nvSpPr>
          <p:cNvPr id="134" name="T134"/>
          <p:cNvSpPr/>
          <p:nvPr/>
        </p:nvSpPr>
        <p:spPr>
          <a:xfrm>
            <a:off x="6314476" y="4360000"/>
            <a:ext cx="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135" name="T135"/>
          <p:cNvSpPr/>
          <p:nvPr/>
        </p:nvSpPr>
        <p:spPr>
          <a:xfrm>
            <a:off x="6514476" y="4360000"/>
            <a:ext cx="5051556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is post-processed so column names and syntax are correct on first execution.</a:t>
            </a:r>
          </a:p>
        </p:txBody>
      </p:sp>
      <p:sp>
        <p:nvSpPr>
          <p:cNvPr id="136" name="T136"/>
          <p:cNvSpPr/>
          <p:nvPr/>
        </p:nvSpPr>
        <p:spPr>
          <a:xfrm>
            <a:off x="6314476" y="4800000"/>
            <a:ext cx="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0" kern="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</a:p>
        </p:txBody>
      </p:sp>
      <p:sp>
        <p:nvSpPr>
          <p:cNvPr id="137" name="T137"/>
          <p:cNvSpPr/>
          <p:nvPr/>
        </p:nvSpPr>
        <p:spPr>
          <a:xfrm>
            <a:off x="6514476" y="4800000"/>
            <a:ext cx="5051556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0" i="0" kern="0" dirty="0">
                <a:solidFill>
                  <a:srgbClr val="5A67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call is logged with prompt and response for full auditability.</a:t>
            </a:r>
          </a:p>
        </p:txBody>
      </p:sp>
      <p:sp>
        <p:nvSpPr>
          <p:cNvPr id="138" name="T138"/>
          <p:cNvSpPr/>
          <p:nvPr/>
        </p:nvSpPr>
        <p:spPr>
          <a:xfrm>
            <a:off x="502920" y="5480000"/>
            <a:ext cx="11183112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0" kern="0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80–90% reduction in manual conversion effort  ·  ~95% faster per-procedure turnaround  ·  100% lineage coverage  ·  zero drift-related production failures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DEPLOYMENT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&amp; Where It Will Be Deployed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Environment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4297680" y="16916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within the client's own cloud tenancy — validated on Azure Databricks; AWS and GCP equivalent. The accelerator executes from a controlled workstation or CI runner; no client data leaves the estate.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502920" y="256032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4297680" y="26517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Databricks via SQL Warehouse (schema reads, metadata writes) and the Workspace SDK (notebook publishing), using the client's own PAT or OAuth. Stored procedures are supplied as files — no direct connection to the source database is needed.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&amp; compliance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4297680" y="36118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schema metadata and procedure code are processed — never business data or PII. Every model prompt and response is logged for audit; all conversion decisions are recorded in Delta tables. Deterministic components make findings reproducible for regulators and internal audit.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502920" y="448056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572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Rollout approach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4297680" y="45720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one subject area (10–20 procedures) to calibrate naming rules and drift policy; phased rollout by domain; then scale across the estate. Blocked and human-review items feed a remediation backlog for the client's platform team.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502920" y="544068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532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Ownership &amp; support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297680" y="55321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data-engineering pod runs conversion cycles during migration; the client's platform team owns remediation of drift findings. Execution logs provide run-level monitoring and per-procedure disposition reporting.</a:t>
            </a:r>
            <a:endParaRPr lang="en-US" sz="12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IDENTIFIED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We Will Deploy &amp; Sell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642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Canopius</a:t>
            </a:r>
            <a:r>
              <a:rPr lang="en-US" sz="14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400" i="1" dirty="0" err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</a:t>
            </a:r>
            <a:r>
              <a:rPr lang="en-US" sz="14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accounts with active Databricks migrations and large legacy SQL estates.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Existing clients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 err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Canopius</a:t>
            </a: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insurance client with a large SQL Server warehouse migrating to Databricks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[Account TBC] — BFSI client mid-</a:t>
            </a:r>
            <a:r>
              <a:rPr lang="en-US" sz="1250" i="1" dirty="0" err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SCD-heavy dimensional loads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[Account TBC] — healthcare payer with legacy ETL and strong audit requirements</a:t>
            </a:r>
          </a:p>
        </p:txBody>
      </p:sp>
      <p:sp>
        <p:nvSpPr>
          <p:cNvPr id="9" name="Shape 7"/>
          <p:cNvSpPr/>
          <p:nvPr/>
        </p:nvSpPr>
        <p:spPr>
          <a:xfrm>
            <a:off x="4261104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98264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logos / pipeline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4443984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BFSI — firms exiting on-prem Teradata / Oracle warehouses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utilities — regulated estates needing lineage and auditability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client where migration effort, not licensing, is blocking the business case</a:t>
            </a:r>
          </a:p>
        </p:txBody>
      </p:sp>
      <p:sp>
        <p:nvSpPr>
          <p:cNvPr id="12" name="Shape 10"/>
          <p:cNvSpPr/>
          <p:nvPr/>
        </p:nvSpPr>
        <p:spPr>
          <a:xfrm>
            <a:off x="8019288" y="2606040"/>
            <a:ext cx="3657600" cy="3063240"/>
          </a:xfrm>
          <a:prstGeom prst="roundRect">
            <a:avLst>
              <a:gd name="adj" fmla="val 1791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56448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Partnerships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8202168" y="32004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— co-sell alongside </a:t>
            </a:r>
            <a:r>
              <a:rPr lang="en-US" sz="1250" i="1" dirty="0" err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migration engagements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partners (Azure / AWS) — bundle into </a:t>
            </a:r>
            <a:r>
              <a:rPr lang="en-US" sz="1250" i="1" dirty="0" err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</a:t>
            </a: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offerings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r>
              <a:rPr lang="en-US" sz="1100" i="1" dirty="0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listing as a Databricks Partner Solution / marketplace accelerator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GTM Strategy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Positioning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as the migration partner that de-risks lakehouse modernisation: not just faster conversion, but governed conversion — drift caught before code is written, full column lineage, and an auditable trail. A demonstrable asset in RFPs rather than a slideware claim.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6199632" y="164592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82512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Sales &amp; channel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6382512" y="2240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the Data Engineering practice with a small accelerator pod; co-sell with Databricks and cloud partners. Used in pre-sales as a discovery tool — a drift assessment quantifies target-readiness in hours and creates a natural entry point.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Pricing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85800" y="4572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migrated procedure or as a fixed accelerator fee within a migration engagement; outcome-based options tied to conversion-rate commitments. Marginal cost is low — only two of five phases invoke a model — so margin improves with volume.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6199632" y="397764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DCF3FA"/>
          </a:solidFill>
          <a:ln w="12700">
            <a:solidFill>
              <a:srgbClr val="ACB6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2512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50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Launch &amp; marketing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382512" y="45720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rgbClr val="6C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via a client-ready demo (live drift detection and SCD2 conversion), a point-of-view paper on governed lakehouse migration, joint Databricks webinars, and case studies from the pilot account.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3" id="{75DB2D68-EB8A-4D47-9097-25EC9E13C876}" vid="{0310C97A-7711-40A4-A3F2-58B78CFBECD1}"/>
    </a:ext>
  </a:extLst>
</a:theme>
</file>

<file path=ppt/theme/theme2.xml><?xml version="1.0" encoding="utf-8"?>
<a:theme xmlns:a="http://schemas.openxmlformats.org/drawingml/2006/main" name="EXL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EXL" id="{68B02986-82C5-4061-A57C-C8B87125180A}" vid="{4677AF4B-9B33-4684-B6BB-99EE4D7BDE7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1990</Words>
  <Application>Microsoft Office PowerPoint</Application>
  <PresentationFormat>Widescreen</PresentationFormat>
  <Paragraphs>236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System Font Regular</vt:lpstr>
      <vt:lpstr>1_Office Theme</vt:lpstr>
      <vt:lpstr>EXL</vt:lpstr>
      <vt:lpstr>GenAI SQL → Databricks Migration Accelerator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Vinayak Chopra</dc:creator>
  <cp:lastModifiedBy>Prayas Gupta</cp:lastModifiedBy>
  <cp:revision>1</cp:revision>
  <dcterms:created xsi:type="dcterms:W3CDTF">2026-08-12T10:03:27Z</dcterms:created>
  <dcterms:modified xsi:type="dcterms:W3CDTF">2026-08-17T06:37:14Z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32c2-122e-4c56-85a9-bc2fa83b9933_Enabled">
    <vt:lpwstr>true</vt:lpwstr>
  </property>
  <property fmtid="{D5CDD505-2E9C-101B-9397-08002B2CF9AE}" pid="3" name="MSIP_Label_5b5832c2-122e-4c56-85a9-bc2fa83b9933_SetDate">
    <vt:lpwstr>2026-08-13T11:17:07Z</vt:lpwstr>
  </property>
  <property fmtid="{D5CDD505-2E9C-101B-9397-08002B2CF9AE}" pid="4" name="MSIP_Label_5b5832c2-122e-4c56-85a9-bc2fa83b9933_Method">
    <vt:lpwstr>Privileged</vt:lpwstr>
  </property>
  <property fmtid="{D5CDD505-2E9C-101B-9397-08002B2CF9AE}" pid="5" name="MSIP_Label_5b5832c2-122e-4c56-85a9-bc2fa83b9933_Name">
    <vt:lpwstr>General</vt:lpwstr>
  </property>
  <property fmtid="{D5CDD505-2E9C-101B-9397-08002B2CF9AE}" pid="6" name="MSIP_Label_5b5832c2-122e-4c56-85a9-bc2fa83b9933_SiteId">
    <vt:lpwstr>89a64c04-5070-4bae-a1ed-e9639497e1b7</vt:lpwstr>
  </property>
  <property fmtid="{D5CDD505-2E9C-101B-9397-08002B2CF9AE}" pid="7" name="MSIP_Label_5b5832c2-122e-4c56-85a9-bc2fa83b9933_ActionId">
    <vt:lpwstr>46e455ce-714c-43f9-aa8e-97fbdfeecb33</vt:lpwstr>
  </property>
  <property fmtid="{D5CDD505-2E9C-101B-9397-08002B2CF9AE}" pid="8" name="MSIP_Label_5b5832c2-122e-4c56-85a9-bc2fa83b9933_ContentBits">
    <vt:lpwstr>0</vt:lpwstr>
  </property>
  <property fmtid="{D5CDD505-2E9C-101B-9397-08002B2CF9AE}" pid="9" name="MSIP_Label_5b5832c2-122e-4c56-85a9-bc2fa83b9933_Tag">
    <vt:lpwstr>10, 0, 1, 1</vt:lpwstr>
  </property>
</Properties>
</file>