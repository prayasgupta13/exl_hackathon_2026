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7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7899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</a:rPr>
              <a:t>HACKATHON 2026   ·  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8595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4181F"/>
                </a:solidFill>
              </a:rPr>
              <a:t>GenAI-Powered SQL Code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2A78D6"/>
                </a:solidFill>
              </a:rPr>
              <a:t>→ PySpark </a:t>
            </a:r>
            <a:r>
              <a:rPr sz="4000" b="1">
                <a:solidFill>
                  <a:srgbClr val="14181F"/>
                </a:solidFill>
              </a:rPr>
              <a:t>Accelerator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346704"/>
            <a:ext cx="566928" cy="329184"/>
          </a:xfrm>
          <a:prstGeom prst="roundRect">
            <a:avLst>
              <a:gd name="adj" fmla="val 16666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32841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52514E"/>
                </a:solidFill>
              </a:rPr>
              <a:t>Stored procedures in.  Governed PySpark pipelines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023360"/>
            <a:ext cx="3017520" cy="18288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187952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2514E"/>
                </a:solidFill>
              </a:rPr>
              <a:t>Deterministic where it must be repeatable.  </a:t>
            </a:r>
            <a:r>
              <a:rPr sz="1350" b="1">
                <a:solidFill>
                  <a:srgbClr val="184F95"/>
                </a:solidFill>
              </a:rPr>
              <a:t>GenAI only where judgment helps.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193792"/>
            <a:ext cx="2587752" cy="822960"/>
          </a:xfrm>
          <a:prstGeom prst="roundRect">
            <a:avLst>
              <a:gd name="adj" fmla="val 888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5193792"/>
            <a:ext cx="64008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22768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Deterministic-first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52514E"/>
                </a:solidFill>
              </a:rPr>
              <a:t>rules do the must-be-right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5193792"/>
            <a:ext cx="2587752" cy="822960"/>
          </a:xfrm>
          <a:prstGeom prst="roundRect">
            <a:avLst>
              <a:gd name="adj" fmla="val 888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5193792"/>
            <a:ext cx="64008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5303520"/>
            <a:ext cx="22768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Metadata is truth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52514E"/>
                </a:solidFill>
              </a:rPr>
              <a:t>registry + lineage, 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5193792"/>
            <a:ext cx="2587752" cy="822960"/>
          </a:xfrm>
          <a:prstGeom prst="roundRect">
            <a:avLst>
              <a:gd name="adj" fmla="val 888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5193792"/>
            <a:ext cx="64008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5303520"/>
            <a:ext cx="22768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Drift-gated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52514E"/>
                </a:solidFill>
              </a:rPr>
              <a:t>stop before shipping wrong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783080"/>
            <a:ext cx="2148840" cy="603504"/>
          </a:xfrm>
          <a:prstGeom prst="roundRect">
            <a:avLst>
              <a:gd name="adj" fmla="val 15151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84F95"/>
                </a:solidFill>
              </a:rPr>
              <a:t>RAW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551176"/>
            <a:ext cx="2148840" cy="603504"/>
          </a:xfrm>
          <a:prstGeom prst="roundRect">
            <a:avLst>
              <a:gd name="adj" fmla="val 15151"/>
            </a:avLst>
          </a:prstGeom>
          <a:solidFill>
            <a:srgbClr val="CFE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84F95"/>
                </a:solidFill>
              </a:rPr>
              <a:t>STD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3319272"/>
            <a:ext cx="2148840" cy="603504"/>
          </a:xfrm>
          <a:prstGeom prst="roundRect">
            <a:avLst>
              <a:gd name="adj" fmla="val 15151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DWH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0782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A8A85"/>
                </a:solidFill>
              </a:rPr>
              <a:t>medallion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62727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5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4181F"/>
                </a:solidFill>
              </a:rPr>
              <a:t>Why hand-migrating the procedures—or trusting a naive LLM—breaks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1055096" cy="877824"/>
          </a:xfrm>
          <a:prstGeom prst="roundRect">
            <a:avLst>
              <a:gd name="adj" fmla="val 7291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73152" cy="8778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755648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1DB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28216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SCD Type 2 code generation is genuinely hard.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80" b="0">
                <a:solidFill>
                  <a:srgbClr val="52514E"/>
                </a:solidFill>
              </a:rPr>
              <a:t>Effective-dating, current-flag flips and MERGE semantics must be exact. Every engineer writes the expire-then-insert differently — and subtle mistakes corrupt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11055096" cy="877824"/>
          </a:xfrm>
          <a:prstGeom prst="roundRect">
            <a:avLst>
              <a:gd name="adj" fmla="val 7291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60320"/>
            <a:ext cx="73152" cy="8778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688336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1DB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60903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Schema drift is discovered in production, not before.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80" b="0">
                <a:solidFill>
                  <a:srgbClr val="52514E"/>
                </a:solidFill>
              </a:rPr>
              <a:t>The lakehouse raw layer has already drifted from what the procedures assume — a missing column or table — so generated code compiles, then breaks on the real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93008"/>
            <a:ext cx="11055096" cy="877824"/>
          </a:xfrm>
          <a:prstGeom prst="roundRect">
            <a:avLst>
              <a:gd name="adj" fmla="val 7291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93008"/>
            <a:ext cx="73152" cy="877824"/>
          </a:xfrm>
          <a:prstGeom prst="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621024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1DB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93592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Lineage is lost in translation.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80" b="0">
                <a:solidFill>
                  <a:srgbClr val="52514E"/>
                </a:solidFill>
              </a:rPr>
              <a:t>After a rewrite, nobody can answer “where did this warehouse column come from?” There is no recorded raw → std → dwh journey to audit against.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25696"/>
            <a:ext cx="11055096" cy="877824"/>
          </a:xfrm>
          <a:prstGeom prst="roundRect">
            <a:avLst>
              <a:gd name="adj" fmla="val 7291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25696"/>
            <a:ext cx="73152" cy="877824"/>
          </a:xfrm>
          <a:prstGeom prst="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553712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1DB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26280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Same logic, different schemas — a naive LLM improvises.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80" b="0">
                <a:solidFill>
                  <a:srgbClr val="52514E"/>
                </a:solidFill>
              </a:rPr>
              <a:t>Point a model at varied or evolving schemas and it hallucinates column names, invents transforms, and answers differently each run. Unacceptable for regulated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58384"/>
            <a:ext cx="11055096" cy="877824"/>
          </a:xfrm>
          <a:prstGeom prst="roundRect">
            <a:avLst>
              <a:gd name="adj" fmla="val 7291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58384"/>
            <a:ext cx="73152" cy="877824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486400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1DB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45896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Manual rewrite doesn’t scale.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80" b="0">
                <a:solidFill>
                  <a:srgbClr val="52514E"/>
                </a:solidFill>
              </a:rPr>
              <a:t>Hundreds of T-SQL procedures, weeks of effort, inconsistent between people, and a thin audit trail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Split the work by what has to be trustworthy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474720" cy="3429000"/>
          </a:xfrm>
          <a:prstGeom prst="roundRect">
            <a:avLst>
              <a:gd name="adj" fmla="val 2666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47088"/>
            <a:ext cx="3474720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27797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14181F"/>
                </a:solidFill>
              </a:rPr>
              <a:t>Deterministic-first, GenAI-second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779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2514E"/>
                </a:solidFill>
              </a:rPr>
              <a:t>Rules and templates do the must-be-repeatable work — parsing, name derivation, type mapping, drift, lineage, and the raw → std code. The model only fills the semantic gaps a rule can’t: SCD2 intent, business keys, join shape.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47088"/>
            <a:ext cx="3474720" cy="3429000"/>
          </a:xfrm>
          <a:prstGeom prst="roundRect">
            <a:avLst>
              <a:gd name="adj" fmla="val 2666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47088"/>
            <a:ext cx="3474720" cy="128016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59" y="2331720"/>
            <a:ext cx="566928" cy="566928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127248"/>
            <a:ext cx="27797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14181F"/>
                </a:solidFill>
              </a:rPr>
              <a:t>Metadata is the source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4023360"/>
            <a:ext cx="2779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2514E"/>
                </a:solidFill>
              </a:rPr>
              <a:t>A schema registry is generated from the procedures and a lineage table records every column’s raw → std → dwh journey. Generated PySpark resolves names through lineage — never free text, never a guess.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847088"/>
            <a:ext cx="3474720" cy="3429000"/>
          </a:xfrm>
          <a:prstGeom prst="roundRect">
            <a:avLst>
              <a:gd name="adj" fmla="val 2666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847088"/>
            <a:ext cx="3474720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2331720"/>
            <a:ext cx="566928" cy="566928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27248"/>
            <a:ext cx="27797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14181F"/>
                </a:solidFill>
              </a:rPr>
              <a:t>Detect drift before you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23360"/>
            <a:ext cx="2779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2514E"/>
                </a:solidFill>
              </a:rPr>
              <a:t>Compare what the procedures assume against the LIVE target schema. A blocker halts code generation for that procedure instead of shipping PySpark that breaks at runtime.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5046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504688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The result: </a:t>
            </a:r>
            <a:r>
              <a:rPr sz="1250" b="0">
                <a:solidFill>
                  <a:srgbClr val="52514E"/>
                </a:solidFill>
              </a:rPr>
              <a:t>the speed of generation with the reproducibility and audit trail a regulated migration demands.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4181F"/>
                </a:solidFill>
              </a:rPr>
              <a:t>Inputs → five phases → outputs — and who does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INPUTS  —  fed into every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529584" cy="566928"/>
          </a:xfrm>
          <a:prstGeom prst="roundRect">
            <a:avLst>
              <a:gd name="adj" fmla="val 1129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64008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87651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</a:rPr>
              <a:t>SQL Server stored procedures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830" b="0">
                <a:solidFill>
                  <a:srgbClr val="52514E"/>
                </a:solidFill>
              </a:rPr>
              <a:t>T-SQL .sql — SCD2, facts, aggregates, dynamic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719072"/>
            <a:ext cx="3529584" cy="566928"/>
          </a:xfrm>
          <a:prstGeom prst="roundRect">
            <a:avLst>
              <a:gd name="adj" fmla="val 1129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719072"/>
            <a:ext cx="64008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787651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</a:rPr>
              <a:t>Live target schema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830" b="0">
                <a:solidFill>
                  <a:srgbClr val="52514E"/>
                </a:solidFill>
              </a:rPr>
              <a:t>the real raw-layer columns &amp; types in Databricks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19072"/>
            <a:ext cx="3529584" cy="566928"/>
          </a:xfrm>
          <a:prstGeom prst="roundRect">
            <a:avLst>
              <a:gd name="adj" fmla="val 1129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719072"/>
            <a:ext cx="64008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1787651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</a:rPr>
              <a:t>Naming rules · type map · dictionary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830" b="0">
                <a:solidFill>
                  <a:srgbClr val="52514E"/>
                </a:solidFill>
              </a:rPr>
              <a:t>abbreviations, SQL Server → Spark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487168"/>
            <a:ext cx="2048256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87168"/>
            <a:ext cx="2048256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633472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A78D6"/>
                </a:solidFill>
              </a:rPr>
              <a:t>PHASE 0</a:t>
            </a:r>
          </a:p>
          <a:p>
            <a:pPr algn="l">
              <a:spcBef>
                <a:spcPts val="100"/>
              </a:spcBef>
            </a:pPr>
            <a:r>
              <a:rPr sz="1450" b="1">
                <a:solidFill>
                  <a:srgbClr val="14181F"/>
                </a:solidFill>
              </a:rPr>
              <a:t>Parse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8A8A85"/>
                </a:solidFill>
              </a:rPr>
              <a:t>structure + intent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73552"/>
            <a:ext cx="1170432" cy="219456"/>
          </a:xfrm>
          <a:prstGeom prst="roundRect">
            <a:avLst>
              <a:gd name="adj" fmla="val 25000"/>
            </a:avLst>
          </a:prstGeom>
          <a:solidFill>
            <a:srgbClr val="E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4A3AA7"/>
                </a:solidFill>
              </a:rPr>
              <a:t>PY + AI</a:t>
            </a:r>
          </a:p>
        </p:txBody>
      </p:sp>
      <p:sp>
        <p:nvSpPr>
          <p:cNvPr id="22" name="Chevron 21"/>
          <p:cNvSpPr/>
          <p:nvPr/>
        </p:nvSpPr>
        <p:spPr>
          <a:xfrm>
            <a:off x="2633472" y="2889504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16352" y="2487168"/>
            <a:ext cx="2048256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16352" y="2487168"/>
            <a:ext cx="2048256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2656" y="2633472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A78D6"/>
                </a:solidFill>
              </a:rPr>
              <a:t>PHASE 1</a:t>
            </a:r>
          </a:p>
          <a:p>
            <a:pPr algn="l">
              <a:spcBef>
                <a:spcPts val="100"/>
              </a:spcBef>
            </a:pPr>
            <a:r>
              <a:rPr sz="1450" b="1">
                <a:solidFill>
                  <a:srgbClr val="14181F"/>
                </a:solidFill>
              </a:rPr>
              <a:t>Registry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8A8A85"/>
                </a:solidFill>
              </a:rPr>
              <a:t>names &amp; types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62656" y="32735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184F95"/>
                </a:solidFill>
              </a:rPr>
              <a:t>PY</a:t>
            </a:r>
          </a:p>
        </p:txBody>
      </p:sp>
      <p:sp>
        <p:nvSpPr>
          <p:cNvPr id="27" name="Chevron 26"/>
          <p:cNvSpPr/>
          <p:nvPr/>
        </p:nvSpPr>
        <p:spPr>
          <a:xfrm>
            <a:off x="4882896" y="2889504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74920" y="2487168"/>
            <a:ext cx="2048256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74920" y="2487168"/>
            <a:ext cx="2048256" cy="9144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1224" y="2633472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D03B3B"/>
                </a:solidFill>
              </a:rPr>
              <a:t>PHASE 2</a:t>
            </a:r>
          </a:p>
          <a:p>
            <a:pPr algn="l">
              <a:spcBef>
                <a:spcPts val="100"/>
              </a:spcBef>
            </a:pPr>
            <a:r>
              <a:rPr sz="1450" b="1">
                <a:solidFill>
                  <a:srgbClr val="14181F"/>
                </a:solidFill>
              </a:rPr>
              <a:t>Drift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8A8A85"/>
                </a:solidFill>
              </a:rPr>
              <a:t>vs live schema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21224" y="32735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184F95"/>
                </a:solidFill>
              </a:rPr>
              <a:t>PY</a:t>
            </a:r>
          </a:p>
        </p:txBody>
      </p:sp>
      <p:sp>
        <p:nvSpPr>
          <p:cNvPr id="32" name="Chevron 31"/>
          <p:cNvSpPr/>
          <p:nvPr/>
        </p:nvSpPr>
        <p:spPr>
          <a:xfrm>
            <a:off x="7141464" y="2889504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24344" y="2487168"/>
            <a:ext cx="2048256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24344" y="2487168"/>
            <a:ext cx="2048256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0648" y="2633472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A78D6"/>
                </a:solidFill>
              </a:rPr>
              <a:t>PHASE 3</a:t>
            </a:r>
          </a:p>
          <a:p>
            <a:pPr algn="l">
              <a:spcBef>
                <a:spcPts val="100"/>
              </a:spcBef>
            </a:pPr>
            <a:r>
              <a:rPr sz="1450" b="1">
                <a:solidFill>
                  <a:srgbClr val="14181F"/>
                </a:solidFill>
              </a:rPr>
              <a:t>Lineage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8A8A85"/>
                </a:solidFill>
              </a:rPr>
              <a:t>column journeys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0648" y="32735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184F95"/>
                </a:solidFill>
              </a:rPr>
              <a:t>PY</a:t>
            </a:r>
          </a:p>
        </p:txBody>
      </p:sp>
      <p:sp>
        <p:nvSpPr>
          <p:cNvPr id="37" name="Chevron 36"/>
          <p:cNvSpPr/>
          <p:nvPr/>
        </p:nvSpPr>
        <p:spPr>
          <a:xfrm>
            <a:off x="9390888" y="2889504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73768" y="2487168"/>
            <a:ext cx="2048256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73768" y="2487168"/>
            <a:ext cx="2048256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2" y="2633472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4A3AA7"/>
                </a:solidFill>
              </a:rPr>
              <a:t>PHASE 4</a:t>
            </a:r>
          </a:p>
          <a:p>
            <a:pPr algn="l">
              <a:spcBef>
                <a:spcPts val="100"/>
              </a:spcBef>
            </a:pPr>
            <a:r>
              <a:rPr sz="1450" b="1">
                <a:solidFill>
                  <a:srgbClr val="14181F"/>
                </a:solidFill>
              </a:rPr>
              <a:t>Codegen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8A8A85"/>
                </a:solidFill>
              </a:rPr>
              <a:t>PySpark 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20072" y="3273552"/>
            <a:ext cx="1170432" cy="219456"/>
          </a:xfrm>
          <a:prstGeom prst="roundRect">
            <a:avLst>
              <a:gd name="adj" fmla="val 25000"/>
            </a:avLst>
          </a:prstGeom>
          <a:solidFill>
            <a:srgbClr val="E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>
                <a:solidFill>
                  <a:srgbClr val="4A3AA7"/>
                </a:solidFill>
              </a:rPr>
              <a:t>PY + 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3785615"/>
            <a:ext cx="11055096" cy="402336"/>
          </a:xfrm>
          <a:prstGeom prst="roundRect">
            <a:avLst>
              <a:gd name="adj" fmla="val 15909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3785615"/>
            <a:ext cx="64008" cy="402336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785615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84F95"/>
                </a:solidFill>
              </a:rPr>
              <a:t>PYTHON · deterministic   —   </a:t>
            </a:r>
            <a:r>
              <a:rPr sz="900" b="0">
                <a:solidFill>
                  <a:srgbClr val="52514E"/>
                </a:solidFill>
              </a:rPr>
              <a:t>parse structure · registry · drift · lineage · raw→std template  ·  four-and-a-half phases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261104"/>
            <a:ext cx="11055096" cy="402336"/>
          </a:xfrm>
          <a:prstGeom prst="roundRect">
            <a:avLst>
              <a:gd name="adj" fmla="val 15909"/>
            </a:avLst>
          </a:prstGeom>
          <a:solidFill>
            <a:srgbClr val="E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261104"/>
            <a:ext cx="64008" cy="40233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261104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4A3AA7"/>
                </a:solidFill>
              </a:rPr>
              <a:t>CLAUDE · grounded on lineage   —   </a:t>
            </a:r>
            <a:r>
              <a:rPr sz="900" b="0">
                <a:solidFill>
                  <a:srgbClr val="52514E"/>
                </a:solidFill>
              </a:rPr>
              <a:t>semantic parse (load pattern, keys, intent) · std→dwh business logic  ·  phases 0 &amp; 4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80974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OUTPUTS  —  written every run, mirrored to CSV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047488"/>
            <a:ext cx="3529584" cy="566928"/>
          </a:xfrm>
          <a:prstGeom prst="roundRect">
            <a:avLst>
              <a:gd name="adj" fmla="val 1129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5047488"/>
            <a:ext cx="64008" cy="5669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116068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</a:rPr>
              <a:t>PySpark notebooks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830" b="0">
                <a:solidFill>
                  <a:srgbClr val="52514E"/>
                </a:solidFill>
              </a:rPr>
              <a:t>raw→std (template) + std→dwh (GenAI) per proc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34256" y="5047488"/>
            <a:ext cx="3529584" cy="566928"/>
          </a:xfrm>
          <a:prstGeom prst="roundRect">
            <a:avLst>
              <a:gd name="adj" fmla="val 1129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34256" y="5047488"/>
            <a:ext cx="64008" cy="5669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17136" y="5116068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</a:rPr>
              <a:t>Metadata tables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830" b="0">
                <a:solidFill>
                  <a:srgbClr val="52514E"/>
                </a:solidFill>
              </a:rPr>
              <a:t>registry · drift · lineage · execution_log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01583" y="5047488"/>
            <a:ext cx="3529584" cy="566928"/>
          </a:xfrm>
          <a:prstGeom prst="roundRect">
            <a:avLst>
              <a:gd name="adj" fmla="val 1129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1583" y="5047488"/>
            <a:ext cx="64008" cy="5669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3" y="5116068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81F"/>
                </a:solidFill>
              </a:rPr>
              <a:t>Review packets + GenAI audit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830" b="0">
                <a:solidFill>
                  <a:srgbClr val="52514E"/>
                </a:solidFill>
              </a:rPr>
              <a:t>human review for dynamic SQL; every prompt logged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797296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4181F"/>
                </a:solidFill>
              </a:rPr>
              <a:t>Python owns four-and-a-half phases; </a:t>
            </a:r>
            <a:r>
              <a:rPr sz="1150" b="0">
                <a:solidFill>
                  <a:srgbClr val="52514E"/>
                </a:solidFill>
              </a:rPr>
              <a:t>the model is fenced into the one half-phase that needs judgement — and even there, every name comes from lineage.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THE CORE 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Confine the model — guarantee the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49240" cy="3246120"/>
          </a:xfrm>
          <a:prstGeom prst="roundRect">
            <a:avLst>
              <a:gd name="adj" fmla="val 2816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5349240" cy="566928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DETERMINISM  ·  what it guarantees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660903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69464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Byte-identical raw → std  </a:t>
            </a:r>
            <a:r>
              <a:rPr sz="1000" b="0">
                <a:solidFill>
                  <a:srgbClr val="52514E"/>
                </a:solidFill>
              </a:rPr>
              <a:t>— a Python template — same input, same code, every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64408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172968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Reproducible drift  </a:t>
            </a:r>
            <a:r>
              <a:rPr sz="1000" b="0">
                <a:solidFill>
                  <a:srgbClr val="52514E"/>
                </a:solidFill>
              </a:rPr>
              <a:t>— the four drift checks are rules, not prompts; findings never wobble.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867911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77647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Traceable lineage  </a:t>
            </a:r>
            <a:r>
              <a:rPr sz="1000" b="0">
                <a:solidFill>
                  <a:srgbClr val="52514E"/>
                </a:solidFill>
              </a:rPr>
              <a:t>— every column’s journey recorded once; codegen resolves through it.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471416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379976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Stable naming  </a:t>
            </a:r>
            <a:r>
              <a:rPr sz="1000" b="0">
                <a:solidFill>
                  <a:srgbClr val="52514E"/>
                </a:solidFill>
              </a:rPr>
              <a:t>— cust_nm → customer_name derived by rule, pinned in the registry.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828800"/>
            <a:ext cx="5349240" cy="3246120"/>
          </a:xfrm>
          <a:prstGeom prst="roundRect">
            <a:avLst>
              <a:gd name="adj" fmla="val 2816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828800"/>
            <a:ext cx="5349240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THE MODEL  ·  how it’s fenced in</a:t>
            </a:r>
          </a:p>
        </p:txBody>
      </p:sp>
      <p:sp>
        <p:nvSpPr>
          <p:cNvPr id="22" name="Oval 21"/>
          <p:cNvSpPr/>
          <p:nvPr/>
        </p:nvSpPr>
        <p:spPr>
          <a:xfrm>
            <a:off x="6556248" y="2660903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569464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Grounded on lineage  </a:t>
            </a:r>
            <a:r>
              <a:rPr sz="1000" b="0">
                <a:solidFill>
                  <a:srgbClr val="52514E"/>
                </a:solidFill>
              </a:rPr>
              <a:t>— the prompt carries the EXACT std &amp; dwh column names — verbatim.</a:t>
            </a:r>
          </a:p>
        </p:txBody>
      </p:sp>
      <p:sp>
        <p:nvSpPr>
          <p:cNvPr id="24" name="Oval 23"/>
          <p:cNvSpPr/>
          <p:nvPr/>
        </p:nvSpPr>
        <p:spPr>
          <a:xfrm>
            <a:off x="6556248" y="3264408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172968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One layer only  </a:t>
            </a:r>
            <a:r>
              <a:rPr sz="1000" b="0">
                <a:solidFill>
                  <a:srgbClr val="52514E"/>
                </a:solidFill>
              </a:rPr>
              <a:t>— it writes std → dwh business logic; nothing else generates code.</a:t>
            </a:r>
          </a:p>
        </p:txBody>
      </p:sp>
      <p:sp>
        <p:nvSpPr>
          <p:cNvPr id="26" name="Oval 25"/>
          <p:cNvSpPr/>
          <p:nvPr/>
        </p:nvSpPr>
        <p:spPr>
          <a:xfrm>
            <a:off x="6556248" y="3867911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377647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temperature = 0  </a:t>
            </a:r>
            <a:r>
              <a:rPr sz="1000" b="0">
                <a:solidFill>
                  <a:srgbClr val="52514E"/>
                </a:solidFill>
              </a:rPr>
              <a:t>— the same procedure yields the same MERGE on every run.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4471416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379976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Audited &amp; optional  </a:t>
            </a:r>
            <a:r>
              <a:rPr sz="1000" b="0">
                <a:solidFill>
                  <a:srgbClr val="52514E"/>
                </a:solidFill>
              </a:rPr>
              <a:t>— every call logged to JSONL; unsupported constructs go to human review.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85232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E5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285232"/>
            <a:ext cx="82296" cy="5669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285232"/>
            <a:ext cx="1050645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The model’s surface area is the one layer that needs judgement — </a:t>
            </a:r>
            <a:r>
              <a:rPr sz="1250" b="0">
                <a:solidFill>
                  <a:srgbClr val="52514E"/>
                </a:solidFill>
              </a:rPr>
              <a:t>everything a regulator would question is deterministic.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Catch schema drift before a line of code is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06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8A85"/>
                </a:solidFill>
              </a:rPr>
              <a:t>FOUR DRIFT TYPES  →  SEVERITY DRIVES THE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73152" cy="65836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3113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MISSING_TABLE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52514E"/>
                </a:solidFill>
              </a:rPr>
              <a:t>procedure reads a table raw doesn’t have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8496" y="2340864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BLOCKER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6936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916936"/>
            <a:ext cx="73152" cy="65836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9923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MISSING_COLUMN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52514E"/>
                </a:solidFill>
              </a:rPr>
              <a:t>column used but absent from the raw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8496" y="3108960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BLOCKER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85032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85032"/>
            <a:ext cx="73152" cy="658368"/>
          </a:xfrm>
          <a:prstGeom prst="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7673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TYPE_MISMATCH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52514E"/>
                </a:solidFill>
              </a:rPr>
              <a:t>raw landed a different type than implied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8496" y="3877056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14181F"/>
                </a:solidFill>
              </a:rPr>
              <a:t>WARNING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53128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453128"/>
            <a:ext cx="73152" cy="65836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53542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EXTRA_COLUMN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52514E"/>
                </a:solidFill>
              </a:rPr>
              <a:t>raw has a column no procedure uses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8496" y="4645152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AUTO-ADOPT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04688" y="1783080"/>
            <a:ext cx="6117336" cy="4023360"/>
          </a:xfrm>
          <a:prstGeom prst="roundRect">
            <a:avLst>
              <a:gd name="adj" fmla="val 2272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1993392"/>
            <a:ext cx="5568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9BB8E8"/>
                </a:solidFill>
              </a:rPr>
              <a:t>LIVE FINDINGS — THIS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79008" y="2432304"/>
            <a:ext cx="5568696" cy="932688"/>
          </a:xfrm>
          <a:prstGeom prst="roundRect">
            <a:avLst>
              <a:gd name="adj" fmla="val 5882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255117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deductible_amt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23576" y="2560320"/>
            <a:ext cx="932688" cy="256032"/>
          </a:xfrm>
          <a:prstGeom prst="roundRect">
            <a:avLst>
              <a:gd name="adj" fmla="val 21428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BLOCKER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2907792"/>
            <a:ext cx="53400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BB8E8"/>
                </a:solidFill>
              </a:rPr>
              <a:t>MISSING_COLUMN  ·  </a:t>
            </a:r>
            <a:r>
              <a:rPr sz="950" b="0">
                <a:solidFill>
                  <a:srgbClr val="C9CDD4"/>
                </a:solidFill>
              </a:rPr>
              <a:t>raw.stg_claims has no deductible_amt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79008" y="3474720"/>
            <a:ext cx="5568696" cy="932688"/>
          </a:xfrm>
          <a:prstGeom prst="roundRect">
            <a:avLst>
              <a:gd name="adj" fmla="val 5882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3593591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prem_amt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23576" y="3602736"/>
            <a:ext cx="932688" cy="256032"/>
          </a:xfrm>
          <a:prstGeom prst="roundRect">
            <a:avLst>
              <a:gd name="adj" fmla="val 21428"/>
            </a:avLst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14181F"/>
                </a:solidFill>
              </a:rPr>
              <a:t>WARNING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3950208"/>
            <a:ext cx="53400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BB8E8"/>
                </a:solidFill>
              </a:rPr>
              <a:t>TYPE_MISMATCH  ·  </a:t>
            </a:r>
            <a:r>
              <a:rPr sz="950" b="0">
                <a:solidFill>
                  <a:srgbClr val="C9CDD4"/>
                </a:solidFill>
              </a:rPr>
              <a:t>implies decimal(18,2)  ·  raw has string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79008" y="4517136"/>
            <a:ext cx="5568696" cy="932688"/>
          </a:xfrm>
          <a:prstGeom prst="roundRect">
            <a:avLst>
              <a:gd name="adj" fmla="val 5882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1888" y="4636007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stg_premium_txn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23576" y="4645151"/>
            <a:ext cx="932688" cy="256032"/>
          </a:xfrm>
          <a:prstGeom prst="roundRect">
            <a:avLst>
              <a:gd name="adj" fmla="val 21428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BLOCKER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1888" y="4992623"/>
            <a:ext cx="53400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BB8E8"/>
                </a:solidFill>
              </a:rPr>
              <a:t>MISSING_TABLE  ·  </a:t>
            </a:r>
            <a:r>
              <a:rPr sz="950" b="0">
                <a:solidFill>
                  <a:srgbClr val="C9CDD4"/>
                </a:solidFill>
              </a:rPr>
              <a:t>raw.stg_premium_txn does not exist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008" y="5486400"/>
            <a:ext cx="5568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792A0"/>
                </a:solidFill>
              </a:rPr>
              <a:t>2 procedures blocked · fully deterministic · every finding reproducible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SPOTLIGHT · SCD TYPE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The hard case, generated — and grounded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6126480" cy="3977639"/>
          </a:xfrm>
          <a:prstGeom prst="roundRect">
            <a:avLst>
              <a:gd name="adj" fmla="val 2298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048256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048256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16736" y="2048256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0299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792A0"/>
                </a:solidFill>
                <a:latin typeface="Consolas"/>
              </a:rPr>
              <a:t>dwh_notebook.py  ·  dim_customer  (generated)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395728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>SCD2_COLS = ["customer_name", "customer_address",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>             "customer_city", "customer_segment"]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8792A0"/>
                </a:solidFill>
                <a:latin typeface="Consolas"/>
              </a:rPr>
              <a:t># expire the current row when any tracked col changed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>change = " OR ".join(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>    f"tgt.{c} IS DISTINCT FROM src.{c}" for c in SCD2_COLS)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9BB8E8"/>
                </a:solidFill>
                <a:latin typeface="Consolas"/>
              </a:rPr>
              <a:t>(dwh.alias("tgt")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9BB8E8"/>
                </a:solidFill>
                <a:latin typeface="Consolas"/>
              </a:rPr>
              <a:t>   .merge(src.alias("src"),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27C93F"/>
                </a:solidFill>
                <a:latin typeface="Consolas"/>
              </a:rPr>
              <a:t>     "tgt.customer_id = src.customer_id "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27C93F"/>
                </a:solidFill>
                <a:latin typeface="Consolas"/>
              </a:rPr>
              <a:t>     "AND tgt.is_current = '1' AND (" + change + ")")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9BB8E8"/>
                </a:solidFill>
                <a:latin typeface="Consolas"/>
              </a:rPr>
              <a:t>   .whenMatchedUpdate(set={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>       "effective_end_date": F.lit(LOAD_DATE),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CDD4"/>
                </a:solidFill>
                <a:latin typeface="Consolas"/>
              </a:rPr>
              <a:t>       "is_current": F.lit("0")})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9BB8E8"/>
                </a:solidFill>
                <a:latin typeface="Consolas"/>
              </a:rPr>
              <a:t>   .whenNotMatchedInsertAll()   # insert new version</a:t>
            </a:r>
          </a:p>
          <a:p>
            <a:pPr algn="l">
              <a:lnSpc>
                <a:spcPct val="106000"/>
              </a:lnSpc>
            </a:pPr>
            <a:r>
              <a:rPr sz="1000" b="0">
                <a:solidFill>
                  <a:srgbClr val="9BB8E8"/>
                </a:solidFill>
                <a:latin typeface="Consolas"/>
              </a:rPr>
              <a:t>   .execute())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828800"/>
            <a:ext cx="4718304" cy="1170432"/>
          </a:xfrm>
          <a:prstGeom prst="roundRect">
            <a:avLst>
              <a:gd name="adj" fmla="val 7031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1828800"/>
            <a:ext cx="82296" cy="117043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1956816"/>
            <a:ext cx="4343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14181F"/>
                </a:solidFill>
              </a:rPr>
              <a:t>Business key + tracked columns come from lineage</a:t>
            </a:r>
          </a:p>
          <a:p>
            <a:pPr algn="l">
              <a:lnSpc>
                <a:spcPct val="104000"/>
              </a:lnSpc>
              <a:spcBef>
                <a:spcPts val="300"/>
              </a:spcBef>
            </a:pPr>
            <a:r>
              <a:rPr sz="1000" b="0">
                <a:solidFill>
                  <a:srgbClr val="52514E"/>
                </a:solidFill>
              </a:rPr>
              <a:t>customer_id and the four SCD2 columns are read from the lineage table — not guessed by the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072384"/>
            <a:ext cx="4718304" cy="1170432"/>
          </a:xfrm>
          <a:prstGeom prst="roundRect">
            <a:avLst>
              <a:gd name="adj" fmla="val 7031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3072384"/>
            <a:ext cx="82296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8" y="3200400"/>
            <a:ext cx="4343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14181F"/>
                </a:solidFill>
              </a:rPr>
              <a:t>Expire-then-insert, done right</a:t>
            </a:r>
          </a:p>
          <a:p>
            <a:pPr algn="l">
              <a:lnSpc>
                <a:spcPct val="104000"/>
              </a:lnSpc>
              <a:spcBef>
                <a:spcPts val="300"/>
              </a:spcBef>
            </a:pPr>
            <a:r>
              <a:rPr sz="1000" b="0">
                <a:solidFill>
                  <a:srgbClr val="52514E"/>
                </a:solidFill>
              </a:rPr>
              <a:t>the current row is closed (is_current = 0, effective_end_date set); a new version is inserted. History is preserved.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315968"/>
            <a:ext cx="4718304" cy="1170432"/>
          </a:xfrm>
          <a:prstGeom prst="roundRect">
            <a:avLst>
              <a:gd name="adj" fmla="val 7031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4315968"/>
            <a:ext cx="82296" cy="1170432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4443984"/>
            <a:ext cx="4343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14181F"/>
                </a:solidFill>
              </a:rPr>
              <a:t>std already speaks target names</a:t>
            </a:r>
          </a:p>
          <a:p>
            <a:pPr algn="l">
              <a:lnSpc>
                <a:spcPct val="104000"/>
              </a:lnSpc>
              <a:spcBef>
                <a:spcPts val="300"/>
              </a:spcBef>
            </a:pPr>
            <a:r>
              <a:rPr sz="1000" b="0">
                <a:solidFill>
                  <a:srgbClr val="52514E"/>
                </a:solidFill>
              </a:rPr>
              <a:t>no re-mapping at this layer, so there is no room to hallucinate a column name.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E5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504688"/>
            <a:ext cx="82296" cy="5669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504688"/>
            <a:ext cx="1050645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This is the one layer the model writes — </a:t>
            </a:r>
            <a:r>
              <a:rPr sz="1250" b="0">
                <a:solidFill>
                  <a:srgbClr val="52514E"/>
                </a:solidFill>
              </a:rPr>
              <a:t>and every name in it is pinned by the lineage table, at temperature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Five sample procedures — five outcomes it handles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2048256" cy="896112"/>
          </a:xfrm>
          <a:prstGeom prst="roundRect">
            <a:avLst>
              <a:gd name="adj" fmla="val 8163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2048256" cy="82296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01952"/>
            <a:ext cx="20482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14181F"/>
                </a:solidFill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2048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52514E"/>
                </a:solidFill>
              </a:rPr>
              <a:t>procedures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737360"/>
            <a:ext cx="2048256" cy="896112"/>
          </a:xfrm>
          <a:prstGeom prst="roundRect">
            <a:avLst>
              <a:gd name="adj" fmla="val 8163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1737360"/>
            <a:ext cx="2048256" cy="82296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901952"/>
            <a:ext cx="20482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0CA30C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404872"/>
            <a:ext cx="2048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52514E"/>
                </a:solidFill>
              </a:rPr>
              <a:t>clean convert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737360"/>
            <a:ext cx="2048256" cy="896112"/>
          </a:xfrm>
          <a:prstGeom prst="roundRect">
            <a:avLst>
              <a:gd name="adj" fmla="val 8163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737360"/>
            <a:ext cx="2048256" cy="8229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901952"/>
            <a:ext cx="20482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D03B3B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404872"/>
            <a:ext cx="2048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52514E"/>
                </a:solidFill>
              </a:rPr>
              <a:t>blocked by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4344" y="1737360"/>
            <a:ext cx="2048256" cy="896112"/>
          </a:xfrm>
          <a:prstGeom prst="roundRect">
            <a:avLst>
              <a:gd name="adj" fmla="val 8163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4344" y="1737360"/>
            <a:ext cx="2048256" cy="82296"/>
          </a:xfrm>
          <a:prstGeom prst="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4344" y="1901952"/>
            <a:ext cx="20482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0A81E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4344" y="2404872"/>
            <a:ext cx="2048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52514E"/>
                </a:solidFill>
              </a:rPr>
              <a:t>type warning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3768" y="1737360"/>
            <a:ext cx="2048256" cy="896112"/>
          </a:xfrm>
          <a:prstGeom prst="roundRect">
            <a:avLst>
              <a:gd name="adj" fmla="val 8163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73768" y="1737360"/>
            <a:ext cx="2048256" cy="8229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8" y="1901952"/>
            <a:ext cx="20482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4A3AA7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404872"/>
            <a:ext cx="2048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52514E"/>
                </a:solidFill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85292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2852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PROCEDURE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28529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3016" y="285292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WHAT THE ACCELERATOR DID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6" y="2852928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OUTCOME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145536"/>
            <a:ext cx="11055096" cy="18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163824"/>
            <a:ext cx="38404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8A85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3163824"/>
            <a:ext cx="2743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usp_Load_Dim_Customer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4176" y="3163824"/>
            <a:ext cx="21488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SCD2 dimension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3016" y="3163824"/>
            <a:ext cx="3977639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Clean baseline — converts end to 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0656" y="3310128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CONVERTED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735324"/>
            <a:ext cx="11055096" cy="9144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739896"/>
            <a:ext cx="38404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8A85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3739896"/>
            <a:ext cx="2743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usp_Load_Fact_Claims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94176" y="3739896"/>
            <a:ext cx="21488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Fact · temp table · joins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3016" y="3739896"/>
            <a:ext cx="3977639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deductible_amt missing from raw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20656" y="3886200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311396"/>
            <a:ext cx="11055096" cy="9144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315968"/>
            <a:ext cx="38404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8A85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" y="4315968"/>
            <a:ext cx="2743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usp_Load_Dim_Policy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94176" y="4315968"/>
            <a:ext cx="21488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SCD2 dimension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3016" y="4315968"/>
            <a:ext cx="3977639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prem_amt is STRING in raw — recoverable cast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20656" y="4462272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14181F"/>
                </a:solidFill>
              </a:rPr>
              <a:t>WARNING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887468"/>
            <a:ext cx="11055096" cy="9144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892040"/>
            <a:ext cx="38404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8A85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" y="4892040"/>
            <a:ext cx="2743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usp_Load_Fact_Premium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4176" y="4892040"/>
            <a:ext cx="21488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Aggregate / GROUP BY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3016" y="4892040"/>
            <a:ext cx="3977639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stg_premium_txn not landed in raw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0656" y="5038344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463540"/>
            <a:ext cx="11055096" cy="9144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468112"/>
            <a:ext cx="38404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8A85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" y="5468112"/>
            <a:ext cx="2743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</a:rPr>
              <a:t>usp_Purge_Old_Partitions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94176" y="5468112"/>
            <a:ext cx="21488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Dynamic 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3016" y="5468112"/>
            <a:ext cx="3977639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Target unknowable → review packet written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20656" y="5614416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HUMAN REVIEW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6039612"/>
            <a:ext cx="11055096" cy="9144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Lineage is the contract codegen can’t 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09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</a:rPr>
              <a:t>Every column’s full journey is recorded once — </a:t>
            </a:r>
            <a:r>
              <a:rPr sz="1300" b="1">
                <a:solidFill>
                  <a:srgbClr val="184F95"/>
                </a:solidFill>
              </a:rPr>
              <a:t>raw → std (transform) → dwh</a:t>
            </a:r>
            <a:r>
              <a:rPr sz="1300" b="0">
                <a:solidFill>
                  <a:srgbClr val="52514E"/>
                </a:solidFill>
              </a:rPr>
              <a:t>. Codegen resolves names through this table, so generated PySpark and recorded lineage can never disagree.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RAW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6974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STD COLUMN  (TRANSFORM)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26974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DWH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6688" y="2697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A8A85"/>
                </a:solidFill>
              </a:rPr>
              <a:t>FLAGS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90088"/>
            <a:ext cx="11055096" cy="182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008376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008376"/>
            <a:ext cx="2752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stg_customer.cust_id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3008376"/>
            <a:ext cx="374903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4F95"/>
                </a:solidFill>
              </a:rPr>
              <a:t>customer_id  · TRIM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300837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dim_customer.customer_id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76688" y="3127248"/>
            <a:ext cx="786384" cy="256032"/>
          </a:xfrm>
          <a:prstGeom prst="roundRect">
            <a:avLst>
              <a:gd name="adj" fmla="val 21428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57016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557016"/>
            <a:ext cx="2752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stg_customer.cust_nm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3557016"/>
            <a:ext cx="374903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4F95"/>
                </a:solidFill>
              </a:rPr>
              <a:t>customer_name  · INITCAP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355701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dim_customer.customer_name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76688" y="3675888"/>
            <a:ext cx="786384" cy="256032"/>
          </a:xfrm>
          <a:prstGeom prst="roundRect">
            <a:avLst>
              <a:gd name="adj" fmla="val 21428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SCD2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05656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105656"/>
            <a:ext cx="2752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stg_customer.cust_addr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4105656"/>
            <a:ext cx="374903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4F95"/>
                </a:solidFill>
              </a:rPr>
              <a:t>customer_address  · TRIM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10565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dim_customer.customer_address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76688" y="4224528"/>
            <a:ext cx="786384" cy="256032"/>
          </a:xfrm>
          <a:prstGeom prst="roundRect">
            <a:avLst>
              <a:gd name="adj" fmla="val 21428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SCD2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654296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654296"/>
            <a:ext cx="27523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stg_customer.cust_seg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4654296"/>
            <a:ext cx="374903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4F95"/>
                </a:solidFill>
              </a:rPr>
              <a:t>customer_segment  · UPPER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465429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181F"/>
                </a:solidFill>
              </a:rPr>
              <a:t>dim_customer.customer_segment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76688" y="4773168"/>
            <a:ext cx="786384" cy="256032"/>
          </a:xfrm>
          <a:prstGeom prst="roundRect">
            <a:avLst>
              <a:gd name="adj" fmla="val 21428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SCD2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12080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212080"/>
            <a:ext cx="1050645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Auditor’s question — </a:t>
            </a:r>
            <a:r>
              <a:rPr sz="1250" b="0">
                <a:solidFill>
                  <a:srgbClr val="52514E"/>
                </a:solidFill>
              </a:rPr>
              <a:t>“where did this warehouse column come from?” </a:t>
            </a:r>
            <a:r>
              <a:rPr sz="1250" b="1">
                <a:solidFill>
                  <a:srgbClr val="14181F"/>
                </a:solidFill>
              </a:rPr>
              <a:t>— answered by one query.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Built for regulated migrations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10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49240" cy="1042415"/>
          </a:xfrm>
          <a:prstGeom prst="roundRect">
            <a:avLst>
              <a:gd name="adj" fmla="val 789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2066543"/>
            <a:ext cx="118872" cy="566928"/>
          </a:xfrm>
          <a:prstGeom prst="roundRect">
            <a:avLst>
              <a:gd name="adj" fmla="val 38461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75104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Append-only metadata</a:t>
            </a:r>
          </a:p>
          <a:p>
            <a:pPr algn="l">
              <a:lnSpc>
                <a:spcPct val="103000"/>
              </a:lnSpc>
              <a:spcBef>
                <a:spcPts val="200"/>
              </a:spcBef>
            </a:pPr>
            <a:r>
              <a:rPr sz="1050" b="0">
                <a:solidFill>
                  <a:srgbClr val="52514E"/>
                </a:solidFill>
              </a:rPr>
              <a:t>Deterministic registry / drift / lineage IDs — reruns dedupe on ID, history is never overwritten.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828800"/>
            <a:ext cx="5349240" cy="1042415"/>
          </a:xfrm>
          <a:prstGeom prst="roundRect">
            <a:avLst>
              <a:gd name="adj" fmla="val 789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1384" y="2066543"/>
            <a:ext cx="118872" cy="566928"/>
          </a:xfrm>
          <a:prstGeom prst="roundRect">
            <a:avLst>
              <a:gd name="adj" fmla="val 38461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975104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Full execution log</a:t>
            </a:r>
          </a:p>
          <a:p>
            <a:pPr algn="l">
              <a:lnSpc>
                <a:spcPct val="103000"/>
              </a:lnSpc>
              <a:spcBef>
                <a:spcPts val="200"/>
              </a:spcBef>
            </a:pPr>
            <a:r>
              <a:rPr sz="1050" b="0">
                <a:solidFill>
                  <a:srgbClr val="52514E"/>
                </a:solidFill>
              </a:rPr>
              <a:t>Every run, phase and procedure: status, row counts, duration. The complete “what did it do, and when.”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99232"/>
            <a:ext cx="5349240" cy="1042415"/>
          </a:xfrm>
          <a:prstGeom prst="roundRect">
            <a:avLst>
              <a:gd name="adj" fmla="val 789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" y="3236976"/>
            <a:ext cx="118872" cy="566928"/>
          </a:xfrm>
          <a:prstGeom prst="roundRect">
            <a:avLst>
              <a:gd name="adj" fmla="val 38461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145536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GenAI prompt/response audit</a:t>
            </a:r>
          </a:p>
          <a:p>
            <a:pPr algn="l">
              <a:lnSpc>
                <a:spcPct val="103000"/>
              </a:lnSpc>
              <a:spcBef>
                <a:spcPts val="200"/>
              </a:spcBef>
            </a:pPr>
            <a:r>
              <a:rPr sz="1050" b="0">
                <a:solidFill>
                  <a:srgbClr val="52514E"/>
                </a:solidFill>
              </a:rPr>
              <a:t>Every model call is logged to JSONL — in production, a Delta audit table. Nothing the model did is hidden.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999232"/>
            <a:ext cx="5349240" cy="1042415"/>
          </a:xfrm>
          <a:prstGeom prst="roundRect">
            <a:avLst>
              <a:gd name="adj" fmla="val 789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1384" y="3236976"/>
            <a:ext cx="118872" cy="566928"/>
          </a:xfrm>
          <a:prstGeom prst="roundRect">
            <a:avLst>
              <a:gd name="adj" fmla="val 38461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3145536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Human-in-the-loop</a:t>
            </a:r>
          </a:p>
          <a:p>
            <a:pPr algn="l">
              <a:lnSpc>
                <a:spcPct val="103000"/>
              </a:lnSpc>
              <a:spcBef>
                <a:spcPts val="200"/>
              </a:spcBef>
            </a:pPr>
            <a:r>
              <a:rPr sz="1050" b="0">
                <a:solidFill>
                  <a:srgbClr val="52514E"/>
                </a:solidFill>
              </a:rPr>
              <a:t>Unsupported constructs (dynamic SQL, cursors) get a review packet — never a silent mistranslation.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69663"/>
            <a:ext cx="5349240" cy="1042415"/>
          </a:xfrm>
          <a:prstGeom prst="roundRect">
            <a:avLst>
              <a:gd name="adj" fmla="val 789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" y="4407407"/>
            <a:ext cx="118872" cy="566928"/>
          </a:xfrm>
          <a:prstGeom prst="roundRect">
            <a:avLst>
              <a:gd name="adj" fmla="val 38461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315968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Offline &amp; inspectable</a:t>
            </a:r>
          </a:p>
          <a:p>
            <a:pPr algn="l">
              <a:lnSpc>
                <a:spcPct val="103000"/>
              </a:lnSpc>
              <a:spcBef>
                <a:spcPts val="200"/>
              </a:spcBef>
            </a:pPr>
            <a:r>
              <a:rPr sz="1050" b="0">
                <a:solidFill>
                  <a:srgbClr val="52514E"/>
                </a:solidFill>
              </a:rPr>
              <a:t>Runs with no warehouse; every artifact mirrors to CSV so the whole pipeline is reviewable locally.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4169663"/>
            <a:ext cx="5349240" cy="1042415"/>
          </a:xfrm>
          <a:prstGeom prst="roundRect">
            <a:avLst>
              <a:gd name="adj" fmla="val 789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1384" y="4407407"/>
            <a:ext cx="118872" cy="566928"/>
          </a:xfrm>
          <a:prstGeom prst="roundRect">
            <a:avLst>
              <a:gd name="adj" fmla="val 38461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4315968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Deterministic by default</a:t>
            </a:r>
          </a:p>
          <a:p>
            <a:pPr algn="l">
              <a:lnSpc>
                <a:spcPct val="103000"/>
              </a:lnSpc>
              <a:spcBef>
                <a:spcPts val="200"/>
              </a:spcBef>
            </a:pPr>
            <a:r>
              <a:rPr sz="1050" b="0">
                <a:solidFill>
                  <a:srgbClr val="52514E"/>
                </a:solidFill>
              </a:rPr>
              <a:t>temperature 0 on every call; the risky, must-be-right detections are rules, not prompts.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Reproducible by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669280" cy="3108960"/>
          </a:xfrm>
          <a:prstGeom prst="roundRect">
            <a:avLst>
              <a:gd name="adj" fmla="val 2941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048256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048256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16736" y="2048256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5212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8792A0"/>
                </a:solidFill>
                <a:latin typeface="Consolas"/>
              </a:rPr>
              <a:t>$ pytest -q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27C93F"/>
                </a:solidFill>
                <a:latin typeface="Consolas"/>
              </a:rPr>
              <a:t>............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27C93F"/>
                </a:solidFill>
                <a:latin typeface="Consolas"/>
              </a:rPr>
              <a:t>12 passed in 1.29s</a:t>
            </a:r>
          </a:p>
          <a:p>
            <a:pPr algn="l"/>
            <a:r>
              <a:rPr sz="600" b="0">
                <a:solidFill>
                  <a:srgbClr val="8792A0"/>
                </a:solidFill>
                <a:latin typeface="Consolas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8792A0"/>
                </a:solidFill>
                <a:latin typeface="Consolas"/>
              </a:rPr>
              <a:t># no credentials, no warehouse</a:t>
            </a:r>
          </a:p>
          <a:p>
            <a:pPr algn="l"/>
            <a:r>
              <a:rPr sz="1100" b="0">
                <a:solidFill>
                  <a:srgbClr val="8792A0"/>
                </a:solidFill>
                <a:latin typeface="Consolas"/>
              </a:rPr>
              <a:t># pins naming, all 4 drift types,</a:t>
            </a:r>
          </a:p>
          <a:p>
            <a:pPr algn="l"/>
            <a:r>
              <a:rPr sz="1100" b="0">
                <a:solidFill>
                  <a:srgbClr val="8792A0"/>
                </a:solidFill>
                <a:latin typeface="Consolas"/>
              </a:rPr>
              <a:t>#   blocker-vs-warning, lineage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10512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8A85"/>
                </a:solidFill>
              </a:rPr>
              <a:t>DETERMINISTIC NAME DERIVATION — REAL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212848"/>
            <a:ext cx="5020056" cy="475488"/>
          </a:xfrm>
          <a:prstGeom prst="roundRect">
            <a:avLst>
              <a:gd name="adj" fmla="val 1153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212848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2514E"/>
                </a:solidFill>
                <a:latin typeface="Consolas"/>
              </a:rPr>
              <a:t>cust_nm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2212848"/>
            <a:ext cx="457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A78D6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212848"/>
            <a:ext cx="23682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84F95"/>
                </a:solidFill>
                <a:latin typeface="Consolas"/>
              </a:rPr>
              <a:t>customer_name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2761488"/>
            <a:ext cx="5020056" cy="475488"/>
          </a:xfrm>
          <a:prstGeom prst="roundRect">
            <a:avLst>
              <a:gd name="adj" fmla="val 1153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761488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2514E"/>
                </a:solidFill>
                <a:latin typeface="Consolas"/>
              </a:rPr>
              <a:t>pol_start_dt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761488"/>
            <a:ext cx="457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A78D6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761488"/>
            <a:ext cx="23682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84F95"/>
                </a:solidFill>
                <a:latin typeface="Consolas"/>
              </a:rPr>
              <a:t>policy_start_date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1968" y="3310128"/>
            <a:ext cx="5020056" cy="475488"/>
          </a:xfrm>
          <a:prstGeom prst="roundRect">
            <a:avLst>
              <a:gd name="adj" fmla="val 1153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310128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2514E"/>
                </a:solidFill>
                <a:latin typeface="Consolas"/>
              </a:rPr>
              <a:t>claim_amt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3310128"/>
            <a:ext cx="457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A78D6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3310128"/>
            <a:ext cx="23682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84F95"/>
                </a:solidFill>
                <a:latin typeface="Consolas"/>
              </a:rPr>
              <a:t>claim_amount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01968" y="3858768"/>
            <a:ext cx="5020056" cy="475488"/>
          </a:xfrm>
          <a:prstGeom prst="roundRect">
            <a:avLst>
              <a:gd name="adj" fmla="val 1153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858768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2514E"/>
                </a:solidFill>
                <a:latin typeface="Consolas"/>
              </a:rPr>
              <a:t>prem_amt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3858768"/>
            <a:ext cx="457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A78D6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3858768"/>
            <a:ext cx="23682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84F95"/>
                </a:solidFill>
                <a:latin typeface="Consolas"/>
              </a:rPr>
              <a:t>premium_amount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4407407"/>
            <a:ext cx="5020056" cy="475488"/>
          </a:xfrm>
          <a:prstGeom prst="roundRect">
            <a:avLst>
              <a:gd name="adj" fmla="val 11538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4407407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2514E"/>
                </a:solidFill>
                <a:latin typeface="Consolas"/>
              </a:rPr>
              <a:t>stg_premium_txn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0808" y="4407407"/>
            <a:ext cx="457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A78D6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4407407"/>
            <a:ext cx="23682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84F95"/>
                </a:solidFill>
                <a:latin typeface="Consolas"/>
              </a:rPr>
              <a:t>premium_transaction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30368"/>
            <a:ext cx="11055096" cy="585216"/>
          </a:xfrm>
          <a:prstGeom prst="roundRect">
            <a:avLst>
              <a:gd name="adj" fmla="val 12500"/>
            </a:avLst>
          </a:prstGeom>
          <a:solidFill>
            <a:srgbClr val="E5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230368"/>
            <a:ext cx="82296" cy="585216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230368"/>
            <a:ext cx="1050645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181F"/>
                </a:solidFill>
              </a:rPr>
              <a:t>Same procedures + same rules → the same registry, lineage and code on every run. </a:t>
            </a:r>
            <a:r>
              <a:rPr sz="1250" b="0">
                <a:solidFill>
                  <a:srgbClr val="52514E"/>
                </a:solidFill>
              </a:rPr>
              <a:t>That is the auditability claim, tested.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WHY IT’S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Manual rewrite vs. GenAI-only vs.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493008" cy="3703320"/>
          </a:xfrm>
          <a:prstGeom prst="roundRect">
            <a:avLst>
              <a:gd name="adj" fmla="val 2617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3493008" cy="603504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28800"/>
            <a:ext cx="3493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</a:rPr>
              <a:t>Manual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8A85"/>
                </a:solidFill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670048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Weeks of engineer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36976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8A85"/>
                </a:solidFill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236976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Inconsistent between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03904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8A85"/>
                </a:solidFill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803904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Human error in SCD2 / joins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2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8A85"/>
                </a:solidFill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370832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Thin, after-the-fact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8A85"/>
                </a:solidFill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937760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No target-schema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544" y="1828800"/>
            <a:ext cx="3493008" cy="3703320"/>
          </a:xfrm>
          <a:prstGeom prst="roundRect">
            <a:avLst>
              <a:gd name="adj" fmla="val 2617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2544" y="1828800"/>
            <a:ext cx="3493008" cy="603504"/>
          </a:xfrm>
          <a:prstGeom prst="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1828800"/>
            <a:ext cx="3493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</a:rPr>
              <a:t>GenAI-only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670048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A81E"/>
                </a:solidFill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2670048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Fast to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236976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A81E"/>
                </a:solidFill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3236976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Hallucinates column names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3803904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A81E"/>
                </a:solidFill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3803904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Different answer each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6" y="4370832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A81E"/>
                </a:solidFill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4370832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No drift awareness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493776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A81E"/>
                </a:solidFill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4937760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514E"/>
                </a:solidFill>
              </a:rPr>
              <a:t>Opaque — hard to audit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1828800"/>
            <a:ext cx="3493008" cy="3703320"/>
          </a:xfrm>
          <a:prstGeom prst="roundRect">
            <a:avLst>
              <a:gd name="adj" fmla="val 2617"/>
            </a:avLst>
          </a:prstGeom>
          <a:solidFill>
            <a:srgbClr val="E5F5E5"/>
          </a:solidFill>
          <a:ln w="9525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828800"/>
            <a:ext cx="3493008" cy="603504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1828800"/>
            <a:ext cx="3493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</a:rPr>
              <a:t>This accelerator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2670048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8" y="2670048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Fast AND reproducible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236976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236976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Names come from lineage, not guesses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3803904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803904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Deterministic core, temp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4370832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4370832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Drift-gated before codegen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493776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5088" y="4937760"/>
            <a:ext cx="2670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181F"/>
                </a:solidFill>
              </a:rPr>
              <a:t>Fully logged, human-in-the-loop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4181F"/>
                </a:solidFill>
              </a:rPr>
              <a:t>Where it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37376"/>
            <a:ext cx="11055096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8A85"/>
                </a:solidFill>
              </a:rPr>
              <a:t>GenAI-Powered SQL → PySpark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6024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8A85"/>
                </a:solidFill>
              </a:rPr>
              <a:t>13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2002536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28800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More source dialects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28800"/>
            <a:ext cx="675741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2514E"/>
                </a:solidFill>
              </a:rPr>
              <a:t>PL/SQL, Snowflake and more through the dialect stub already threaded through the parser.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33472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" y="2807208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633472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Smarter, safe naming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33472"/>
            <a:ext cx="675741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2514E"/>
                </a:solidFill>
              </a:rPr>
              <a:t>Grow the abbreviation dictionary; GenAI-assisted expansions recorded at lower confidence for human confirmation.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38144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" y="3611879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438144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Drift → resolution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438144"/>
            <a:ext cx="675741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2514E"/>
                </a:solidFill>
              </a:rPr>
              <a:t>Approve a drift, auto-adopt EXTRA columns, and re-drive codegen from the reviewed registry.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42816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4416552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242816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Orchestration &amp; 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242816"/>
            <a:ext cx="675741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2514E"/>
                </a:solidFill>
              </a:rPr>
              <a:t>Push generated notebooks to the workspace (uploader stubbed) and wire into Jobs / DLT.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47488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6384" y="5221224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5047488"/>
            <a:ext cx="3200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4181F"/>
                </a:solidFill>
              </a:rPr>
              <a:t>CI drift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5047488"/>
            <a:ext cx="675741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2514E"/>
                </a:solidFill>
              </a:rPr>
              <a:t>Fail the build when a new BLOCKER drift appears — migration stays honest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BB8E8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874519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</a:rPr>
              <a:t>Stored procedures in.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9BB8E8"/>
                </a:solidFill>
              </a:rPr>
              <a:t>Trustworthy PySpark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3794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3794760"/>
            <a:ext cx="7315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968496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Deterministic-first</a:t>
            </a:r>
          </a:p>
          <a:p>
            <a:pPr algn="l">
              <a:lnSpc>
                <a:spcPct val="102000"/>
              </a:lnSpc>
              <a:spcBef>
                <a:spcPts val="300"/>
              </a:spcBef>
            </a:pPr>
            <a:r>
              <a:rPr sz="1000" b="0">
                <a:solidFill>
                  <a:srgbClr val="C9CDD4"/>
                </a:solidFill>
              </a:rPr>
              <a:t>rules do the must-be-right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3794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3087" y="3794760"/>
            <a:ext cx="7315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3968496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Metadata is truth</a:t>
            </a:r>
          </a:p>
          <a:p>
            <a:pPr algn="l">
              <a:lnSpc>
                <a:spcPct val="102000"/>
              </a:lnSpc>
              <a:spcBef>
                <a:spcPts val="300"/>
              </a:spcBef>
            </a:pPr>
            <a:r>
              <a:rPr sz="1000" b="0">
                <a:solidFill>
                  <a:srgbClr val="C9CDD4"/>
                </a:solidFill>
              </a:rPr>
              <a:t>registry + lineage, generated &amp; audited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2088" y="3794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2088" y="3794760"/>
            <a:ext cx="7315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81544" y="3968496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Drift-gated</a:t>
            </a:r>
          </a:p>
          <a:p>
            <a:pPr algn="l">
              <a:lnSpc>
                <a:spcPct val="102000"/>
              </a:lnSpc>
              <a:spcBef>
                <a:spcPts val="300"/>
              </a:spcBef>
            </a:pPr>
            <a:r>
              <a:rPr sz="1000" b="0">
                <a:solidFill>
                  <a:srgbClr val="C9CDD4"/>
                </a:solidFill>
              </a:rPr>
              <a:t>stop before shipping wrong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Questions welcome.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792A0"/>
                </a:solidFill>
              </a:rPr>
              <a:t>GenAI-Powered SQL → PySpark Accelerator (v3)  ·  medallion · metadata-driven · audit-ready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