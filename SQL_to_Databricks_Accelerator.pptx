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the hardest part of a lakehouse migration isn't the data, it's the hundreds of stored procedures. We built an accelerator that converts them and stays trustworthy enough for regulated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pain: manual rewrite is slow/inconsistent; LLM-only is fast but hallucinates and isn't reproducible; and nobody checks that the target schema already drifted from what the procedures assume.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three bets. Determinism where correctness matters, metadata as the single source of truth, and drift detection as a gate before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 phases left to right. Note drift (red) is the gate. Every phase writes an execution_log row; everything mirrors to CSV; offline mode runs everything except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insight: the LLM only touches std-&gt;dwh, and even there it's handed exact names from lineage. raw-&gt;std is a pure template -&gt; byte-identical output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Drift is the differentiator. Four types, severity drives the pipeline. The dark panel shows REAL findings from this run: two blockers and one warning, produced deterministically.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in one slide. Five procedures engineered to hit five realistic outcomes: clean convert, two blockers, a recoverable type warning, and a dynamic-SQL human-review packet.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is the contract. Codegen resolves names through it, so code and lineage can't disagree. These are real rows for the customer dimension, with business-key and SCD2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an enterprise can trust it: append-only metadata with deterministic IDs, a full execution log, LLM prompt/response audit, human-in-the-loop, and offline inspectability.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12 deterministic tests pass in ~1.3s with no credentials. Real naming derivations shown on the right. temperature 0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against the alternatives. We keep the speed of generation and add the reproducibility, drift-awareness and audit trail the other two 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Roadmap: more dialects, safer naming, a drift-&gt;resolution workflow, workspace orchestration, and a CI gate that fails on new blocker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tagline and the three principles.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170432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200">
                <a:solidFill>
                  <a:srgbClr val="2A78D6"/>
                </a:solidFill>
                <a:latin typeface="Segoe UI"/>
              </a:rPr>
              <a:t>HACKATHON 2026  · 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627632"/>
            <a:ext cx="8138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14181F"/>
                </a:solidFill>
                <a:latin typeface="Segoe UI"/>
              </a:rPr>
              <a:t>SQL → Databricks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4600" b="1" i="0">
                <a:solidFill>
                  <a:srgbClr val="14181F"/>
                </a:solidFill>
                <a:latin typeface="Segoe UI"/>
              </a:rPr>
              <a:t>Migration Accelerator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310128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2918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52514E"/>
                </a:solidFill>
                <a:latin typeface="Segoe UI"/>
              </a:rPr>
              <a:t>Stored procedures in.  Governed lakehouse pipelines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968496"/>
            <a:ext cx="3017520" cy="18288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133087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Deterministic where it must be repeatable.  </a:t>
            </a:r>
            <a:r>
              <a:rPr sz="1350" b="1" i="0">
                <a:solidFill>
                  <a:srgbClr val="184F95"/>
                </a:solidFill>
                <a:latin typeface="Segoe UI"/>
              </a:rPr>
              <a:t>AI only where judgment helps.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138928"/>
            <a:ext cx="2590800" cy="822960"/>
          </a:xfrm>
          <a:prstGeom prst="roundRect">
            <a:avLst>
              <a:gd name="adj" fmla="val 10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5138928"/>
            <a:ext cx="64008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48656"/>
            <a:ext cx="2279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Deterministic-first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egoe UI"/>
              </a:rPr>
              <a:t>rules do the must-be-right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6912" y="5138928"/>
            <a:ext cx="2590800" cy="822960"/>
          </a:xfrm>
          <a:prstGeom prst="roundRect">
            <a:avLst>
              <a:gd name="adj" fmla="val 10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6912" y="5138928"/>
            <a:ext cx="64008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8080" y="5248656"/>
            <a:ext cx="2279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Metadata is truth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egoe UI"/>
              </a:rPr>
              <a:t>registry + lineage, 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0592" y="5138928"/>
            <a:ext cx="2590800" cy="822960"/>
          </a:xfrm>
          <a:prstGeom prst="roundRect">
            <a:avLst>
              <a:gd name="adj" fmla="val 10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0592" y="5138928"/>
            <a:ext cx="64008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0" y="5248656"/>
            <a:ext cx="2279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Drift-gated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egoe UI"/>
              </a:rPr>
              <a:t>stop before shipping wrong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783080"/>
            <a:ext cx="2148840" cy="603504"/>
          </a:xfrm>
          <a:prstGeom prst="roundRect">
            <a:avLst>
              <a:gd name="adj" fmla="val 14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300" b="1" i="0" spc="160">
                <a:solidFill>
                  <a:srgbClr val="184F95"/>
                </a:solidFill>
                <a:latin typeface="Segoe UI"/>
              </a:rPr>
              <a:t>RAW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551176"/>
            <a:ext cx="2148840" cy="603504"/>
          </a:xfrm>
          <a:prstGeom prst="roundRect">
            <a:avLst>
              <a:gd name="adj" fmla="val 14000"/>
            </a:avLst>
          </a:prstGeom>
          <a:solidFill>
            <a:srgbClr val="CFE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300" b="1" i="0" spc="160">
                <a:solidFill>
                  <a:srgbClr val="184F95"/>
                </a:solidFill>
                <a:latin typeface="Segoe UI"/>
              </a:rPr>
              <a:t>STD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3319272"/>
            <a:ext cx="2148840" cy="603504"/>
          </a:xfrm>
          <a:prstGeom prst="roundRect">
            <a:avLst>
              <a:gd name="adj" fmla="val 14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300" b="1" i="0" spc="160">
                <a:solidFill>
                  <a:srgbClr val="FFFFFF"/>
                </a:solidFill>
                <a:latin typeface="Segoe UI"/>
              </a:rPr>
              <a:t>DWH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04164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8A8A85"/>
                </a:solidFill>
                <a:latin typeface="Segoe UI"/>
              </a:rPr>
              <a:t>medallion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62544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8A85"/>
                </a:solidFill>
                <a:latin typeface="Segoe U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Migrating the stored procedures is the hard 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57839" cy="969264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73152" cy="969264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2024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2E1D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38528"/>
            <a:ext cx="9686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181F"/>
                </a:solidFill>
                <a:latin typeface="Segoe UI"/>
              </a:rPr>
              <a:t>Lift-and-shift moves the tables. The logic doesn’t.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Hundreds of T-SQL stored procedures carry the real work — SCD2 merges, fact loads, aggregations. That’s the part a migration stalls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0360"/>
            <a:ext cx="11057839" cy="969264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880360"/>
            <a:ext cx="73152" cy="969264"/>
          </a:xfrm>
          <a:prstGeom prst="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2E1DB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035808"/>
            <a:ext cx="9686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181F"/>
                </a:solidFill>
                <a:latin typeface="Segoe UI"/>
              </a:rPr>
              <a:t>Manual rewrite is slow and inconsistent.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Every engineer converts a MERGE a little differently. Weeks of effort, human error, and a thin audit trail at the 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77639"/>
            <a:ext cx="11057839" cy="969264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977639"/>
            <a:ext cx="73152" cy="96926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11480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2E1DB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4133087"/>
            <a:ext cx="9686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181F"/>
                </a:solidFill>
                <a:latin typeface="Segoe UI"/>
              </a:rPr>
              <a:t>“Just ask an LLM” fails the trust test.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It hallucinates column names, invents transforms, and answers differently each run — unacceptable for regulated data (insurance, finance).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74920"/>
            <a:ext cx="11057839" cy="969264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074920"/>
            <a:ext cx="73152" cy="96926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21208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2E1DB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5230368"/>
            <a:ext cx="96862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181F"/>
                </a:solidFill>
                <a:latin typeface="Segoe UI"/>
              </a:rPr>
              <a:t>Nobody checks the target first.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The lakehouse raw layer has already drifted from what the procedures assume. Broken code isn’t discovered until it runs in production.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Split the work by what has to be trustworthy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472586" cy="3383280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874519"/>
            <a:ext cx="3472586" cy="128016"/>
          </a:xfrm>
          <a:prstGeom prst="round2Same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7776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1" i="0">
                <a:solidFill>
                  <a:srgbClr val="14181F"/>
                </a:solidFill>
                <a:latin typeface="Segoe UI"/>
              </a:rPr>
              <a:t>Deterministic-first, LLM-second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277764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Rules and templates do the must-be-repeatable work: parsing, name derivation, type mapping, drift, lineage. The model only fills the semantic gaps a rule can’t.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9554" y="1874519"/>
            <a:ext cx="3472586" cy="3383280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359554" y="1874519"/>
            <a:ext cx="3472586" cy="128016"/>
          </a:xfrm>
          <a:prstGeom prst="round2Same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7026" y="2286000"/>
            <a:ext cx="566928" cy="566928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7026" y="3108960"/>
            <a:ext cx="27776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1" i="0">
                <a:solidFill>
                  <a:srgbClr val="14181F"/>
                </a:solidFill>
                <a:latin typeface="Segoe UI"/>
              </a:rPr>
              <a:t>Metadata is the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7026" y="3977639"/>
            <a:ext cx="277764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A schema registry is generated from the procedures, and a lineage table records every column’s journey. Generated code resolves names through lineage — not free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2180" y="1874519"/>
            <a:ext cx="3472586" cy="3383280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52180" y="1874519"/>
            <a:ext cx="3472586" cy="128016"/>
          </a:xfrm>
          <a:prstGeom prst="round2Same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99652" y="2286000"/>
            <a:ext cx="566928" cy="566928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9652" y="3108960"/>
            <a:ext cx="27776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1" i="0">
                <a:solidFill>
                  <a:srgbClr val="14181F"/>
                </a:solidFill>
                <a:latin typeface="Segoe UI"/>
              </a:rPr>
              <a:t>Detect drift before you 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9652" y="3977639"/>
            <a:ext cx="277764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Compare what the procedures assume against the LIVE target schema. A blocker stops code generation instead of shipping something that breaks at runtime.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14181F"/>
                </a:solidFill>
                <a:latin typeface="Segoe UI"/>
              </a:rPr>
              <a:t>The result: the speed of generation with the reproducibility and audit trail a regulated migration demands.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One pipeline, five phases, every step logged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2050633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965960"/>
            <a:ext cx="2050633" cy="91440"/>
          </a:xfrm>
          <a:prstGeom prst="round2Same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67128"/>
            <a:ext cx="179460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 spc="120">
                <a:solidFill>
                  <a:srgbClr val="2A78D6"/>
                </a:solidFill>
                <a:latin typeface="Segoe UI"/>
              </a:rPr>
              <a:t>PHASE 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50" b="1" i="0">
                <a:solidFill>
                  <a:srgbClr val="14181F"/>
                </a:solidFill>
                <a:latin typeface="Segoe UI"/>
              </a:rPr>
              <a:t>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834639"/>
            <a:ext cx="179460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T-SQL → ProcedureIR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flags dynamic SQL / cursors</a:t>
            </a:r>
          </a:p>
        </p:txBody>
      </p:sp>
      <p:sp>
        <p:nvSpPr>
          <p:cNvPr id="9" name="Chevron 8"/>
          <p:cNvSpPr/>
          <p:nvPr/>
        </p:nvSpPr>
        <p:spPr>
          <a:xfrm>
            <a:off x="2635849" y="2624328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8729" y="1965960"/>
            <a:ext cx="2050633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2818729" y="1965960"/>
            <a:ext cx="2050633" cy="91440"/>
          </a:xfrm>
          <a:prstGeom prst="round2Same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6745" y="2167128"/>
            <a:ext cx="179460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 spc="120">
                <a:solidFill>
                  <a:srgbClr val="2A78D6"/>
                </a:solidFill>
                <a:latin typeface="Segoe UI"/>
              </a:rPr>
              <a:t>PHASE 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50" b="1" i="0">
                <a:solidFill>
                  <a:srgbClr val="14181F"/>
                </a:solidFill>
                <a:latin typeface="Segoe UI"/>
              </a:rPr>
              <a:t>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6745" y="2834639"/>
            <a:ext cx="179460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IR → schema_registry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source→target, generated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7650" y="2624328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0530" y="1965960"/>
            <a:ext cx="2050633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070530" y="1965960"/>
            <a:ext cx="2050633" cy="91440"/>
          </a:xfrm>
          <a:prstGeom prst="round2Same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8546" y="2167128"/>
            <a:ext cx="179460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 spc="120">
                <a:solidFill>
                  <a:srgbClr val="D03B3B"/>
                </a:solidFill>
                <a:latin typeface="Segoe UI"/>
              </a:rPr>
              <a:t>PHASE 2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50" b="1" i="0">
                <a:solidFill>
                  <a:srgbClr val="14181F"/>
                </a:solidFill>
                <a:latin typeface="Segoe UI"/>
              </a:rPr>
              <a:t>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8546" y="2834639"/>
            <a:ext cx="179460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registry vs LIVE raw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blockers stop codegen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39452" y="2624328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22332" y="1965960"/>
            <a:ext cx="2050633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7322332" y="1965960"/>
            <a:ext cx="2050633" cy="91440"/>
          </a:xfrm>
          <a:prstGeom prst="round2Same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0348" y="2167128"/>
            <a:ext cx="179460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 spc="120">
                <a:solidFill>
                  <a:srgbClr val="2A78D6"/>
                </a:solidFill>
                <a:latin typeface="Segoe UI"/>
              </a:rPr>
              <a:t>PHASE 3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50" b="1" i="0">
                <a:solidFill>
                  <a:srgbClr val="14181F"/>
                </a:solidFill>
                <a:latin typeface="Segoe UI"/>
              </a:rPr>
              <a:t>Lineage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348" y="2834639"/>
            <a:ext cx="179460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registry → lineage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raw→std→dwh per column</a:t>
            </a:r>
          </a:p>
        </p:txBody>
      </p:sp>
      <p:sp>
        <p:nvSpPr>
          <p:cNvPr id="24" name="Chevron 23"/>
          <p:cNvSpPr/>
          <p:nvPr/>
        </p:nvSpPr>
        <p:spPr>
          <a:xfrm>
            <a:off x="9391253" y="2624328"/>
            <a:ext cx="164592" cy="256032"/>
          </a:xfrm>
          <a:prstGeom prst="chevron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74133" y="1965960"/>
            <a:ext cx="2050633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9574133" y="1965960"/>
            <a:ext cx="2050633" cy="91440"/>
          </a:xfrm>
          <a:prstGeom prst="round2Same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2149" y="2167128"/>
            <a:ext cx="179460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 spc="120">
                <a:solidFill>
                  <a:srgbClr val="2A78D6"/>
                </a:solidFill>
                <a:latin typeface="Segoe UI"/>
              </a:rPr>
              <a:t>PHASE 4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50" b="1" i="0">
                <a:solidFill>
                  <a:srgbClr val="14181F"/>
                </a:solidFill>
                <a:latin typeface="Segoe UI"/>
              </a:rPr>
              <a:t>Codegen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2149" y="2834639"/>
            <a:ext cx="179460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lineage → notebooks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raw→std det. · std→dwh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977639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60">
                <a:solidFill>
                  <a:srgbClr val="8A8A85"/>
                </a:solidFill>
                <a:latin typeface="Segoe UI"/>
              </a:rPr>
              <a:t>APPEND-ONLY METADATA · written every run, deterministic IDs, mirrored to 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288536"/>
            <a:ext cx="2627299" cy="56692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288536"/>
            <a:ext cx="64008" cy="566928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288536"/>
            <a:ext cx="23529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8A85"/>
                </a:solidFill>
                <a:latin typeface="Segoe UI"/>
              </a:rPr>
              <a:t>metadata.</a:t>
            </a:r>
            <a:r>
              <a:rPr sz="1150" b="1" i="0">
                <a:solidFill>
                  <a:srgbClr val="14181F"/>
                </a:solidFill>
                <a:latin typeface="Segoe UI"/>
              </a:rPr>
              <a:t>schema_registry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7107" y="4288536"/>
            <a:ext cx="2627299" cy="56692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77107" y="4288536"/>
            <a:ext cx="64008" cy="566928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59987" y="4288536"/>
            <a:ext cx="23529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8A85"/>
                </a:solidFill>
                <a:latin typeface="Segoe UI"/>
              </a:rPr>
              <a:t>metadata.</a:t>
            </a:r>
            <a:r>
              <a:rPr sz="1150" b="1" i="0">
                <a:solidFill>
                  <a:srgbClr val="14181F"/>
                </a:solidFill>
                <a:latin typeface="Segoe UI"/>
              </a:rPr>
              <a:t>schema_drift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4288536"/>
            <a:ext cx="2627299" cy="56692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7287" y="4288536"/>
            <a:ext cx="64008" cy="566928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0167" y="4288536"/>
            <a:ext cx="23529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8A85"/>
                </a:solidFill>
                <a:latin typeface="Segoe UI"/>
              </a:rPr>
              <a:t>metadata.</a:t>
            </a:r>
            <a:r>
              <a:rPr sz="1150" b="1" i="0">
                <a:solidFill>
                  <a:srgbClr val="14181F"/>
                </a:solidFill>
                <a:latin typeface="Segoe UI"/>
              </a:rPr>
              <a:t>lineage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7467" y="4288536"/>
            <a:ext cx="2627299" cy="56692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97467" y="4288536"/>
            <a:ext cx="64008" cy="566928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0347" y="4288536"/>
            <a:ext cx="23529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A8A85"/>
                </a:solidFill>
                <a:latin typeface="Segoe UI"/>
              </a:rPr>
              <a:t>metadata.</a:t>
            </a:r>
            <a:r>
              <a:rPr sz="1150" b="1" i="0">
                <a:solidFill>
                  <a:srgbClr val="14181F"/>
                </a:solidFill>
                <a:latin typeface="Segoe UI"/>
              </a:rPr>
              <a:t>execution_log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029200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029200"/>
            <a:ext cx="1054577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14181F"/>
                </a:solidFill>
                <a:latin typeface="Segoe UI"/>
              </a:rPr>
              <a:t>Offline mode runs Parse → Registry → Lineage → Codegen with no warehouse (drift skipped). </a:t>
            </a:r>
            <a:r>
              <a:rPr sz="1200" b="1" i="0">
                <a:solidFill>
                  <a:srgbClr val="184F95"/>
                </a:solidFill>
                <a:latin typeface="Segoe UI"/>
              </a:rPr>
              <a:t>Every phase writes an execution_log row — the answer to “what did it do, and when.”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THE CORE 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The LLM touches exactly one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346039" cy="3246120"/>
          </a:xfrm>
          <a:prstGeom prst="roundRect">
            <a:avLst>
              <a:gd name="adj" fmla="val 4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828800"/>
            <a:ext cx="5346039" cy="566928"/>
          </a:xfrm>
          <a:prstGeom prst="round2Same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888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DETERMINISTIC  ·  rules &amp; templates</a:t>
            </a:r>
          </a:p>
        </p:txBody>
      </p:sp>
      <p:sp>
        <p:nvSpPr>
          <p:cNvPr id="8" name="Oval 7"/>
          <p:cNvSpPr/>
          <p:nvPr/>
        </p:nvSpPr>
        <p:spPr>
          <a:xfrm>
            <a:off x="841247" y="2642615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560320"/>
            <a:ext cx="461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4181F"/>
                </a:solidFill>
                <a:latin typeface="Segoe UI"/>
              </a:rPr>
              <a:t>Table extraction (sqlglot + regex fallback)</a:t>
            </a:r>
          </a:p>
        </p:txBody>
      </p:sp>
      <p:sp>
        <p:nvSpPr>
          <p:cNvPr id="10" name="Oval 9"/>
          <p:cNvSpPr/>
          <p:nvPr/>
        </p:nvSpPr>
        <p:spPr>
          <a:xfrm>
            <a:off x="841247" y="2985515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903220"/>
            <a:ext cx="461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4181F"/>
                </a:solidFill>
                <a:latin typeface="Segoe UI"/>
              </a:rPr>
              <a:t>Dynamic-SQL / cursor detection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3328415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246120"/>
            <a:ext cx="461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4181F"/>
                </a:solidFill>
                <a:latin typeface="Segoe UI"/>
              </a:rPr>
              <a:t>Name derivation  cust_nm → customer_name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3671315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589020"/>
            <a:ext cx="461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4181F"/>
                </a:solidFill>
                <a:latin typeface="Segoe UI"/>
              </a:rPr>
              <a:t>SQL Server → Spark type mapping</a:t>
            </a:r>
          </a:p>
        </p:txBody>
      </p:sp>
      <p:sp>
        <p:nvSpPr>
          <p:cNvPr id="16" name="Oval 15"/>
          <p:cNvSpPr/>
          <p:nvPr/>
        </p:nvSpPr>
        <p:spPr>
          <a:xfrm>
            <a:off x="841247" y="4014215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931920"/>
            <a:ext cx="461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4181F"/>
                </a:solidFill>
                <a:latin typeface="Segoe UI"/>
              </a:rPr>
              <a:t>Schema-drift detection (4 types)</a:t>
            </a:r>
          </a:p>
        </p:txBody>
      </p:sp>
      <p:sp>
        <p:nvSpPr>
          <p:cNvPr id="18" name="Oval 17"/>
          <p:cNvSpPr/>
          <p:nvPr/>
        </p:nvSpPr>
        <p:spPr>
          <a:xfrm>
            <a:off x="841247" y="4357116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274820"/>
            <a:ext cx="461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4181F"/>
                </a:solidFill>
                <a:latin typeface="Segoe UI"/>
              </a:rPr>
              <a:t>Lineage assembly (raw → std → dwh)</a:t>
            </a:r>
          </a:p>
        </p:txBody>
      </p:sp>
      <p:sp>
        <p:nvSpPr>
          <p:cNvPr id="20" name="Oval 19"/>
          <p:cNvSpPr/>
          <p:nvPr/>
        </p:nvSpPr>
        <p:spPr>
          <a:xfrm>
            <a:off x="841247" y="4700016"/>
            <a:ext cx="91440" cy="91440"/>
          </a:xfrm>
          <a:prstGeom prst="ellipse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617720"/>
            <a:ext cx="461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4181F"/>
                </a:solidFill>
                <a:latin typeface="Segoe UI"/>
              </a:rPr>
              <a:t>raw → std code — a Python template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1828800"/>
            <a:ext cx="5346039" cy="3246120"/>
          </a:xfrm>
          <a:prstGeom prst="roundRect">
            <a:avLst>
              <a:gd name="adj" fmla="val 4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6278727" y="1828800"/>
            <a:ext cx="5346039" cy="566928"/>
          </a:xfrm>
          <a:prstGeom prst="round2Same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4759" y="1828800"/>
            <a:ext cx="48888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LLM  ·  grounded on lineage</a:t>
            </a:r>
          </a:p>
        </p:txBody>
      </p:sp>
      <p:sp>
        <p:nvSpPr>
          <p:cNvPr id="25" name="Oval 24"/>
          <p:cNvSpPr/>
          <p:nvPr/>
        </p:nvSpPr>
        <p:spPr>
          <a:xfrm>
            <a:off x="6553047" y="2770632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1647" y="2697480"/>
            <a:ext cx="456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Semantic parse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load pattern, business keys, transform intent</a:t>
            </a:r>
          </a:p>
        </p:txBody>
      </p:sp>
      <p:sp>
        <p:nvSpPr>
          <p:cNvPr id="27" name="Oval 26"/>
          <p:cNvSpPr/>
          <p:nvPr/>
        </p:nvSpPr>
        <p:spPr>
          <a:xfrm>
            <a:off x="6553047" y="3557016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1647" y="3483864"/>
            <a:ext cx="456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std → dwh business logic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SCD2 merges, joins, aggregations, derived columns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3047" y="4370832"/>
            <a:ext cx="479739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9351" y="4370832"/>
            <a:ext cx="4523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Prompt carries the </a:t>
            </a:r>
            <a:r>
              <a:rPr sz="1050" b="1" i="0">
                <a:solidFill>
                  <a:srgbClr val="184F95"/>
                </a:solidFill>
                <a:latin typeface="Segoe UI"/>
              </a:rPr>
              <a:t>exact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std &amp; dwh column names from lineage. temperature = 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285232"/>
            <a:ext cx="11057839" cy="566928"/>
          </a:xfrm>
          <a:prstGeom prst="roundRect">
            <a:avLst>
              <a:gd name="adj" fmla="val 8000"/>
            </a:avLst>
          </a:prstGeom>
          <a:solidFill>
            <a:srgbClr val="E5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285232"/>
            <a:ext cx="82296" cy="5669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5285232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Because raw → std is a template, regenerating produces byte-identical output — same input, same code, every run.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Catch schema drift before a line of code is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60">
                <a:solidFill>
                  <a:srgbClr val="8A8A85"/>
                </a:solidFill>
                <a:latin typeface="Segoe UI"/>
              </a:rPr>
              <a:t>FOUR DRIFT TYPES  →  SEVERITY DRIVES THE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73152" cy="65836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3113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MISSING_TABLE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Segoe UI"/>
              </a:rPr>
              <a:t>procedure reads a table raw doesn’t have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8496" y="2340864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6936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916936"/>
            <a:ext cx="73152" cy="65836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9923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MISSING_COLUMN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Segoe UI"/>
              </a:rPr>
              <a:t>column used but absent from the raw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496" y="310896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BLOCKER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85032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685032"/>
            <a:ext cx="73152" cy="658368"/>
          </a:xfrm>
          <a:prstGeom prst="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7673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TYPE_MISMATCH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Segoe UI"/>
              </a:rPr>
              <a:t>raw landed a different type than implied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68496" y="3877056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14181F"/>
                </a:solidFill>
                <a:latin typeface="Segoe UI"/>
              </a:rPr>
              <a:t>WARNING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53128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453128"/>
            <a:ext cx="73152" cy="65836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35424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EXTRA_COLUMN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Segoe UI"/>
              </a:rPr>
              <a:t>raw has a column no procedure uses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8496" y="4645152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AUTO-ADOPT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4688" y="1783080"/>
            <a:ext cx="6120079" cy="4023360"/>
          </a:xfrm>
          <a:prstGeom prst="roundRect">
            <a:avLst>
              <a:gd name="adj" fmla="val 3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1993392"/>
            <a:ext cx="5571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20">
                <a:solidFill>
                  <a:srgbClr val="9BB8E8"/>
                </a:solidFill>
                <a:latin typeface="Segoe UI"/>
              </a:rPr>
              <a:t>LIVE FINDINGS — THIS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79008" y="2432304"/>
            <a:ext cx="5571439" cy="932688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1888" y="2551176"/>
            <a:ext cx="4291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deductible_amt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26319" y="256032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BLOCKER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2907792"/>
            <a:ext cx="5342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BB8E8"/>
                </a:solidFill>
                <a:latin typeface="Consolas"/>
              </a:rPr>
              <a:t>MISSING_COLUMN  ·  </a:t>
            </a:r>
            <a:r>
              <a:rPr sz="950" b="0" i="0">
                <a:solidFill>
                  <a:srgbClr val="C9CDD4"/>
                </a:solidFill>
                <a:latin typeface="Segoe UI"/>
              </a:rPr>
              <a:t>raw.stg_claims has no deductible_amt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79008" y="3474720"/>
            <a:ext cx="5571439" cy="932688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3593591"/>
            <a:ext cx="4291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prem_amt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26319" y="3602736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14181F"/>
                </a:solidFill>
                <a:latin typeface="Segoe UI"/>
              </a:rPr>
              <a:t>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3950208"/>
            <a:ext cx="5342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BB8E8"/>
                </a:solidFill>
                <a:latin typeface="Consolas"/>
              </a:rPr>
              <a:t>TYPE_MISMATCH  ·  </a:t>
            </a:r>
            <a:r>
              <a:rPr sz="950" b="0" i="0">
                <a:solidFill>
                  <a:srgbClr val="C9CDD4"/>
                </a:solidFill>
                <a:latin typeface="Segoe UI"/>
              </a:rPr>
              <a:t>implies decimal(18,2)  ·  raw has string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79008" y="4517136"/>
            <a:ext cx="5571439" cy="932688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4636007"/>
            <a:ext cx="4291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stg_premium_txn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26319" y="4645151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BLOCKER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4992623"/>
            <a:ext cx="5342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BB8E8"/>
                </a:solidFill>
                <a:latin typeface="Consolas"/>
              </a:rPr>
              <a:t>MISSING_TABLE  ·  </a:t>
            </a:r>
            <a:r>
              <a:rPr sz="950" b="0" i="0">
                <a:solidFill>
                  <a:srgbClr val="C9CDD4"/>
                </a:solidFill>
                <a:latin typeface="Segoe UI"/>
              </a:rPr>
              <a:t>raw.stg_premium_txn does not exist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008" y="5486400"/>
            <a:ext cx="557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8792A0"/>
                </a:solidFill>
                <a:latin typeface="Segoe UI"/>
              </a:rPr>
              <a:t>2 procedures blocked · fully deterministic · every finding reproducible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Five sample procedures — five outcomes it handles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2050633" cy="896112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737360"/>
            <a:ext cx="2050633" cy="82296"/>
          </a:xfrm>
          <a:prstGeom prst="round2Same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205063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95728"/>
            <a:ext cx="20506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procedures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8729" y="1737360"/>
            <a:ext cx="2050633" cy="896112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2818729" y="1737360"/>
            <a:ext cx="2050633" cy="82296"/>
          </a:xfrm>
          <a:prstGeom prst="round2Same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8729" y="1883664"/>
            <a:ext cx="205063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CA30C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8729" y="2395728"/>
            <a:ext cx="20506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clean convert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0530" y="1737360"/>
            <a:ext cx="2050633" cy="896112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70530" y="1737360"/>
            <a:ext cx="2050633" cy="82296"/>
          </a:xfrm>
          <a:prstGeom prst="round2Same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0530" y="1883664"/>
            <a:ext cx="205063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D03B3B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0530" y="2395728"/>
            <a:ext cx="20506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blocked by 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2332" y="1737360"/>
            <a:ext cx="2050633" cy="896112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7322332" y="1737360"/>
            <a:ext cx="2050633" cy="82296"/>
          </a:xfrm>
          <a:prstGeom prst="round2Same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2332" y="1883664"/>
            <a:ext cx="205063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0A81E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2332" y="2395728"/>
            <a:ext cx="20506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type warning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4133" y="1737360"/>
            <a:ext cx="2050633" cy="896112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9574133" y="1737360"/>
            <a:ext cx="2050633" cy="82296"/>
          </a:xfrm>
          <a:prstGeom prst="round2Same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4133" y="1883664"/>
            <a:ext cx="205063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4A3AA7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4133" y="2395728"/>
            <a:ext cx="20506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</a:rPr>
              <a:t>human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8529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8A8A85"/>
                </a:solidFill>
                <a:latin typeface="Segoe UI"/>
              </a:rPr>
              <a:t>#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28529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8A8A85"/>
                </a:solidFill>
                <a:latin typeface="Segoe UI"/>
              </a:rPr>
              <a:t>PROCEDURE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85292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8A8A85"/>
                </a:solidFill>
                <a:latin typeface="Segoe UI"/>
              </a:rPr>
              <a:t>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3016" y="285292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8A8A85"/>
                </a:solidFill>
                <a:latin typeface="Segoe UI"/>
              </a:rPr>
              <a:t>WHAT THE ACCELERATOR DID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285292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8A8A85"/>
                </a:solidFill>
                <a:latin typeface="Segoe UI"/>
              </a:rPr>
              <a:t>OUTCOME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145536"/>
            <a:ext cx="11057839" cy="18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726180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163824"/>
            <a:ext cx="38404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8A85"/>
                </a:solidFill>
                <a:latin typeface="Segoe U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3163824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usp_Load_Dim_Customer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3163824"/>
            <a:ext cx="2148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SCD2 dimension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163824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Clean baseline — converts end to 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0656" y="331470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CONVERTED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302252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739896"/>
            <a:ext cx="38404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8A85"/>
                </a:solidFill>
                <a:latin typeface="Segoe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3739896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usp_Load_Fact_Claims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94176" y="3739896"/>
            <a:ext cx="2148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Fact · temp table · joins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3016" y="3739896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deductible_amt missing from raw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0656" y="3890772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BLOCKED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878324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4315968"/>
            <a:ext cx="38404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8A85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4315968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usp_Load_Dim_Policy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94176" y="4315968"/>
            <a:ext cx="2148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SCD2 dimension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3016" y="4315968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prem_amt is STRING in raw — recoverable cast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20656" y="446684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14181F"/>
                </a:solidFill>
                <a:latin typeface="Segoe UI"/>
              </a:rPr>
              <a:t>WARNING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45439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892040"/>
            <a:ext cx="38404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8A85"/>
                </a:solidFill>
                <a:latin typeface="Segoe U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" y="4892040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usp_Load_Fact_Premium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176" y="4892040"/>
            <a:ext cx="2148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Aggregate / GROUP BY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3016" y="4892040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stg_premium_txn not landed in raw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0656" y="5042916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BLOCKED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6030468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468112"/>
            <a:ext cx="38404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8A85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" y="5468112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181F"/>
                </a:solidFill>
                <a:latin typeface="Consolas"/>
              </a:rPr>
              <a:t>usp_Purge_Old_Partitions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176" y="5468112"/>
            <a:ext cx="2148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Dynamic SQL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3016" y="5468112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Target unknowable → review packet written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20656" y="5618988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HUMAN REVIEW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Lineage is the contract codegen can’t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Every column’s full journey is recorded once — </a:t>
            </a:r>
            <a:r>
              <a:rPr sz="1300" b="1" i="0">
                <a:solidFill>
                  <a:srgbClr val="184F95"/>
                </a:solidFill>
                <a:latin typeface="Consolas"/>
              </a:rPr>
              <a:t>raw → std (transform) → dwh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. Codegen resolves names through this table, so generated code and recorded lineage can never disagree.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974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30">
                <a:solidFill>
                  <a:srgbClr val="8A8A85"/>
                </a:solidFill>
                <a:latin typeface="Segoe UI"/>
              </a:rPr>
              <a:t>RAW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288" y="26974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30">
                <a:solidFill>
                  <a:srgbClr val="8A8A85"/>
                </a:solidFill>
                <a:latin typeface="Segoe UI"/>
              </a:rPr>
              <a:t>STD COLUMN  (TRANSFORM)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6327" y="26974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30">
                <a:solidFill>
                  <a:srgbClr val="8A8A85"/>
                </a:solidFill>
                <a:latin typeface="Segoe UI"/>
              </a:rPr>
              <a:t>DWH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6688" y="2697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30">
                <a:solidFill>
                  <a:srgbClr val="8A8A85"/>
                </a:solidFill>
                <a:latin typeface="Segoe UI"/>
              </a:rPr>
              <a:t>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90088"/>
            <a:ext cx="11057839" cy="182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3008376"/>
            <a:ext cx="11057839" cy="493776"/>
          </a:xfrm>
          <a:prstGeom prst="roundRect">
            <a:avLst>
              <a:gd name="adj" fmla="val 4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008376"/>
            <a:ext cx="275234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stg_customer.cust_id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008376"/>
            <a:ext cx="374903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4F95"/>
                </a:solidFill>
                <a:latin typeface="Consolas"/>
              </a:rPr>
              <a:t>customer_id  · TRIM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3008376"/>
            <a:ext cx="28803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dim_customer.customer_id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76688" y="3127248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BK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7016"/>
            <a:ext cx="11057839" cy="493776"/>
          </a:xfrm>
          <a:prstGeom prst="roundRect">
            <a:avLst>
              <a:gd name="adj" fmla="val 4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557016"/>
            <a:ext cx="275234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stg_customer.cust_nm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557016"/>
            <a:ext cx="374903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4F95"/>
                </a:solidFill>
                <a:latin typeface="Consolas"/>
              </a:rPr>
              <a:t>customer_name  · INITCAP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7" y="3557016"/>
            <a:ext cx="28803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dim_customer.customer_name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76688" y="3675888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SCD2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05656"/>
            <a:ext cx="11057839" cy="493776"/>
          </a:xfrm>
          <a:prstGeom prst="roundRect">
            <a:avLst>
              <a:gd name="adj" fmla="val 4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4105656"/>
            <a:ext cx="275234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stg_customer.cust_addr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105656"/>
            <a:ext cx="374903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4F95"/>
                </a:solidFill>
                <a:latin typeface="Consolas"/>
              </a:rPr>
              <a:t>customer_address  · TRIM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7" y="4105656"/>
            <a:ext cx="28803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dim_customer.customer_address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6688" y="4224528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SCD2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54296"/>
            <a:ext cx="11057839" cy="493776"/>
          </a:xfrm>
          <a:prstGeom prst="roundRect">
            <a:avLst>
              <a:gd name="adj" fmla="val 4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4654296"/>
            <a:ext cx="275234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stg_customer.cust_seg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4654296"/>
            <a:ext cx="374903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4F95"/>
                </a:solidFill>
                <a:latin typeface="Consolas"/>
              </a:rPr>
              <a:t>customer_segment  · UPPER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7" y="4654296"/>
            <a:ext cx="28803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81F"/>
                </a:solidFill>
                <a:latin typeface="Consolas"/>
              </a:rPr>
              <a:t>dim_customer.customer_segment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76688" y="4773168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SCD2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212080"/>
            <a:ext cx="11057839" cy="603504"/>
          </a:xfrm>
          <a:prstGeom prst="roundRect">
            <a:avLst>
              <a:gd name="adj" fmla="val 7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212080"/>
            <a:ext cx="1050919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Auditor’s question — “where did this warehouse column come from?” — answered by one query.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Built for regulated migrations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346039" cy="1042415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066543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461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Append-only metadata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Deterministic registry / drift / lineage IDs — reruns dedupe on ID, history is never overwritten.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828800"/>
            <a:ext cx="5346039" cy="1042415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8183" y="2066543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1647" y="1993392"/>
            <a:ext cx="461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Full execution log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Every run, phase and procedure: status, row counts, duration. The complete “what did it do, and when.”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99232"/>
            <a:ext cx="5346039" cy="1042415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323697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163824"/>
            <a:ext cx="461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LLM prompt/response audit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Every model call is logged to JSONL — in production, a Delta audit table. Nothing the model did is hidden.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999232"/>
            <a:ext cx="5346039" cy="1042415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8183" y="323697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1647" y="3163824"/>
            <a:ext cx="461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Human-in-the-loop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Unsupported constructs (dynamic SQL, cursors) get a review packet — never a silent mistranslation.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69664"/>
            <a:ext cx="5346039" cy="1042415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4407408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334256"/>
            <a:ext cx="461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Offline &amp; inspectable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Runs with no warehouse; every artifact mirrors to CSV so the whole pipeline is reviewable locally.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9664"/>
            <a:ext cx="5346039" cy="1042415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8183" y="4407408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1647" y="4334256"/>
            <a:ext cx="461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Deterministic by default</a:t>
            </a:r>
          </a:p>
          <a:p>
            <a:pPr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temperature 0 on every call; the risky, must-be-right detections are rules, not prompts.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Reproducible by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669280" cy="3108960"/>
          </a:xfrm>
          <a:prstGeom prst="roundRect">
            <a:avLst>
              <a:gd name="adj" fmla="val 3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048256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048256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2048256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5212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8792A0"/>
                </a:solidFill>
                <a:latin typeface="Consolas"/>
              </a:rPr>
              <a:t>$ pytest -q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27C93F"/>
                </a:solidFill>
                <a:latin typeface="Consolas"/>
              </a:rPr>
              <a:t>............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 i="0">
                <a:solidFill>
                  <a:srgbClr val="27C93F"/>
                </a:solidFill>
                <a:latin typeface="Consolas"/>
              </a:rPr>
              <a:t>12 passed in 1.29s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600" b="0" i="0">
                <a:solidFill>
                  <a:srgbClr val="14181F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8792A0"/>
                </a:solidFill>
                <a:latin typeface="Consolas"/>
              </a:rPr>
              <a:t># no credentials, no warehouse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8792A0"/>
                </a:solidFill>
                <a:latin typeface="Consolas"/>
              </a:rPr>
              <a:t># pins naming, all 4 drift types,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8792A0"/>
                </a:solidFill>
                <a:latin typeface="Consolas"/>
              </a:rPr>
              <a:t>#   blocker-vs-warning, lineage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810512"/>
            <a:ext cx="5022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40">
                <a:solidFill>
                  <a:srgbClr val="8A8A85"/>
                </a:solidFill>
                <a:latin typeface="Segoe UI"/>
              </a:rPr>
              <a:t>DETERMINISTIC NAME DERIVATION — REAL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1968" y="2212848"/>
            <a:ext cx="5022799" cy="47548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212848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onsolas"/>
              </a:rPr>
              <a:t>cust_nm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2212848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68" y="2212848"/>
            <a:ext cx="23710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84F95"/>
                </a:solidFill>
                <a:latin typeface="Consolas"/>
              </a:rPr>
              <a:t>customer_name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1968" y="2761488"/>
            <a:ext cx="5022799" cy="47548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2761488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onsolas"/>
              </a:rPr>
              <a:t>pol_start_dt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2761488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761488"/>
            <a:ext cx="23710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84F95"/>
                </a:solidFill>
                <a:latin typeface="Consolas"/>
              </a:rPr>
              <a:t>policy_start_date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1968" y="3310128"/>
            <a:ext cx="5022799" cy="47548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3310128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onsolas"/>
              </a:rPr>
              <a:t>claim_amt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3310128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3310128"/>
            <a:ext cx="23710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84F95"/>
                </a:solidFill>
                <a:latin typeface="Consolas"/>
              </a:rPr>
              <a:t>claim_amount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3858768"/>
            <a:ext cx="5022799" cy="47548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858768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onsolas"/>
              </a:rPr>
              <a:t>prem_amt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3858768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3858768"/>
            <a:ext cx="23710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84F95"/>
                </a:solidFill>
                <a:latin typeface="Consolas"/>
              </a:rPr>
              <a:t>premium_amount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4407407"/>
            <a:ext cx="5022799" cy="475488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407407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onsolas"/>
              </a:rPr>
              <a:t>stg_premium_txn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4407407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Segoe U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4407407"/>
            <a:ext cx="23710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84F95"/>
                </a:solidFill>
                <a:latin typeface="Consolas"/>
              </a:rPr>
              <a:t>premium_transaction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000"/>
            </a:avLst>
          </a:prstGeom>
          <a:solidFill>
            <a:srgbClr val="E5F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230368"/>
            <a:ext cx="82296" cy="585216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5230368"/>
            <a:ext cx="10509199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4181F"/>
                </a:solidFill>
                <a:latin typeface="Segoe UI"/>
              </a:rPr>
              <a:t>Same procedures + same rules → the same registry, lineage and code on every run. That is the auditability claim, tested.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WHY IT’S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Manual rewrite vs. LLM-only vs.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3490874" cy="3703320"/>
          </a:xfrm>
          <a:prstGeom prst="roundRect">
            <a:avLst>
              <a:gd name="adj" fmla="val 4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828800"/>
            <a:ext cx="3490874" cy="603504"/>
          </a:xfrm>
          <a:prstGeom prst="round2SameRect">
            <a:avLst/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349087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Manual rewrite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8A85"/>
                </a:solidFill>
                <a:latin typeface="Segoe UI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70048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Weeks of engineer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3240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8A85"/>
                </a:solidFill>
                <a:latin typeface="Segoe UI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232404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Inconsistent between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8A85"/>
                </a:solidFill>
                <a:latin typeface="Segoe UI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794760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Human error in SCD2 / joins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5711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8A85"/>
                </a:solidFill>
                <a:latin typeface="Segoe UI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357116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Thin, after-the-fact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1947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8A85"/>
                </a:solidFill>
                <a:latin typeface="Segoe UI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919472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No target-schema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0410" y="1828800"/>
            <a:ext cx="3490874" cy="3703320"/>
          </a:xfrm>
          <a:prstGeom prst="roundRect">
            <a:avLst>
              <a:gd name="adj" fmla="val 4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4350410" y="1828800"/>
            <a:ext cx="3490874" cy="603504"/>
          </a:xfrm>
          <a:prstGeom prst="round2SameRect">
            <a:avLst/>
          </a:prstGeom>
          <a:solidFill>
            <a:srgbClr val="F0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0410" y="1828800"/>
            <a:ext cx="349087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4181F"/>
                </a:solidFill>
                <a:latin typeface="Segoe UI"/>
              </a:rPr>
              <a:t>LLM-only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6442" y="267004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0A81E"/>
                </a:solidFill>
                <a:latin typeface="Segoe UI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7338" y="2670048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Fast to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6442" y="323240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0A81E"/>
                </a:solidFill>
                <a:latin typeface="Segoe UI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7338" y="3232404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Hallucinates column names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6442" y="37947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0A81E"/>
                </a:solidFill>
                <a:latin typeface="Segoe UI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7338" y="3794760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Different answer each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6442" y="435711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0A81E"/>
                </a:solidFill>
                <a:latin typeface="Segoe UI"/>
              </a:rPr>
              <a:t>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7338" y="4357116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No drift awareness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6442" y="491947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0A81E"/>
                </a:solidFill>
                <a:latin typeface="Segoe UI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7338" y="4919472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Opaque — hard to audit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3892" y="1828800"/>
            <a:ext cx="3490874" cy="3703320"/>
          </a:xfrm>
          <a:prstGeom prst="roundRect">
            <a:avLst>
              <a:gd name="adj" fmla="val 4000"/>
            </a:avLst>
          </a:prstGeom>
          <a:solidFill>
            <a:srgbClr val="E5F5E5"/>
          </a:solidFill>
          <a:ln w="254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8133892" y="1828800"/>
            <a:ext cx="3490874" cy="603504"/>
          </a:xfrm>
          <a:prstGeom prst="round2Same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3892" y="1828800"/>
            <a:ext cx="349087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This accelerator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9924" y="267004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CA30C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0820" y="2670048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1" i="0">
                <a:solidFill>
                  <a:srgbClr val="14181F"/>
                </a:solidFill>
                <a:latin typeface="Segoe UI"/>
              </a:rPr>
              <a:t>Fast AND reproducible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9924" y="323240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CA30C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0820" y="3232404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1" i="0">
                <a:solidFill>
                  <a:srgbClr val="14181F"/>
                </a:solidFill>
                <a:latin typeface="Segoe UI"/>
              </a:rPr>
              <a:t>Names come from lineage, not guesses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9924" y="37947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CA30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0820" y="3794760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1" i="0">
                <a:solidFill>
                  <a:srgbClr val="14181F"/>
                </a:solidFill>
                <a:latin typeface="Segoe UI"/>
              </a:rPr>
              <a:t>Deterministic core, temp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9924" y="435711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CA30C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0820" y="4357116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1" i="0">
                <a:solidFill>
                  <a:srgbClr val="14181F"/>
                </a:solidFill>
                <a:latin typeface="Segoe UI"/>
              </a:rPr>
              <a:t>Drift-gated before codegen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9924" y="491947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CA30C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0820" y="4919472"/>
            <a:ext cx="26679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1" i="0">
                <a:solidFill>
                  <a:srgbClr val="14181F"/>
                </a:solidFill>
                <a:latin typeface="Segoe UI"/>
              </a:rPr>
              <a:t>Fully logged, human-in-the-loop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384048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2A78D6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181F"/>
                </a:solidFill>
                <a:latin typeface="Segoe UI"/>
              </a:rPr>
              <a:t>Where it goes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2002536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828800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More source dialects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828800"/>
            <a:ext cx="67601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PL/SQL, Snowflake and more through the dialect stub already threaded through the parser.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33472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2807208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633472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Smarter, safe naming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633472"/>
            <a:ext cx="67601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Grow the abbreviation dictionary; LLM-assisted expansions recorded at lower confidence for human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38144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" y="3611879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438144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Drift → resolution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438144"/>
            <a:ext cx="67601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Approve a drift, auto-adopt EXTRA columns, and re-drive codegen from the reviewed registry.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42816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" y="4416552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242816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Orchestration &amp;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242816"/>
            <a:ext cx="67601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Push generated notebooks to the workspace (uploader stubbed) and wire into Jobs / DLT.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47488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6384" y="5221224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5047488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4181F"/>
                </a:solidFill>
                <a:latin typeface="Segoe UI"/>
              </a:rPr>
              <a:t>CI drift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5047488"/>
            <a:ext cx="67601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Fail the build when a new BLOCKER drift appears — migration stays honest over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E2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SQL → Databricks Migration Accelerator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5967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8A85"/>
                </a:solidFill>
                <a:latin typeface="Segoe U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240">
                <a:solidFill>
                  <a:srgbClr val="9BB8E8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Stored procedures in.</a:t>
            </a:r>
          </a:p>
          <a:p>
            <a:pPr algn="l">
              <a:lnSpc>
                <a:spcPct val="103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 i="0">
                <a:solidFill>
                  <a:srgbClr val="9BB8E8"/>
                </a:solidFill>
                <a:latin typeface="Segoe UI"/>
              </a:rPr>
              <a:t>Trustworthy pipelines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379476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3794760"/>
            <a:ext cx="7315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95020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Deterministic-first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C9CDD4"/>
                </a:solidFill>
                <a:latin typeface="Segoe UI"/>
              </a:rPr>
              <a:t>rules do the must-be-right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379476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3087" y="3794760"/>
            <a:ext cx="7315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395020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Metadata is truth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C9CDD4"/>
                </a:solidFill>
                <a:latin typeface="Segoe UI"/>
              </a:rPr>
              <a:t>registry + lineage, generated &amp; audited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2088" y="379476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2088" y="3794760"/>
            <a:ext cx="7315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81544" y="395020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Drift-gated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C9CDD4"/>
                </a:solidFill>
                <a:latin typeface="Segoe UI"/>
              </a:rPr>
              <a:t>stop before shipping wrong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212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Questions welcome.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792A0"/>
                </a:solidFill>
                <a:latin typeface="Segoe UI"/>
              </a:rPr>
              <a:t>SQL → Databricks Migration Accelerator (v3)  ·  medallion · metadata-driven · audit-ready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